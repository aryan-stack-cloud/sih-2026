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Round-robin sweep</c:v>
                </c:pt>
              </c:strCache>
            </c:strRef>
          </c:tx>
          <c:spPr>
            <a:solidFill>
              <a:srgbClr val="4E6390"/>
            </a:solidFill>
            <a:effectLst/>
          </c:spPr>
          <c:invertIfNegative val="0"/>
          <c:dLbls>
            <c:numFmt formatCode="0.0&quot;%&quot;" sourceLinked="0"/>
            <c:txPr>
              <a:bodyPr/>
              <a:lstStyle/>
              <a:p>
                <a:pPr>
                  <a:defRPr b="0" i="0" strike="noStrike" sz="1000" u="none">
                    <a:solidFill>
                      <a:srgbClr val="EAF0F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Detection rate</c:v>
                  </c:pt>
                  <c:pt idx="1">
                    <c:v>High-priority</c:v>
                  </c:pt>
                  <c:pt idx="2">
                    <c:v>Listening efficiency</c:v>
                  </c:pt>
                </c:lvl>
              </c:multiLvlStrCache>
            </c:multiLvlStrRef>
          </c:cat>
          <c:val>
            <c:numRef>
              <c:f>Sheet1!$B$2:$B$4</c:f>
              <c:numCache>
                <c:formatCode>General</c:formatCode>
                <c:ptCount val="3"/>
                <c:pt idx="0">
                  <c:v>10.7</c:v>
                </c:pt>
                <c:pt idx="1">
                  <c:v>10.1</c:v>
                </c:pt>
                <c:pt idx="2">
                  <c:v>19.8</c:v>
                </c:pt>
              </c:numCache>
            </c:numRef>
          </c:val>
        </c:ser>
        <c:ser>
          <c:idx val="1"/>
          <c:order val="1"/>
          <c:tx>
            <c:strRef>
              <c:f>Sheet1!$C$1</c:f>
              <c:strCache>
                <c:ptCount val="1"/>
                <c:pt idx="0">
                  <c:v>SHRUTI (learned)</c:v>
                </c:pt>
              </c:strCache>
            </c:strRef>
          </c:tx>
          <c:spPr>
            <a:solidFill>
              <a:srgbClr val="FFB020"/>
            </a:solidFill>
            <a:effectLst/>
          </c:spPr>
          <c:invertIfNegative val="0"/>
          <c:dLbls>
            <c:numFmt formatCode="0.0&quot;%&quot;" sourceLinked="0"/>
            <c:txPr>
              <a:bodyPr/>
              <a:lstStyle/>
              <a:p>
                <a:pPr>
                  <a:defRPr b="0" i="0" strike="noStrike" sz="1000" u="none">
                    <a:solidFill>
                      <a:srgbClr val="EAF0FA"/>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Detection rate</c:v>
                  </c:pt>
                  <c:pt idx="1">
                    <c:v>High-priority</c:v>
                  </c:pt>
                  <c:pt idx="2">
                    <c:v>Listening efficiency</c:v>
                  </c:pt>
                </c:lvl>
              </c:multiLvlStrCache>
            </c:multiLvlStrRef>
          </c:cat>
          <c:val>
            <c:numRef>
              <c:f>Sheet1!$C$2:$C$4</c:f>
              <c:numCache>
                <c:formatCode>General</c:formatCode>
                <c:ptCount val="3"/>
                <c:pt idx="0">
                  <c:v>34.5</c:v>
                </c:pt>
                <c:pt idx="1">
                  <c:v>37.5</c:v>
                </c:pt>
                <c:pt idx="2">
                  <c:v>57.3</c:v>
                </c:pt>
              </c:numCache>
            </c:numRef>
          </c:val>
        </c:ser>
        <c:dLbls>
          <c:numFmt formatCode="0.0&quot;%&quot;" sourceLinked="0"/>
          <c:txPr>
            <a:bodyPr/>
            <a:lstStyle/>
            <a:p>
              <a:pPr>
                <a:defRPr b="0" i="0" strike="noStrike" sz="1000" u="none">
                  <a:solidFill>
                    <a:srgbClr val="EAF0FA"/>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7365A"/>
            </a:solidFill>
            <a:prstDash val="solid"/>
            <a:round/>
          </a:ln>
        </c:spPr>
        <c:txPr>
          <a:bodyPr/>
          <a:lstStyle/>
          <a:p>
            <a:pPr>
              <a:defRPr sz="1050" b="0" i="0" u="none" strike="noStrike">
                <a:solidFill>
                  <a:srgbClr val="9DB0D0"/>
                </a:solidFill>
                <a:latin typeface="Calibri"/>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9525" cap="flat">
              <a:solidFill>
                <a:srgbClr val="27365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50" b="0" i="0" u="none" strike="noStrike">
                <a:solidFill>
                  <a:srgbClr val="6A7DA0"/>
                </a:solidFill>
                <a:latin typeface="Calibri"/>
              </a:defRPr>
            </a:pPr>
            <a:endParaRPr lang="en-US"/>
          </a:p>
        </c:txPr>
        <c:crossAx val="2094734554"/>
        <c:crosses val="autoZero"/>
        <c:crossBetween val="between"/>
        <c:majorUnit val="20"/>
      </c:valAx>
      <c:spPr>
        <a:solidFill>
          <a:srgbClr val="151F38"/>
        </a:solidFill>
        <a:ln>
          <a:noFill/>
        </a:ln>
        <a:effectLst/>
      </c:spPr>
    </c:plotArea>
    <c:legend>
      <c:legendPos val="t"/>
      <c:overlay val="0"/>
      <c:txPr>
        <a:bodyPr/>
        <a:lstStyle/>
        <a:p>
          <a:pPr>
            <a:defRPr sz="1050">
              <a:solidFill>
                <a:srgbClr val="9DB0D0"/>
              </a:solidFill>
              <a:latin typeface="Calibri"/>
              <a:cs typeface="Calibri"/>
            </a:defRPr>
          </a:pPr>
          <a:endParaRPr lang="en-US"/>
        </a:p>
      </c:txPr>
    </c:legend>
    <c:plotVisOnly val="1"/>
    <c:dispBlanksAs val="span"/>
  </c:chart>
  <c:spPr>
    <a:solidFill>
      <a:srgbClr val="151F3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picture, not the title. Sixteen bands across, time flowing down. Blue cells are emitters transmitting. Amber is where our receiver actually was. Every blue cell is signal we lost forever, because a receiver hears two bands at a time and there are sixteen. That gap is the whole problem statement. Everything after this slide is about closing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for the whole idea: the receiver stops sweeping and starts choosing. The second innovation is the one to dwell on if a signals person is judging. We never see the emitter. We only see our own detections of it, and those gaps are set by our scan schedule, not by the transmitter. Taking the median of them measures ourselves. Phase folding is what gets past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seam to point at is the contract. Four folders, one API_CONTRACT.md copied into each, so the two ML services, the backend and the frontend were built in parallel without blocking each other. If asked about latency, be precise: 6.6 ms is p95 over a real HTTP socket, not an in-process call. The in-process number is about forty times faster and it would be dishonest to quote it, because the backend pays the socket.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or loses the room. Every other team claims their model beats the baseline on everything. Say the weakness out loud before a judge finds it: we lose distinct-burst coverage to the sweep, and here is the reward weight that trades one for the other. The third risk is an open item. Do not hide it. It is understood, the fix is named, and the failing test is still in the suite rather than deleted. A judge who finds an honest team stops looking for exaggeration everywhere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chart, not the tiles. Same spectrum, same seeds, same receiver, only the scheduler changed. Listening efficiency is the number an operator feels: the fraction of dwell time spent on air that actually had something in it. It goes from one fifth to well over half. If asked what this costs to deploy, the answer is a software change on an existing receiver, which is the whole economic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land here. First, the green column: the sweep still beats us on distinct bursts caught, and we left the row in. Second, the patent. Somebody has tried reinforcement learning on receiver scan scheduling before, we found it, and we can say what is different about ours, which is the periodicity feature feeding the state. If a judge asks whether the numbers are reproducible, the answer is one script from a clean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100" b="1" spc="240" kern="0" dirty="0">
                <a:solidFill>
                  <a:srgbClr val="FFB020"/>
                </a:solidFill>
                <a:latin typeface="Calibri" pitchFamily="34" charset="0"/>
                <a:ea typeface="Calibri" pitchFamily="34" charset="-122"/>
                <a:cs typeface="Calibri" pitchFamily="34" charset="-120"/>
              </a:rPr>
              <a:t>SMART INDIA HACKATHON 2026   ·   IDEA SUBMISSION</a:t>
            </a:r>
            <a:endParaRPr lang="en-US" sz="1100" dirty="0"/>
          </a:p>
        </p:txBody>
      </p:sp>
      <p:sp>
        <p:nvSpPr>
          <p:cNvPr id="3" name="Shape 1"/>
          <p:cNvSpPr/>
          <p:nvPr/>
        </p:nvSpPr>
        <p:spPr>
          <a:xfrm>
            <a:off x="10317175" y="256032"/>
            <a:ext cx="1371600" cy="566928"/>
          </a:xfrm>
          <a:prstGeom prst="roundRect">
            <a:avLst>
              <a:gd name="adj" fmla="val 9677"/>
            </a:avLst>
          </a:prstGeom>
          <a:solidFill>
            <a:srgbClr val="0B1220"/>
          </a:solidFill>
          <a:ln w="9525">
            <a:solidFill>
              <a:srgbClr val="27365A"/>
            </a:solidFill>
            <a:prstDash val="dash"/>
          </a:ln>
        </p:spPr>
      </p:sp>
      <p:sp>
        <p:nvSpPr>
          <p:cNvPr id="4" name="Text 2"/>
          <p:cNvSpPr txBox="1"/>
          <p:nvPr/>
        </p:nvSpPr>
        <p:spPr>
          <a:xfrm>
            <a:off x="10317175" y="256032"/>
            <a:ext cx="1371600" cy="566928"/>
          </a:xfrm>
          <a:prstGeom prst="rect">
            <a:avLst/>
          </a:prstGeom>
          <a:noFill/>
          <a:ln/>
        </p:spPr>
        <p:txBody>
          <a:bodyPr wrap="square" lIns="0" tIns="0" rIns="0" bIns="0" rtlCol="0" anchor="ctr"/>
          <a:lstStyle/>
          <a:p>
            <a:pPr algn="ctr" indent="0" marL="0">
              <a:buNone/>
            </a:pPr>
            <a:r>
              <a:rPr lang="en-US" sz="950" dirty="0">
                <a:solidFill>
                  <a:srgbClr val="6A7DA0"/>
                </a:solidFill>
                <a:latin typeface="Calibri" pitchFamily="34" charset="0"/>
                <a:ea typeface="Calibri" pitchFamily="34" charset="-122"/>
                <a:cs typeface="Calibri" pitchFamily="34" charset="-120"/>
              </a:rPr>
              <a:t>SIH logo</a:t>
            </a:r>
            <a:endParaRPr lang="en-US" sz="950" dirty="0"/>
          </a:p>
        </p:txBody>
      </p:sp>
      <p:sp>
        <p:nvSpPr>
          <p:cNvPr id="5" name="Text 3"/>
          <p:cNvSpPr txBox="1"/>
          <p:nvPr/>
        </p:nvSpPr>
        <p:spPr>
          <a:xfrm>
            <a:off x="502920" y="1024128"/>
            <a:ext cx="6309360" cy="1554480"/>
          </a:xfrm>
          <a:prstGeom prst="rect">
            <a:avLst/>
          </a:prstGeom>
          <a:noFill/>
          <a:ln/>
        </p:spPr>
        <p:txBody>
          <a:bodyPr wrap="square" lIns="0" tIns="0" rIns="0" bIns="0" rtlCol="0" anchor="ctr"/>
          <a:lstStyle/>
          <a:p>
            <a:pPr indent="0" marL="0">
              <a:lnSpc>
                <a:spcPct val="92000"/>
              </a:lnSpc>
              <a:buNone/>
            </a:pPr>
            <a:r>
              <a:rPr lang="en-US" sz="4000" b="1" dirty="0">
                <a:solidFill>
                  <a:srgbClr val="EAF0FA"/>
                </a:solidFill>
                <a:latin typeface="Arial" pitchFamily="34" charset="0"/>
                <a:ea typeface="Arial" pitchFamily="34" charset="-122"/>
                <a:cs typeface="Arial" pitchFamily="34" charset="-120"/>
              </a:rPr>
              <a:t>Intelligent RF</a:t>
            </a:r>
            <a:endParaRPr lang="en-US" sz="4000" dirty="0"/>
          </a:p>
          <a:p>
            <a:pPr indent="0" marL="0">
              <a:lnSpc>
                <a:spcPct val="92000"/>
              </a:lnSpc>
              <a:buNone/>
            </a:pPr>
            <a:r>
              <a:rPr lang="en-US" sz="4000" b="1" dirty="0">
                <a:solidFill>
                  <a:srgbClr val="EAF0FA"/>
                </a:solidFill>
                <a:latin typeface="Arial" pitchFamily="34" charset="0"/>
                <a:ea typeface="Arial" pitchFamily="34" charset="-122"/>
                <a:cs typeface="Arial" pitchFamily="34" charset="-120"/>
              </a:rPr>
              <a:t>Spectrum Scan Strategy</a:t>
            </a:r>
            <a:endParaRPr lang="en-US" sz="4000" dirty="0"/>
          </a:p>
        </p:txBody>
      </p:sp>
      <p:sp>
        <p:nvSpPr>
          <p:cNvPr id="6" name="Text 4"/>
          <p:cNvSpPr txBox="1"/>
          <p:nvPr/>
        </p:nvSpPr>
        <p:spPr>
          <a:xfrm>
            <a:off x="502920" y="2670048"/>
            <a:ext cx="6035040" cy="457200"/>
          </a:xfrm>
          <a:prstGeom prst="rect">
            <a:avLst/>
          </a:prstGeom>
          <a:noFill/>
          <a:ln/>
        </p:spPr>
        <p:txBody>
          <a:bodyPr wrap="square" lIns="0" tIns="0" rIns="0" bIns="0" rtlCol="0" anchor="ctr"/>
          <a:lstStyle/>
          <a:p>
            <a:pPr indent="0" marL="0">
              <a:buNone/>
            </a:pPr>
            <a:r>
              <a:rPr lang="en-US" sz="1500" dirty="0">
                <a:solidFill>
                  <a:srgbClr val="FFB020"/>
                </a:solidFill>
                <a:latin typeface="Calibri" pitchFamily="34" charset="0"/>
                <a:ea typeface="Calibri" pitchFamily="34" charset="-122"/>
                <a:cs typeface="Calibri" pitchFamily="34" charset="-120"/>
              </a:rPr>
              <a:t>A wideband receiver can listen to only 2 of 16 bands at a time. We learn which 2 — and when.</a:t>
            </a:r>
            <a:endParaRPr lang="en-US" sz="1500" dirty="0"/>
          </a:p>
        </p:txBody>
      </p:sp>
      <p:sp>
        <p:nvSpPr>
          <p:cNvPr id="7" name="Text 5"/>
          <p:cNvSpPr txBox="1"/>
          <p:nvPr/>
        </p:nvSpPr>
        <p:spPr>
          <a:xfrm>
            <a:off x="502920" y="3401568"/>
            <a:ext cx="3017520" cy="219456"/>
          </a:xfrm>
          <a:prstGeom prst="rect">
            <a:avLst/>
          </a:prstGeom>
          <a:noFill/>
          <a:ln/>
        </p:spPr>
        <p:txBody>
          <a:bodyPr wrap="square" lIns="0" tIns="0" rIns="0" bIns="0" rtlCol="0" anchor="ctr"/>
          <a:lstStyle/>
          <a:p>
            <a:pPr indent="0" marL="0">
              <a:buNone/>
            </a:pPr>
            <a:r>
              <a:rPr lang="en-US" sz="950" b="1" spc="140" kern="0" dirty="0">
                <a:solidFill>
                  <a:srgbClr val="6A7DA0"/>
                </a:solidFill>
                <a:latin typeface="Calibri" pitchFamily="34" charset="0"/>
                <a:ea typeface="Calibri" pitchFamily="34" charset="-122"/>
                <a:cs typeface="Calibri" pitchFamily="34" charset="-120"/>
              </a:rPr>
              <a:t>PROBLEM STATEMENT ID</a:t>
            </a:r>
            <a:endParaRPr lang="en-US" sz="950" dirty="0"/>
          </a:p>
        </p:txBody>
      </p:sp>
      <p:sp>
        <p:nvSpPr>
          <p:cNvPr id="8" name="Text 6"/>
          <p:cNvSpPr txBox="1"/>
          <p:nvPr/>
        </p:nvSpPr>
        <p:spPr>
          <a:xfrm>
            <a:off x="502920" y="3621024"/>
            <a:ext cx="3108960" cy="310896"/>
          </a:xfrm>
          <a:prstGeom prst="rect">
            <a:avLst/>
          </a:prstGeom>
          <a:noFill/>
          <a:ln/>
        </p:spPr>
        <p:txBody>
          <a:bodyPr wrap="square" lIns="0" tIns="0" rIns="0" bIns="0" rtlCol="0" anchor="ctr"/>
          <a:lstStyle/>
          <a:p>
            <a:pPr indent="0" marL="0">
              <a:buNone/>
            </a:pPr>
            <a:r>
              <a:rPr lang="en-US" sz="1300" b="1" dirty="0">
                <a:solidFill>
                  <a:srgbClr val="FFB020"/>
                </a:solidFill>
                <a:latin typeface="Arial" pitchFamily="34" charset="0"/>
                <a:ea typeface="Arial" pitchFamily="34" charset="-122"/>
                <a:cs typeface="Arial" pitchFamily="34" charset="-120"/>
              </a:rPr>
              <a:t>[ fill in from the portal ]</a:t>
            </a:r>
            <a:endParaRPr lang="en-US" sz="1300" dirty="0"/>
          </a:p>
        </p:txBody>
      </p:sp>
      <p:sp>
        <p:nvSpPr>
          <p:cNvPr id="9" name="Text 7"/>
          <p:cNvSpPr txBox="1"/>
          <p:nvPr/>
        </p:nvSpPr>
        <p:spPr>
          <a:xfrm>
            <a:off x="3749040" y="3401568"/>
            <a:ext cx="3017520" cy="219456"/>
          </a:xfrm>
          <a:prstGeom prst="rect">
            <a:avLst/>
          </a:prstGeom>
          <a:noFill/>
          <a:ln/>
        </p:spPr>
        <p:txBody>
          <a:bodyPr wrap="square" lIns="0" tIns="0" rIns="0" bIns="0" rtlCol="0" anchor="ctr"/>
          <a:lstStyle/>
          <a:p>
            <a:pPr indent="0" marL="0">
              <a:buNone/>
            </a:pPr>
            <a:r>
              <a:rPr lang="en-US" sz="950" b="1" spc="140" kern="0" dirty="0">
                <a:solidFill>
                  <a:srgbClr val="6A7DA0"/>
                </a:solidFill>
                <a:latin typeface="Calibri" pitchFamily="34" charset="0"/>
                <a:ea typeface="Calibri" pitchFamily="34" charset="-122"/>
                <a:cs typeface="Calibri" pitchFamily="34" charset="-120"/>
              </a:rPr>
              <a:t>THEME</a:t>
            </a:r>
            <a:endParaRPr lang="en-US" sz="950" dirty="0"/>
          </a:p>
        </p:txBody>
      </p:sp>
      <p:sp>
        <p:nvSpPr>
          <p:cNvPr id="10" name="Text 8"/>
          <p:cNvSpPr txBox="1"/>
          <p:nvPr/>
        </p:nvSpPr>
        <p:spPr>
          <a:xfrm>
            <a:off x="3749040" y="3621024"/>
            <a:ext cx="3108960" cy="310896"/>
          </a:xfrm>
          <a:prstGeom prst="rect">
            <a:avLst/>
          </a:prstGeom>
          <a:noFill/>
          <a:ln/>
        </p:spPr>
        <p:txBody>
          <a:bodyPr wrap="square" lIns="0" tIns="0" rIns="0" bIns="0" rtlCol="0" anchor="ctr"/>
          <a:lstStyle/>
          <a:p>
            <a:pPr indent="0" marL="0">
              <a:buNone/>
            </a:pPr>
            <a:r>
              <a:rPr lang="en-US" sz="1300" b="1" dirty="0">
                <a:solidFill>
                  <a:srgbClr val="FFB020"/>
                </a:solidFill>
                <a:latin typeface="Arial" pitchFamily="34" charset="0"/>
                <a:ea typeface="Arial" pitchFamily="34" charset="-122"/>
                <a:cs typeface="Arial" pitchFamily="34" charset="-120"/>
              </a:rPr>
              <a:t>[ fill in from the portal ]</a:t>
            </a:r>
            <a:endParaRPr lang="en-US" sz="1300" dirty="0"/>
          </a:p>
        </p:txBody>
      </p:sp>
      <p:sp>
        <p:nvSpPr>
          <p:cNvPr id="11" name="Text 9"/>
          <p:cNvSpPr txBox="1"/>
          <p:nvPr/>
        </p:nvSpPr>
        <p:spPr>
          <a:xfrm>
            <a:off x="502920" y="4224528"/>
            <a:ext cx="3017520" cy="219456"/>
          </a:xfrm>
          <a:prstGeom prst="rect">
            <a:avLst/>
          </a:prstGeom>
          <a:noFill/>
          <a:ln/>
        </p:spPr>
        <p:txBody>
          <a:bodyPr wrap="square" lIns="0" tIns="0" rIns="0" bIns="0" rtlCol="0" anchor="ctr"/>
          <a:lstStyle/>
          <a:p>
            <a:pPr indent="0" marL="0">
              <a:buNone/>
            </a:pPr>
            <a:r>
              <a:rPr lang="en-US" sz="950" b="1" spc="140" kern="0" dirty="0">
                <a:solidFill>
                  <a:srgbClr val="6A7DA0"/>
                </a:solidFill>
                <a:latin typeface="Calibri" pitchFamily="34" charset="0"/>
                <a:ea typeface="Calibri" pitchFamily="34" charset="-122"/>
                <a:cs typeface="Calibri" pitchFamily="34" charset="-120"/>
              </a:rPr>
              <a:t>PROBLEM STATEMENT TITLE</a:t>
            </a:r>
            <a:endParaRPr lang="en-US" sz="950" dirty="0"/>
          </a:p>
        </p:txBody>
      </p:sp>
      <p:sp>
        <p:nvSpPr>
          <p:cNvPr id="12" name="Text 10"/>
          <p:cNvSpPr txBox="1"/>
          <p:nvPr/>
        </p:nvSpPr>
        <p:spPr>
          <a:xfrm>
            <a:off x="502920" y="4443984"/>
            <a:ext cx="3108960" cy="310896"/>
          </a:xfrm>
          <a:prstGeom prst="rect">
            <a:avLst/>
          </a:prstGeom>
          <a:noFill/>
          <a:ln/>
        </p:spPr>
        <p:txBody>
          <a:bodyPr wrap="square" lIns="0" tIns="0" rIns="0" bIns="0" rtlCol="0" anchor="ctr"/>
          <a:lstStyle/>
          <a:p>
            <a:pPr indent="0" marL="0">
              <a:buNone/>
            </a:pPr>
            <a:r>
              <a:rPr lang="en-US" sz="1300" b="1" dirty="0">
                <a:solidFill>
                  <a:srgbClr val="EAF0FA"/>
                </a:solidFill>
                <a:latin typeface="Arial" pitchFamily="34" charset="0"/>
                <a:ea typeface="Arial" pitchFamily="34" charset="-122"/>
                <a:cs typeface="Arial" pitchFamily="34" charset="-120"/>
              </a:rPr>
              <a:t>Intelligent RF Spectrum Scan Strategy</a:t>
            </a:r>
            <a:endParaRPr lang="en-US" sz="1300" dirty="0"/>
          </a:p>
        </p:txBody>
      </p:sp>
      <p:sp>
        <p:nvSpPr>
          <p:cNvPr id="13" name="Text 11"/>
          <p:cNvSpPr txBox="1"/>
          <p:nvPr/>
        </p:nvSpPr>
        <p:spPr>
          <a:xfrm>
            <a:off x="3749040" y="4224528"/>
            <a:ext cx="3017520" cy="219456"/>
          </a:xfrm>
          <a:prstGeom prst="rect">
            <a:avLst/>
          </a:prstGeom>
          <a:noFill/>
          <a:ln/>
        </p:spPr>
        <p:txBody>
          <a:bodyPr wrap="square" lIns="0" tIns="0" rIns="0" bIns="0" rtlCol="0" anchor="ctr"/>
          <a:lstStyle/>
          <a:p>
            <a:pPr indent="0" marL="0">
              <a:buNone/>
            </a:pPr>
            <a:r>
              <a:rPr lang="en-US" sz="950" b="1" spc="140" kern="0" dirty="0">
                <a:solidFill>
                  <a:srgbClr val="6A7DA0"/>
                </a:solidFill>
                <a:latin typeface="Calibri" pitchFamily="34" charset="0"/>
                <a:ea typeface="Calibri" pitchFamily="34" charset="-122"/>
                <a:cs typeface="Calibri" pitchFamily="34" charset="-120"/>
              </a:rPr>
              <a:t>PS CATEGORY</a:t>
            </a:r>
            <a:endParaRPr lang="en-US" sz="950" dirty="0"/>
          </a:p>
        </p:txBody>
      </p:sp>
      <p:sp>
        <p:nvSpPr>
          <p:cNvPr id="14" name="Text 12"/>
          <p:cNvSpPr txBox="1"/>
          <p:nvPr/>
        </p:nvSpPr>
        <p:spPr>
          <a:xfrm>
            <a:off x="3749040" y="4443984"/>
            <a:ext cx="3108960" cy="310896"/>
          </a:xfrm>
          <a:prstGeom prst="rect">
            <a:avLst/>
          </a:prstGeom>
          <a:noFill/>
          <a:ln/>
        </p:spPr>
        <p:txBody>
          <a:bodyPr wrap="square" lIns="0" tIns="0" rIns="0" bIns="0" rtlCol="0" anchor="ctr"/>
          <a:lstStyle/>
          <a:p>
            <a:pPr indent="0" marL="0">
              <a:buNone/>
            </a:pPr>
            <a:r>
              <a:rPr lang="en-US" sz="1300" b="1" dirty="0">
                <a:solidFill>
                  <a:srgbClr val="EAF0FA"/>
                </a:solidFill>
                <a:latin typeface="Arial" pitchFamily="34" charset="0"/>
                <a:ea typeface="Arial" pitchFamily="34" charset="-122"/>
                <a:cs typeface="Arial" pitchFamily="34" charset="-120"/>
              </a:rPr>
              <a:t>Software</a:t>
            </a:r>
            <a:endParaRPr lang="en-US" sz="1300" dirty="0"/>
          </a:p>
        </p:txBody>
      </p:sp>
      <p:sp>
        <p:nvSpPr>
          <p:cNvPr id="15" name="Text 13"/>
          <p:cNvSpPr txBox="1"/>
          <p:nvPr/>
        </p:nvSpPr>
        <p:spPr>
          <a:xfrm>
            <a:off x="502920" y="5047488"/>
            <a:ext cx="3017520" cy="219456"/>
          </a:xfrm>
          <a:prstGeom prst="rect">
            <a:avLst/>
          </a:prstGeom>
          <a:noFill/>
          <a:ln/>
        </p:spPr>
        <p:txBody>
          <a:bodyPr wrap="square" lIns="0" tIns="0" rIns="0" bIns="0" rtlCol="0" anchor="ctr"/>
          <a:lstStyle/>
          <a:p>
            <a:pPr indent="0" marL="0">
              <a:buNone/>
            </a:pPr>
            <a:r>
              <a:rPr lang="en-US" sz="950" b="1" spc="140" kern="0" dirty="0">
                <a:solidFill>
                  <a:srgbClr val="6A7DA0"/>
                </a:solidFill>
                <a:latin typeface="Calibri" pitchFamily="34" charset="0"/>
                <a:ea typeface="Calibri" pitchFamily="34" charset="-122"/>
                <a:cs typeface="Calibri" pitchFamily="34" charset="-120"/>
              </a:rPr>
              <a:t>TEAM ID</a:t>
            </a:r>
            <a:endParaRPr lang="en-US" sz="950" dirty="0"/>
          </a:p>
        </p:txBody>
      </p:sp>
      <p:sp>
        <p:nvSpPr>
          <p:cNvPr id="16" name="Text 14"/>
          <p:cNvSpPr txBox="1"/>
          <p:nvPr/>
        </p:nvSpPr>
        <p:spPr>
          <a:xfrm>
            <a:off x="502920" y="5266944"/>
            <a:ext cx="3108960" cy="310896"/>
          </a:xfrm>
          <a:prstGeom prst="rect">
            <a:avLst/>
          </a:prstGeom>
          <a:noFill/>
          <a:ln/>
        </p:spPr>
        <p:txBody>
          <a:bodyPr wrap="square" lIns="0" tIns="0" rIns="0" bIns="0" rtlCol="0" anchor="ctr"/>
          <a:lstStyle/>
          <a:p>
            <a:pPr indent="0" marL="0">
              <a:buNone/>
            </a:pPr>
            <a:r>
              <a:rPr lang="en-US" sz="1300" b="1" dirty="0">
                <a:solidFill>
                  <a:srgbClr val="FFB020"/>
                </a:solidFill>
                <a:latin typeface="Arial" pitchFamily="34" charset="0"/>
                <a:ea typeface="Arial" pitchFamily="34" charset="-122"/>
                <a:cs typeface="Arial" pitchFamily="34" charset="-120"/>
              </a:rPr>
              <a:t>[ fill in from the portal ]</a:t>
            </a:r>
            <a:endParaRPr lang="en-US" sz="1300" dirty="0"/>
          </a:p>
        </p:txBody>
      </p:sp>
      <p:sp>
        <p:nvSpPr>
          <p:cNvPr id="17" name="Text 15"/>
          <p:cNvSpPr txBox="1"/>
          <p:nvPr/>
        </p:nvSpPr>
        <p:spPr>
          <a:xfrm>
            <a:off x="3749040" y="5047488"/>
            <a:ext cx="3017520" cy="219456"/>
          </a:xfrm>
          <a:prstGeom prst="rect">
            <a:avLst/>
          </a:prstGeom>
          <a:noFill/>
          <a:ln/>
        </p:spPr>
        <p:txBody>
          <a:bodyPr wrap="square" lIns="0" tIns="0" rIns="0" bIns="0" rtlCol="0" anchor="ctr"/>
          <a:lstStyle/>
          <a:p>
            <a:pPr indent="0" marL="0">
              <a:buNone/>
            </a:pPr>
            <a:r>
              <a:rPr lang="en-US" sz="950" b="1" spc="140" kern="0" dirty="0">
                <a:solidFill>
                  <a:srgbClr val="6A7DA0"/>
                </a:solidFill>
                <a:latin typeface="Calibri" pitchFamily="34" charset="0"/>
                <a:ea typeface="Calibri" pitchFamily="34" charset="-122"/>
                <a:cs typeface="Calibri" pitchFamily="34" charset="-120"/>
              </a:rPr>
              <a:t>TEAM NAME</a:t>
            </a:r>
            <a:endParaRPr lang="en-US" sz="950" dirty="0"/>
          </a:p>
        </p:txBody>
      </p:sp>
      <p:sp>
        <p:nvSpPr>
          <p:cNvPr id="18" name="Text 16"/>
          <p:cNvSpPr txBox="1"/>
          <p:nvPr/>
        </p:nvSpPr>
        <p:spPr>
          <a:xfrm>
            <a:off x="3749040" y="5266944"/>
            <a:ext cx="3108960" cy="310896"/>
          </a:xfrm>
          <a:prstGeom prst="rect">
            <a:avLst/>
          </a:prstGeom>
          <a:noFill/>
          <a:ln/>
        </p:spPr>
        <p:txBody>
          <a:bodyPr wrap="square" lIns="0" tIns="0" rIns="0" bIns="0" rtlCol="0" anchor="ctr"/>
          <a:lstStyle/>
          <a:p>
            <a:pPr indent="0" marL="0">
              <a:buNone/>
            </a:pPr>
            <a:r>
              <a:rPr lang="en-US" sz="1300" b="1" dirty="0">
                <a:solidFill>
                  <a:srgbClr val="FFB020"/>
                </a:solidFill>
                <a:latin typeface="Arial" pitchFamily="34" charset="0"/>
                <a:ea typeface="Arial" pitchFamily="34" charset="-122"/>
                <a:cs typeface="Arial" pitchFamily="34" charset="-120"/>
              </a:rPr>
              <a:t>[ your registered team name ]</a:t>
            </a:r>
            <a:endParaRPr lang="en-US" sz="1300" dirty="0"/>
          </a:p>
        </p:txBody>
      </p:sp>
      <p:sp>
        <p:nvSpPr>
          <p:cNvPr id="19" name="Shape 17"/>
          <p:cNvSpPr/>
          <p:nvPr/>
        </p:nvSpPr>
        <p:spPr>
          <a:xfrm>
            <a:off x="7269480" y="1051560"/>
            <a:ext cx="237744" cy="182880"/>
          </a:xfrm>
          <a:prstGeom prst="rect">
            <a:avLst/>
          </a:prstGeom>
          <a:solidFill>
            <a:srgbClr val="5B8DEF">
              <a:alpha val="38000"/>
            </a:srgbClr>
          </a:solidFill>
          <a:ln w="12700">
            <a:solidFill>
              <a:srgbClr val="5B8DEF"/>
            </a:solidFill>
            <a:prstDash val="solid"/>
          </a:ln>
        </p:spPr>
      </p:sp>
      <p:sp>
        <p:nvSpPr>
          <p:cNvPr id="20" name="Shape 18"/>
          <p:cNvSpPr/>
          <p:nvPr/>
        </p:nvSpPr>
        <p:spPr>
          <a:xfrm>
            <a:off x="7539228" y="1051560"/>
            <a:ext cx="237744" cy="182880"/>
          </a:xfrm>
          <a:prstGeom prst="rect">
            <a:avLst/>
          </a:prstGeom>
          <a:solidFill>
            <a:srgbClr val="111B31"/>
          </a:solidFill>
          <a:ln w="12700">
            <a:solidFill>
              <a:srgbClr val="111B31"/>
            </a:solidFill>
            <a:prstDash val="solid"/>
          </a:ln>
        </p:spPr>
      </p:sp>
      <p:sp>
        <p:nvSpPr>
          <p:cNvPr id="21" name="Shape 19"/>
          <p:cNvSpPr/>
          <p:nvPr/>
        </p:nvSpPr>
        <p:spPr>
          <a:xfrm>
            <a:off x="7808976" y="1051560"/>
            <a:ext cx="237744" cy="182880"/>
          </a:xfrm>
          <a:prstGeom prst="rect">
            <a:avLst/>
          </a:prstGeom>
          <a:solidFill>
            <a:srgbClr val="111B31"/>
          </a:solidFill>
          <a:ln w="12700">
            <a:solidFill>
              <a:srgbClr val="111B31"/>
            </a:solidFill>
            <a:prstDash val="solid"/>
          </a:ln>
        </p:spPr>
      </p:sp>
      <p:sp>
        <p:nvSpPr>
          <p:cNvPr id="22" name="Shape 20"/>
          <p:cNvSpPr/>
          <p:nvPr/>
        </p:nvSpPr>
        <p:spPr>
          <a:xfrm>
            <a:off x="8078724" y="1051560"/>
            <a:ext cx="237744" cy="182880"/>
          </a:xfrm>
          <a:prstGeom prst="rect">
            <a:avLst/>
          </a:prstGeom>
          <a:solidFill>
            <a:srgbClr val="111B31"/>
          </a:solidFill>
          <a:ln w="12700">
            <a:solidFill>
              <a:srgbClr val="111B31"/>
            </a:solidFill>
            <a:prstDash val="solid"/>
          </a:ln>
        </p:spPr>
      </p:sp>
      <p:sp>
        <p:nvSpPr>
          <p:cNvPr id="23" name="Shape 21"/>
          <p:cNvSpPr/>
          <p:nvPr/>
        </p:nvSpPr>
        <p:spPr>
          <a:xfrm>
            <a:off x="8348472" y="1051560"/>
            <a:ext cx="237744" cy="182880"/>
          </a:xfrm>
          <a:prstGeom prst="rect">
            <a:avLst/>
          </a:prstGeom>
          <a:solidFill>
            <a:srgbClr val="3A4E7A"/>
          </a:solidFill>
          <a:ln w="12700">
            <a:solidFill>
              <a:srgbClr val="3A4E7A"/>
            </a:solidFill>
            <a:prstDash val="solid"/>
          </a:ln>
        </p:spPr>
      </p:sp>
      <p:sp>
        <p:nvSpPr>
          <p:cNvPr id="24" name="Shape 22"/>
          <p:cNvSpPr/>
          <p:nvPr/>
        </p:nvSpPr>
        <p:spPr>
          <a:xfrm>
            <a:off x="8618220" y="1051560"/>
            <a:ext cx="237744" cy="182880"/>
          </a:xfrm>
          <a:prstGeom prst="rect">
            <a:avLst/>
          </a:prstGeom>
          <a:solidFill>
            <a:srgbClr val="FFB020"/>
          </a:solidFill>
          <a:ln w="12700">
            <a:solidFill>
              <a:srgbClr val="FFB020"/>
            </a:solidFill>
            <a:prstDash val="solid"/>
          </a:ln>
        </p:spPr>
      </p:sp>
      <p:sp>
        <p:nvSpPr>
          <p:cNvPr id="25" name="Shape 23"/>
          <p:cNvSpPr/>
          <p:nvPr/>
        </p:nvSpPr>
        <p:spPr>
          <a:xfrm>
            <a:off x="8887968" y="1051560"/>
            <a:ext cx="237744" cy="182880"/>
          </a:xfrm>
          <a:prstGeom prst="rect">
            <a:avLst/>
          </a:prstGeom>
          <a:solidFill>
            <a:srgbClr val="111B31"/>
          </a:solidFill>
          <a:ln w="12700">
            <a:solidFill>
              <a:srgbClr val="111B31"/>
            </a:solidFill>
            <a:prstDash val="solid"/>
          </a:ln>
        </p:spPr>
      </p:sp>
      <p:sp>
        <p:nvSpPr>
          <p:cNvPr id="26" name="Shape 24"/>
          <p:cNvSpPr/>
          <p:nvPr/>
        </p:nvSpPr>
        <p:spPr>
          <a:xfrm>
            <a:off x="9157716" y="1051560"/>
            <a:ext cx="237744" cy="182880"/>
          </a:xfrm>
          <a:prstGeom prst="rect">
            <a:avLst/>
          </a:prstGeom>
          <a:solidFill>
            <a:srgbClr val="111B31"/>
          </a:solidFill>
          <a:ln w="12700">
            <a:solidFill>
              <a:srgbClr val="111B31"/>
            </a:solidFill>
            <a:prstDash val="solid"/>
          </a:ln>
        </p:spPr>
      </p:sp>
      <p:sp>
        <p:nvSpPr>
          <p:cNvPr id="27" name="Shape 25"/>
          <p:cNvSpPr/>
          <p:nvPr/>
        </p:nvSpPr>
        <p:spPr>
          <a:xfrm>
            <a:off x="9427464" y="1051560"/>
            <a:ext cx="237744" cy="182880"/>
          </a:xfrm>
          <a:prstGeom prst="rect">
            <a:avLst/>
          </a:prstGeom>
          <a:solidFill>
            <a:srgbClr val="5B8DEF">
              <a:alpha val="38000"/>
            </a:srgbClr>
          </a:solidFill>
          <a:ln w="12700">
            <a:solidFill>
              <a:srgbClr val="5B8DEF"/>
            </a:solidFill>
            <a:prstDash val="solid"/>
          </a:ln>
        </p:spPr>
      </p:sp>
      <p:sp>
        <p:nvSpPr>
          <p:cNvPr id="28" name="Shape 26"/>
          <p:cNvSpPr/>
          <p:nvPr/>
        </p:nvSpPr>
        <p:spPr>
          <a:xfrm>
            <a:off x="9697212" y="1051560"/>
            <a:ext cx="237744" cy="182880"/>
          </a:xfrm>
          <a:prstGeom prst="rect">
            <a:avLst/>
          </a:prstGeom>
          <a:solidFill>
            <a:srgbClr val="111B31"/>
          </a:solidFill>
          <a:ln w="12700">
            <a:solidFill>
              <a:srgbClr val="111B31"/>
            </a:solidFill>
            <a:prstDash val="solid"/>
          </a:ln>
        </p:spPr>
      </p:sp>
      <p:sp>
        <p:nvSpPr>
          <p:cNvPr id="29" name="Shape 27"/>
          <p:cNvSpPr/>
          <p:nvPr/>
        </p:nvSpPr>
        <p:spPr>
          <a:xfrm>
            <a:off x="9966960" y="1051560"/>
            <a:ext cx="237744" cy="182880"/>
          </a:xfrm>
          <a:prstGeom prst="rect">
            <a:avLst/>
          </a:prstGeom>
          <a:solidFill>
            <a:srgbClr val="111B31"/>
          </a:solidFill>
          <a:ln w="12700">
            <a:solidFill>
              <a:srgbClr val="111B31"/>
            </a:solidFill>
            <a:prstDash val="solid"/>
          </a:ln>
        </p:spPr>
      </p:sp>
      <p:sp>
        <p:nvSpPr>
          <p:cNvPr id="30" name="Shape 28"/>
          <p:cNvSpPr/>
          <p:nvPr/>
        </p:nvSpPr>
        <p:spPr>
          <a:xfrm>
            <a:off x="10236708" y="1051560"/>
            <a:ext cx="237744" cy="182880"/>
          </a:xfrm>
          <a:prstGeom prst="rect">
            <a:avLst/>
          </a:prstGeom>
          <a:solidFill>
            <a:srgbClr val="5B8DEF">
              <a:alpha val="38000"/>
            </a:srgbClr>
          </a:solidFill>
          <a:ln w="12700">
            <a:solidFill>
              <a:srgbClr val="5B8DEF"/>
            </a:solidFill>
            <a:prstDash val="solid"/>
          </a:ln>
        </p:spPr>
      </p:sp>
      <p:sp>
        <p:nvSpPr>
          <p:cNvPr id="31" name="Shape 29"/>
          <p:cNvSpPr/>
          <p:nvPr/>
        </p:nvSpPr>
        <p:spPr>
          <a:xfrm>
            <a:off x="10506456" y="1051560"/>
            <a:ext cx="237744" cy="182880"/>
          </a:xfrm>
          <a:prstGeom prst="rect">
            <a:avLst/>
          </a:prstGeom>
          <a:solidFill>
            <a:srgbClr val="111B31"/>
          </a:solidFill>
          <a:ln w="12700">
            <a:solidFill>
              <a:srgbClr val="111B31"/>
            </a:solidFill>
            <a:prstDash val="solid"/>
          </a:ln>
        </p:spPr>
      </p:sp>
      <p:sp>
        <p:nvSpPr>
          <p:cNvPr id="32" name="Shape 30"/>
          <p:cNvSpPr/>
          <p:nvPr/>
        </p:nvSpPr>
        <p:spPr>
          <a:xfrm>
            <a:off x="10776204" y="1051560"/>
            <a:ext cx="237744" cy="182880"/>
          </a:xfrm>
          <a:prstGeom prst="rect">
            <a:avLst/>
          </a:prstGeom>
          <a:solidFill>
            <a:srgbClr val="111B31"/>
          </a:solidFill>
          <a:ln w="12700">
            <a:solidFill>
              <a:srgbClr val="111B31"/>
            </a:solidFill>
            <a:prstDash val="solid"/>
          </a:ln>
        </p:spPr>
      </p:sp>
      <p:sp>
        <p:nvSpPr>
          <p:cNvPr id="33" name="Shape 31"/>
          <p:cNvSpPr/>
          <p:nvPr/>
        </p:nvSpPr>
        <p:spPr>
          <a:xfrm>
            <a:off x="11045952" y="1051560"/>
            <a:ext cx="237744" cy="182880"/>
          </a:xfrm>
          <a:prstGeom prst="rect">
            <a:avLst/>
          </a:prstGeom>
          <a:solidFill>
            <a:srgbClr val="111B31"/>
          </a:solidFill>
          <a:ln w="12700">
            <a:solidFill>
              <a:srgbClr val="111B31"/>
            </a:solidFill>
            <a:prstDash val="solid"/>
          </a:ln>
        </p:spPr>
      </p:sp>
      <p:sp>
        <p:nvSpPr>
          <p:cNvPr id="34" name="Shape 32"/>
          <p:cNvSpPr/>
          <p:nvPr/>
        </p:nvSpPr>
        <p:spPr>
          <a:xfrm>
            <a:off x="11315700" y="1051560"/>
            <a:ext cx="237744" cy="182880"/>
          </a:xfrm>
          <a:prstGeom prst="rect">
            <a:avLst/>
          </a:prstGeom>
          <a:solidFill>
            <a:srgbClr val="111B31"/>
          </a:solidFill>
          <a:ln w="12700">
            <a:solidFill>
              <a:srgbClr val="111B31"/>
            </a:solidFill>
            <a:prstDash val="solid"/>
          </a:ln>
        </p:spPr>
      </p:sp>
      <p:sp>
        <p:nvSpPr>
          <p:cNvPr id="35" name="Shape 33"/>
          <p:cNvSpPr/>
          <p:nvPr/>
        </p:nvSpPr>
        <p:spPr>
          <a:xfrm>
            <a:off x="7269480" y="1266444"/>
            <a:ext cx="237744" cy="182880"/>
          </a:xfrm>
          <a:prstGeom prst="rect">
            <a:avLst/>
          </a:prstGeom>
          <a:solidFill>
            <a:srgbClr val="111B31"/>
          </a:solidFill>
          <a:ln w="12700">
            <a:solidFill>
              <a:srgbClr val="111B31"/>
            </a:solidFill>
            <a:prstDash val="solid"/>
          </a:ln>
        </p:spPr>
      </p:sp>
      <p:sp>
        <p:nvSpPr>
          <p:cNvPr id="36" name="Shape 34"/>
          <p:cNvSpPr/>
          <p:nvPr/>
        </p:nvSpPr>
        <p:spPr>
          <a:xfrm>
            <a:off x="7539228" y="1266444"/>
            <a:ext cx="237744" cy="182880"/>
          </a:xfrm>
          <a:prstGeom prst="rect">
            <a:avLst/>
          </a:prstGeom>
          <a:solidFill>
            <a:srgbClr val="111B31"/>
          </a:solidFill>
          <a:ln w="12700">
            <a:solidFill>
              <a:srgbClr val="111B31"/>
            </a:solidFill>
            <a:prstDash val="solid"/>
          </a:ln>
        </p:spPr>
      </p:sp>
      <p:sp>
        <p:nvSpPr>
          <p:cNvPr id="37" name="Shape 35"/>
          <p:cNvSpPr/>
          <p:nvPr/>
        </p:nvSpPr>
        <p:spPr>
          <a:xfrm>
            <a:off x="7808976" y="1266444"/>
            <a:ext cx="237744" cy="182880"/>
          </a:xfrm>
          <a:prstGeom prst="rect">
            <a:avLst/>
          </a:prstGeom>
          <a:solidFill>
            <a:srgbClr val="111B31"/>
          </a:solidFill>
          <a:ln w="12700">
            <a:solidFill>
              <a:srgbClr val="111B31"/>
            </a:solidFill>
            <a:prstDash val="solid"/>
          </a:ln>
        </p:spPr>
      </p:sp>
      <p:sp>
        <p:nvSpPr>
          <p:cNvPr id="38" name="Shape 36"/>
          <p:cNvSpPr/>
          <p:nvPr/>
        </p:nvSpPr>
        <p:spPr>
          <a:xfrm>
            <a:off x="8078724" y="1266444"/>
            <a:ext cx="237744" cy="182880"/>
          </a:xfrm>
          <a:prstGeom prst="rect">
            <a:avLst/>
          </a:prstGeom>
          <a:solidFill>
            <a:srgbClr val="111B31"/>
          </a:solidFill>
          <a:ln w="12700">
            <a:solidFill>
              <a:srgbClr val="111B31"/>
            </a:solidFill>
            <a:prstDash val="solid"/>
          </a:ln>
        </p:spPr>
      </p:sp>
      <p:sp>
        <p:nvSpPr>
          <p:cNvPr id="39" name="Shape 37"/>
          <p:cNvSpPr/>
          <p:nvPr/>
        </p:nvSpPr>
        <p:spPr>
          <a:xfrm>
            <a:off x="8348472" y="1266444"/>
            <a:ext cx="237744" cy="182880"/>
          </a:xfrm>
          <a:prstGeom prst="rect">
            <a:avLst/>
          </a:prstGeom>
          <a:solidFill>
            <a:srgbClr val="111B31"/>
          </a:solidFill>
          <a:ln w="12700">
            <a:solidFill>
              <a:srgbClr val="111B31"/>
            </a:solidFill>
            <a:prstDash val="solid"/>
          </a:ln>
        </p:spPr>
      </p:sp>
      <p:sp>
        <p:nvSpPr>
          <p:cNvPr id="40" name="Shape 38"/>
          <p:cNvSpPr/>
          <p:nvPr/>
        </p:nvSpPr>
        <p:spPr>
          <a:xfrm>
            <a:off x="8618220" y="1266444"/>
            <a:ext cx="237744" cy="182880"/>
          </a:xfrm>
          <a:prstGeom prst="rect">
            <a:avLst/>
          </a:prstGeom>
          <a:solidFill>
            <a:srgbClr val="111B31"/>
          </a:solidFill>
          <a:ln w="12700">
            <a:solidFill>
              <a:srgbClr val="111B31"/>
            </a:solidFill>
            <a:prstDash val="solid"/>
          </a:ln>
        </p:spPr>
      </p:sp>
      <p:sp>
        <p:nvSpPr>
          <p:cNvPr id="41" name="Shape 39"/>
          <p:cNvSpPr/>
          <p:nvPr/>
        </p:nvSpPr>
        <p:spPr>
          <a:xfrm>
            <a:off x="8887968" y="1266444"/>
            <a:ext cx="237744" cy="182880"/>
          </a:xfrm>
          <a:prstGeom prst="rect">
            <a:avLst/>
          </a:prstGeom>
          <a:solidFill>
            <a:srgbClr val="111B31"/>
          </a:solidFill>
          <a:ln w="12700">
            <a:solidFill>
              <a:srgbClr val="111B31"/>
            </a:solidFill>
            <a:prstDash val="solid"/>
          </a:ln>
        </p:spPr>
      </p:sp>
      <p:sp>
        <p:nvSpPr>
          <p:cNvPr id="42" name="Shape 40"/>
          <p:cNvSpPr/>
          <p:nvPr/>
        </p:nvSpPr>
        <p:spPr>
          <a:xfrm>
            <a:off x="9157716" y="1266444"/>
            <a:ext cx="237744" cy="182880"/>
          </a:xfrm>
          <a:prstGeom prst="rect">
            <a:avLst/>
          </a:prstGeom>
          <a:solidFill>
            <a:srgbClr val="111B31"/>
          </a:solidFill>
          <a:ln w="12700">
            <a:solidFill>
              <a:srgbClr val="111B31"/>
            </a:solidFill>
            <a:prstDash val="solid"/>
          </a:ln>
        </p:spPr>
      </p:sp>
      <p:sp>
        <p:nvSpPr>
          <p:cNvPr id="43" name="Shape 41"/>
          <p:cNvSpPr/>
          <p:nvPr/>
        </p:nvSpPr>
        <p:spPr>
          <a:xfrm>
            <a:off x="9427464" y="1266444"/>
            <a:ext cx="237744" cy="182880"/>
          </a:xfrm>
          <a:prstGeom prst="rect">
            <a:avLst/>
          </a:prstGeom>
          <a:solidFill>
            <a:srgbClr val="111B31"/>
          </a:solidFill>
          <a:ln w="12700">
            <a:solidFill>
              <a:srgbClr val="111B31"/>
            </a:solidFill>
            <a:prstDash val="solid"/>
          </a:ln>
        </p:spPr>
      </p:sp>
      <p:sp>
        <p:nvSpPr>
          <p:cNvPr id="44" name="Shape 42"/>
          <p:cNvSpPr/>
          <p:nvPr/>
        </p:nvSpPr>
        <p:spPr>
          <a:xfrm>
            <a:off x="9697212" y="1266444"/>
            <a:ext cx="237744" cy="182880"/>
          </a:xfrm>
          <a:prstGeom prst="rect">
            <a:avLst/>
          </a:prstGeom>
          <a:solidFill>
            <a:srgbClr val="FFB020"/>
          </a:solidFill>
          <a:ln w="12700">
            <a:solidFill>
              <a:srgbClr val="FFB020"/>
            </a:solidFill>
            <a:prstDash val="solid"/>
          </a:ln>
        </p:spPr>
      </p:sp>
      <p:sp>
        <p:nvSpPr>
          <p:cNvPr id="45" name="Shape 43"/>
          <p:cNvSpPr/>
          <p:nvPr/>
        </p:nvSpPr>
        <p:spPr>
          <a:xfrm>
            <a:off x="9966960" y="1266444"/>
            <a:ext cx="237744" cy="182880"/>
          </a:xfrm>
          <a:prstGeom prst="rect">
            <a:avLst/>
          </a:prstGeom>
          <a:solidFill>
            <a:srgbClr val="3A4E7A"/>
          </a:solidFill>
          <a:ln w="12700">
            <a:solidFill>
              <a:srgbClr val="3A4E7A"/>
            </a:solidFill>
            <a:prstDash val="solid"/>
          </a:ln>
        </p:spPr>
      </p:sp>
      <p:sp>
        <p:nvSpPr>
          <p:cNvPr id="46" name="Shape 44"/>
          <p:cNvSpPr/>
          <p:nvPr/>
        </p:nvSpPr>
        <p:spPr>
          <a:xfrm>
            <a:off x="10236708" y="1266444"/>
            <a:ext cx="237744" cy="182880"/>
          </a:xfrm>
          <a:prstGeom prst="rect">
            <a:avLst/>
          </a:prstGeom>
          <a:solidFill>
            <a:srgbClr val="111B31"/>
          </a:solidFill>
          <a:ln w="12700">
            <a:solidFill>
              <a:srgbClr val="111B31"/>
            </a:solidFill>
            <a:prstDash val="solid"/>
          </a:ln>
        </p:spPr>
      </p:sp>
      <p:sp>
        <p:nvSpPr>
          <p:cNvPr id="47" name="Shape 45"/>
          <p:cNvSpPr/>
          <p:nvPr/>
        </p:nvSpPr>
        <p:spPr>
          <a:xfrm>
            <a:off x="10506456" y="1266444"/>
            <a:ext cx="237744" cy="182880"/>
          </a:xfrm>
          <a:prstGeom prst="rect">
            <a:avLst/>
          </a:prstGeom>
          <a:solidFill>
            <a:srgbClr val="111B31"/>
          </a:solidFill>
          <a:ln w="12700">
            <a:solidFill>
              <a:srgbClr val="111B31"/>
            </a:solidFill>
            <a:prstDash val="solid"/>
          </a:ln>
        </p:spPr>
      </p:sp>
      <p:sp>
        <p:nvSpPr>
          <p:cNvPr id="48" name="Shape 46"/>
          <p:cNvSpPr/>
          <p:nvPr/>
        </p:nvSpPr>
        <p:spPr>
          <a:xfrm>
            <a:off x="10776204" y="1266444"/>
            <a:ext cx="237744" cy="182880"/>
          </a:xfrm>
          <a:prstGeom prst="rect">
            <a:avLst/>
          </a:prstGeom>
          <a:solidFill>
            <a:srgbClr val="111B31"/>
          </a:solidFill>
          <a:ln w="12700">
            <a:solidFill>
              <a:srgbClr val="111B31"/>
            </a:solidFill>
            <a:prstDash val="solid"/>
          </a:ln>
        </p:spPr>
      </p:sp>
      <p:sp>
        <p:nvSpPr>
          <p:cNvPr id="49" name="Shape 47"/>
          <p:cNvSpPr/>
          <p:nvPr/>
        </p:nvSpPr>
        <p:spPr>
          <a:xfrm>
            <a:off x="11045952" y="1266444"/>
            <a:ext cx="237744" cy="182880"/>
          </a:xfrm>
          <a:prstGeom prst="rect">
            <a:avLst/>
          </a:prstGeom>
          <a:solidFill>
            <a:srgbClr val="111B31"/>
          </a:solidFill>
          <a:ln w="12700">
            <a:solidFill>
              <a:srgbClr val="111B31"/>
            </a:solidFill>
            <a:prstDash val="solid"/>
          </a:ln>
        </p:spPr>
      </p:sp>
      <p:sp>
        <p:nvSpPr>
          <p:cNvPr id="50" name="Shape 48"/>
          <p:cNvSpPr/>
          <p:nvPr/>
        </p:nvSpPr>
        <p:spPr>
          <a:xfrm>
            <a:off x="11315700" y="1266444"/>
            <a:ext cx="237744" cy="182880"/>
          </a:xfrm>
          <a:prstGeom prst="rect">
            <a:avLst/>
          </a:prstGeom>
          <a:solidFill>
            <a:srgbClr val="111B31"/>
          </a:solidFill>
          <a:ln w="12700">
            <a:solidFill>
              <a:srgbClr val="111B31"/>
            </a:solidFill>
            <a:prstDash val="solid"/>
          </a:ln>
        </p:spPr>
      </p:sp>
      <p:sp>
        <p:nvSpPr>
          <p:cNvPr id="51" name="Shape 49"/>
          <p:cNvSpPr/>
          <p:nvPr/>
        </p:nvSpPr>
        <p:spPr>
          <a:xfrm>
            <a:off x="7269480" y="1481328"/>
            <a:ext cx="237744" cy="182880"/>
          </a:xfrm>
          <a:prstGeom prst="rect">
            <a:avLst/>
          </a:prstGeom>
          <a:solidFill>
            <a:srgbClr val="111B31"/>
          </a:solidFill>
          <a:ln w="12700">
            <a:solidFill>
              <a:srgbClr val="111B31"/>
            </a:solidFill>
            <a:prstDash val="solid"/>
          </a:ln>
        </p:spPr>
      </p:sp>
      <p:sp>
        <p:nvSpPr>
          <p:cNvPr id="52" name="Shape 50"/>
          <p:cNvSpPr/>
          <p:nvPr/>
        </p:nvSpPr>
        <p:spPr>
          <a:xfrm>
            <a:off x="7539228" y="1481328"/>
            <a:ext cx="237744" cy="182880"/>
          </a:xfrm>
          <a:prstGeom prst="rect">
            <a:avLst/>
          </a:prstGeom>
          <a:solidFill>
            <a:srgbClr val="111B31"/>
          </a:solidFill>
          <a:ln w="12700">
            <a:solidFill>
              <a:srgbClr val="111B31"/>
            </a:solidFill>
            <a:prstDash val="solid"/>
          </a:ln>
        </p:spPr>
      </p:sp>
      <p:sp>
        <p:nvSpPr>
          <p:cNvPr id="53" name="Shape 51"/>
          <p:cNvSpPr/>
          <p:nvPr/>
        </p:nvSpPr>
        <p:spPr>
          <a:xfrm>
            <a:off x="7808976" y="1481328"/>
            <a:ext cx="237744" cy="182880"/>
          </a:xfrm>
          <a:prstGeom prst="rect">
            <a:avLst/>
          </a:prstGeom>
          <a:solidFill>
            <a:srgbClr val="111B31"/>
          </a:solidFill>
          <a:ln w="12700">
            <a:solidFill>
              <a:srgbClr val="111B31"/>
            </a:solidFill>
            <a:prstDash val="solid"/>
          </a:ln>
        </p:spPr>
      </p:sp>
      <p:sp>
        <p:nvSpPr>
          <p:cNvPr id="54" name="Shape 52"/>
          <p:cNvSpPr/>
          <p:nvPr/>
        </p:nvSpPr>
        <p:spPr>
          <a:xfrm>
            <a:off x="8078724" y="1481328"/>
            <a:ext cx="237744" cy="182880"/>
          </a:xfrm>
          <a:prstGeom prst="rect">
            <a:avLst/>
          </a:prstGeom>
          <a:solidFill>
            <a:srgbClr val="111B31"/>
          </a:solidFill>
          <a:ln w="12700">
            <a:solidFill>
              <a:srgbClr val="111B31"/>
            </a:solidFill>
            <a:prstDash val="solid"/>
          </a:ln>
        </p:spPr>
      </p:sp>
      <p:sp>
        <p:nvSpPr>
          <p:cNvPr id="55" name="Shape 53"/>
          <p:cNvSpPr/>
          <p:nvPr/>
        </p:nvSpPr>
        <p:spPr>
          <a:xfrm>
            <a:off x="8348472" y="1481328"/>
            <a:ext cx="237744" cy="182880"/>
          </a:xfrm>
          <a:prstGeom prst="rect">
            <a:avLst/>
          </a:prstGeom>
          <a:solidFill>
            <a:srgbClr val="FFB020"/>
          </a:solidFill>
          <a:ln w="12700">
            <a:solidFill>
              <a:srgbClr val="FFB020"/>
            </a:solidFill>
            <a:prstDash val="solid"/>
          </a:ln>
        </p:spPr>
      </p:sp>
      <p:sp>
        <p:nvSpPr>
          <p:cNvPr id="56" name="Shape 54"/>
          <p:cNvSpPr/>
          <p:nvPr/>
        </p:nvSpPr>
        <p:spPr>
          <a:xfrm>
            <a:off x="8618220" y="1481328"/>
            <a:ext cx="237744" cy="182880"/>
          </a:xfrm>
          <a:prstGeom prst="rect">
            <a:avLst/>
          </a:prstGeom>
          <a:solidFill>
            <a:srgbClr val="3A4E7A"/>
          </a:solidFill>
          <a:ln w="12700">
            <a:solidFill>
              <a:srgbClr val="3A4E7A"/>
            </a:solidFill>
            <a:prstDash val="solid"/>
          </a:ln>
        </p:spPr>
      </p:sp>
      <p:sp>
        <p:nvSpPr>
          <p:cNvPr id="57" name="Shape 55"/>
          <p:cNvSpPr/>
          <p:nvPr/>
        </p:nvSpPr>
        <p:spPr>
          <a:xfrm>
            <a:off x="8887968" y="1481328"/>
            <a:ext cx="237744" cy="182880"/>
          </a:xfrm>
          <a:prstGeom prst="rect">
            <a:avLst/>
          </a:prstGeom>
          <a:solidFill>
            <a:srgbClr val="111B31"/>
          </a:solidFill>
          <a:ln w="12700">
            <a:solidFill>
              <a:srgbClr val="111B31"/>
            </a:solidFill>
            <a:prstDash val="solid"/>
          </a:ln>
        </p:spPr>
      </p:sp>
      <p:sp>
        <p:nvSpPr>
          <p:cNvPr id="58" name="Shape 56"/>
          <p:cNvSpPr/>
          <p:nvPr/>
        </p:nvSpPr>
        <p:spPr>
          <a:xfrm>
            <a:off x="9157716" y="1481328"/>
            <a:ext cx="237744" cy="182880"/>
          </a:xfrm>
          <a:prstGeom prst="rect">
            <a:avLst/>
          </a:prstGeom>
          <a:solidFill>
            <a:srgbClr val="111B31"/>
          </a:solidFill>
          <a:ln w="12700">
            <a:solidFill>
              <a:srgbClr val="111B31"/>
            </a:solidFill>
            <a:prstDash val="solid"/>
          </a:ln>
        </p:spPr>
      </p:sp>
      <p:sp>
        <p:nvSpPr>
          <p:cNvPr id="59" name="Shape 57"/>
          <p:cNvSpPr/>
          <p:nvPr/>
        </p:nvSpPr>
        <p:spPr>
          <a:xfrm>
            <a:off x="9427464" y="1481328"/>
            <a:ext cx="237744" cy="182880"/>
          </a:xfrm>
          <a:prstGeom prst="rect">
            <a:avLst/>
          </a:prstGeom>
          <a:solidFill>
            <a:srgbClr val="111B31"/>
          </a:solidFill>
          <a:ln w="12700">
            <a:solidFill>
              <a:srgbClr val="111B31"/>
            </a:solidFill>
            <a:prstDash val="solid"/>
          </a:ln>
        </p:spPr>
      </p:sp>
      <p:sp>
        <p:nvSpPr>
          <p:cNvPr id="60" name="Shape 58"/>
          <p:cNvSpPr/>
          <p:nvPr/>
        </p:nvSpPr>
        <p:spPr>
          <a:xfrm>
            <a:off x="9697212" y="1481328"/>
            <a:ext cx="237744" cy="182880"/>
          </a:xfrm>
          <a:prstGeom prst="rect">
            <a:avLst/>
          </a:prstGeom>
          <a:solidFill>
            <a:srgbClr val="111B31"/>
          </a:solidFill>
          <a:ln w="12700">
            <a:solidFill>
              <a:srgbClr val="111B31"/>
            </a:solidFill>
            <a:prstDash val="solid"/>
          </a:ln>
        </p:spPr>
      </p:sp>
      <p:sp>
        <p:nvSpPr>
          <p:cNvPr id="61" name="Shape 59"/>
          <p:cNvSpPr/>
          <p:nvPr/>
        </p:nvSpPr>
        <p:spPr>
          <a:xfrm>
            <a:off x="9966960" y="1481328"/>
            <a:ext cx="237744" cy="182880"/>
          </a:xfrm>
          <a:prstGeom prst="rect">
            <a:avLst/>
          </a:prstGeom>
          <a:solidFill>
            <a:srgbClr val="111B31"/>
          </a:solidFill>
          <a:ln w="12700">
            <a:solidFill>
              <a:srgbClr val="111B31"/>
            </a:solidFill>
            <a:prstDash val="solid"/>
          </a:ln>
        </p:spPr>
      </p:sp>
      <p:sp>
        <p:nvSpPr>
          <p:cNvPr id="62" name="Shape 60"/>
          <p:cNvSpPr/>
          <p:nvPr/>
        </p:nvSpPr>
        <p:spPr>
          <a:xfrm>
            <a:off x="10236708" y="1481328"/>
            <a:ext cx="237744" cy="182880"/>
          </a:xfrm>
          <a:prstGeom prst="rect">
            <a:avLst/>
          </a:prstGeom>
          <a:solidFill>
            <a:srgbClr val="111B31"/>
          </a:solidFill>
          <a:ln w="12700">
            <a:solidFill>
              <a:srgbClr val="111B31"/>
            </a:solidFill>
            <a:prstDash val="solid"/>
          </a:ln>
        </p:spPr>
      </p:sp>
      <p:sp>
        <p:nvSpPr>
          <p:cNvPr id="63" name="Shape 61"/>
          <p:cNvSpPr/>
          <p:nvPr/>
        </p:nvSpPr>
        <p:spPr>
          <a:xfrm>
            <a:off x="10506456" y="1481328"/>
            <a:ext cx="237744" cy="182880"/>
          </a:xfrm>
          <a:prstGeom prst="rect">
            <a:avLst/>
          </a:prstGeom>
          <a:solidFill>
            <a:srgbClr val="5B8DEF">
              <a:alpha val="38000"/>
            </a:srgbClr>
          </a:solidFill>
          <a:ln w="12700">
            <a:solidFill>
              <a:srgbClr val="5B8DEF"/>
            </a:solidFill>
            <a:prstDash val="solid"/>
          </a:ln>
        </p:spPr>
      </p:sp>
      <p:sp>
        <p:nvSpPr>
          <p:cNvPr id="64" name="Shape 62"/>
          <p:cNvSpPr/>
          <p:nvPr/>
        </p:nvSpPr>
        <p:spPr>
          <a:xfrm>
            <a:off x="10776204" y="1481328"/>
            <a:ext cx="237744" cy="182880"/>
          </a:xfrm>
          <a:prstGeom prst="rect">
            <a:avLst/>
          </a:prstGeom>
          <a:solidFill>
            <a:srgbClr val="5B8DEF">
              <a:alpha val="38000"/>
            </a:srgbClr>
          </a:solidFill>
          <a:ln w="12700">
            <a:solidFill>
              <a:srgbClr val="5B8DEF"/>
            </a:solidFill>
            <a:prstDash val="solid"/>
          </a:ln>
        </p:spPr>
      </p:sp>
      <p:sp>
        <p:nvSpPr>
          <p:cNvPr id="65" name="Shape 63"/>
          <p:cNvSpPr/>
          <p:nvPr/>
        </p:nvSpPr>
        <p:spPr>
          <a:xfrm>
            <a:off x="11045952" y="1481328"/>
            <a:ext cx="237744" cy="182880"/>
          </a:xfrm>
          <a:prstGeom prst="rect">
            <a:avLst/>
          </a:prstGeom>
          <a:solidFill>
            <a:srgbClr val="5B8DEF">
              <a:alpha val="38000"/>
            </a:srgbClr>
          </a:solidFill>
          <a:ln w="12700">
            <a:solidFill>
              <a:srgbClr val="5B8DEF"/>
            </a:solidFill>
            <a:prstDash val="solid"/>
          </a:ln>
        </p:spPr>
      </p:sp>
      <p:sp>
        <p:nvSpPr>
          <p:cNvPr id="66" name="Shape 64"/>
          <p:cNvSpPr/>
          <p:nvPr/>
        </p:nvSpPr>
        <p:spPr>
          <a:xfrm>
            <a:off x="11315700" y="1481328"/>
            <a:ext cx="237744" cy="182880"/>
          </a:xfrm>
          <a:prstGeom prst="rect">
            <a:avLst/>
          </a:prstGeom>
          <a:solidFill>
            <a:srgbClr val="5B8DEF">
              <a:alpha val="38000"/>
            </a:srgbClr>
          </a:solidFill>
          <a:ln w="12700">
            <a:solidFill>
              <a:srgbClr val="5B8DEF"/>
            </a:solidFill>
            <a:prstDash val="solid"/>
          </a:ln>
        </p:spPr>
      </p:sp>
      <p:sp>
        <p:nvSpPr>
          <p:cNvPr id="67" name="Shape 65"/>
          <p:cNvSpPr/>
          <p:nvPr/>
        </p:nvSpPr>
        <p:spPr>
          <a:xfrm>
            <a:off x="7269480" y="1696212"/>
            <a:ext cx="237744" cy="182880"/>
          </a:xfrm>
          <a:prstGeom prst="rect">
            <a:avLst/>
          </a:prstGeom>
          <a:solidFill>
            <a:srgbClr val="5B8DEF">
              <a:alpha val="38000"/>
            </a:srgbClr>
          </a:solidFill>
          <a:ln w="12700">
            <a:solidFill>
              <a:srgbClr val="5B8DEF"/>
            </a:solidFill>
            <a:prstDash val="solid"/>
          </a:ln>
        </p:spPr>
      </p:sp>
      <p:sp>
        <p:nvSpPr>
          <p:cNvPr id="68" name="Shape 66"/>
          <p:cNvSpPr/>
          <p:nvPr/>
        </p:nvSpPr>
        <p:spPr>
          <a:xfrm>
            <a:off x="7539228" y="1696212"/>
            <a:ext cx="237744" cy="182880"/>
          </a:xfrm>
          <a:prstGeom prst="rect">
            <a:avLst/>
          </a:prstGeom>
          <a:solidFill>
            <a:srgbClr val="FFB020"/>
          </a:solidFill>
          <a:ln w="12700">
            <a:solidFill>
              <a:srgbClr val="FFB020"/>
            </a:solidFill>
            <a:prstDash val="solid"/>
          </a:ln>
        </p:spPr>
      </p:sp>
      <p:sp>
        <p:nvSpPr>
          <p:cNvPr id="69" name="Shape 67"/>
          <p:cNvSpPr/>
          <p:nvPr/>
        </p:nvSpPr>
        <p:spPr>
          <a:xfrm>
            <a:off x="7808976" y="1696212"/>
            <a:ext cx="237744" cy="182880"/>
          </a:xfrm>
          <a:prstGeom prst="rect">
            <a:avLst/>
          </a:prstGeom>
          <a:solidFill>
            <a:srgbClr val="5B8DEF">
              <a:alpha val="38000"/>
            </a:srgbClr>
          </a:solidFill>
          <a:ln w="12700">
            <a:solidFill>
              <a:srgbClr val="5B8DEF"/>
            </a:solidFill>
            <a:prstDash val="solid"/>
          </a:ln>
        </p:spPr>
      </p:sp>
      <p:sp>
        <p:nvSpPr>
          <p:cNvPr id="70" name="Shape 68"/>
          <p:cNvSpPr/>
          <p:nvPr/>
        </p:nvSpPr>
        <p:spPr>
          <a:xfrm>
            <a:off x="8078724" y="1696212"/>
            <a:ext cx="237744" cy="182880"/>
          </a:xfrm>
          <a:prstGeom prst="rect">
            <a:avLst/>
          </a:prstGeom>
          <a:solidFill>
            <a:srgbClr val="111B31"/>
          </a:solidFill>
          <a:ln w="12700">
            <a:solidFill>
              <a:srgbClr val="111B31"/>
            </a:solidFill>
            <a:prstDash val="solid"/>
          </a:ln>
        </p:spPr>
      </p:sp>
      <p:sp>
        <p:nvSpPr>
          <p:cNvPr id="71" name="Shape 69"/>
          <p:cNvSpPr/>
          <p:nvPr/>
        </p:nvSpPr>
        <p:spPr>
          <a:xfrm>
            <a:off x="8348472" y="1696212"/>
            <a:ext cx="237744" cy="182880"/>
          </a:xfrm>
          <a:prstGeom prst="rect">
            <a:avLst/>
          </a:prstGeom>
          <a:solidFill>
            <a:srgbClr val="111B31"/>
          </a:solidFill>
          <a:ln w="12700">
            <a:solidFill>
              <a:srgbClr val="111B31"/>
            </a:solidFill>
            <a:prstDash val="solid"/>
          </a:ln>
        </p:spPr>
      </p:sp>
      <p:sp>
        <p:nvSpPr>
          <p:cNvPr id="72" name="Shape 70"/>
          <p:cNvSpPr/>
          <p:nvPr/>
        </p:nvSpPr>
        <p:spPr>
          <a:xfrm>
            <a:off x="8618220" y="1696212"/>
            <a:ext cx="237744" cy="182880"/>
          </a:xfrm>
          <a:prstGeom prst="rect">
            <a:avLst/>
          </a:prstGeom>
          <a:solidFill>
            <a:srgbClr val="111B31"/>
          </a:solidFill>
          <a:ln w="12700">
            <a:solidFill>
              <a:srgbClr val="111B31"/>
            </a:solidFill>
            <a:prstDash val="solid"/>
          </a:ln>
        </p:spPr>
      </p:sp>
      <p:sp>
        <p:nvSpPr>
          <p:cNvPr id="73" name="Shape 71"/>
          <p:cNvSpPr/>
          <p:nvPr/>
        </p:nvSpPr>
        <p:spPr>
          <a:xfrm>
            <a:off x="8887968" y="1696212"/>
            <a:ext cx="237744" cy="182880"/>
          </a:xfrm>
          <a:prstGeom prst="rect">
            <a:avLst/>
          </a:prstGeom>
          <a:solidFill>
            <a:srgbClr val="111B31"/>
          </a:solidFill>
          <a:ln w="12700">
            <a:solidFill>
              <a:srgbClr val="111B31"/>
            </a:solidFill>
            <a:prstDash val="solid"/>
          </a:ln>
        </p:spPr>
      </p:sp>
      <p:sp>
        <p:nvSpPr>
          <p:cNvPr id="74" name="Shape 72"/>
          <p:cNvSpPr/>
          <p:nvPr/>
        </p:nvSpPr>
        <p:spPr>
          <a:xfrm>
            <a:off x="9157716" y="1696212"/>
            <a:ext cx="237744" cy="182880"/>
          </a:xfrm>
          <a:prstGeom prst="rect">
            <a:avLst/>
          </a:prstGeom>
          <a:solidFill>
            <a:srgbClr val="FFB020"/>
          </a:solidFill>
          <a:ln w="12700">
            <a:solidFill>
              <a:srgbClr val="FFB020"/>
            </a:solidFill>
            <a:prstDash val="solid"/>
          </a:ln>
        </p:spPr>
      </p:sp>
      <p:sp>
        <p:nvSpPr>
          <p:cNvPr id="75" name="Shape 73"/>
          <p:cNvSpPr/>
          <p:nvPr/>
        </p:nvSpPr>
        <p:spPr>
          <a:xfrm>
            <a:off x="9427464" y="1696212"/>
            <a:ext cx="237744" cy="182880"/>
          </a:xfrm>
          <a:prstGeom prst="rect">
            <a:avLst/>
          </a:prstGeom>
          <a:solidFill>
            <a:srgbClr val="5B8DEF">
              <a:alpha val="38000"/>
            </a:srgbClr>
          </a:solidFill>
          <a:ln w="12700">
            <a:solidFill>
              <a:srgbClr val="5B8DEF"/>
            </a:solidFill>
            <a:prstDash val="solid"/>
          </a:ln>
        </p:spPr>
      </p:sp>
      <p:sp>
        <p:nvSpPr>
          <p:cNvPr id="76" name="Shape 74"/>
          <p:cNvSpPr/>
          <p:nvPr/>
        </p:nvSpPr>
        <p:spPr>
          <a:xfrm>
            <a:off x="9697212" y="1696212"/>
            <a:ext cx="237744" cy="182880"/>
          </a:xfrm>
          <a:prstGeom prst="rect">
            <a:avLst/>
          </a:prstGeom>
          <a:solidFill>
            <a:srgbClr val="111B31"/>
          </a:solidFill>
          <a:ln w="12700">
            <a:solidFill>
              <a:srgbClr val="111B31"/>
            </a:solidFill>
            <a:prstDash val="solid"/>
          </a:ln>
        </p:spPr>
      </p:sp>
      <p:sp>
        <p:nvSpPr>
          <p:cNvPr id="77" name="Shape 75"/>
          <p:cNvSpPr/>
          <p:nvPr/>
        </p:nvSpPr>
        <p:spPr>
          <a:xfrm>
            <a:off x="9966960" y="1696212"/>
            <a:ext cx="237744" cy="182880"/>
          </a:xfrm>
          <a:prstGeom prst="rect">
            <a:avLst/>
          </a:prstGeom>
          <a:solidFill>
            <a:srgbClr val="111B31"/>
          </a:solidFill>
          <a:ln w="12700">
            <a:solidFill>
              <a:srgbClr val="111B31"/>
            </a:solidFill>
            <a:prstDash val="solid"/>
          </a:ln>
        </p:spPr>
      </p:sp>
      <p:sp>
        <p:nvSpPr>
          <p:cNvPr id="78" name="Shape 76"/>
          <p:cNvSpPr/>
          <p:nvPr/>
        </p:nvSpPr>
        <p:spPr>
          <a:xfrm>
            <a:off x="10236708" y="1696212"/>
            <a:ext cx="237744" cy="182880"/>
          </a:xfrm>
          <a:prstGeom prst="rect">
            <a:avLst/>
          </a:prstGeom>
          <a:solidFill>
            <a:srgbClr val="111B31"/>
          </a:solidFill>
          <a:ln w="12700">
            <a:solidFill>
              <a:srgbClr val="111B31"/>
            </a:solidFill>
            <a:prstDash val="solid"/>
          </a:ln>
        </p:spPr>
      </p:sp>
      <p:sp>
        <p:nvSpPr>
          <p:cNvPr id="79" name="Shape 77"/>
          <p:cNvSpPr/>
          <p:nvPr/>
        </p:nvSpPr>
        <p:spPr>
          <a:xfrm>
            <a:off x="10506456" y="1696212"/>
            <a:ext cx="237744" cy="182880"/>
          </a:xfrm>
          <a:prstGeom prst="rect">
            <a:avLst/>
          </a:prstGeom>
          <a:solidFill>
            <a:srgbClr val="111B31"/>
          </a:solidFill>
          <a:ln w="12700">
            <a:solidFill>
              <a:srgbClr val="111B31"/>
            </a:solidFill>
            <a:prstDash val="solid"/>
          </a:ln>
        </p:spPr>
      </p:sp>
      <p:sp>
        <p:nvSpPr>
          <p:cNvPr id="80" name="Shape 78"/>
          <p:cNvSpPr/>
          <p:nvPr/>
        </p:nvSpPr>
        <p:spPr>
          <a:xfrm>
            <a:off x="10776204" y="1696212"/>
            <a:ext cx="237744" cy="182880"/>
          </a:xfrm>
          <a:prstGeom prst="rect">
            <a:avLst/>
          </a:prstGeom>
          <a:solidFill>
            <a:srgbClr val="111B31"/>
          </a:solidFill>
          <a:ln w="12700">
            <a:solidFill>
              <a:srgbClr val="111B31"/>
            </a:solidFill>
            <a:prstDash val="solid"/>
          </a:ln>
        </p:spPr>
      </p:sp>
      <p:sp>
        <p:nvSpPr>
          <p:cNvPr id="81" name="Shape 79"/>
          <p:cNvSpPr/>
          <p:nvPr/>
        </p:nvSpPr>
        <p:spPr>
          <a:xfrm>
            <a:off x="11045952" y="1696212"/>
            <a:ext cx="237744" cy="182880"/>
          </a:xfrm>
          <a:prstGeom prst="rect">
            <a:avLst/>
          </a:prstGeom>
          <a:solidFill>
            <a:srgbClr val="111B31"/>
          </a:solidFill>
          <a:ln w="12700">
            <a:solidFill>
              <a:srgbClr val="111B31"/>
            </a:solidFill>
            <a:prstDash val="solid"/>
          </a:ln>
        </p:spPr>
      </p:sp>
      <p:sp>
        <p:nvSpPr>
          <p:cNvPr id="82" name="Shape 80"/>
          <p:cNvSpPr/>
          <p:nvPr/>
        </p:nvSpPr>
        <p:spPr>
          <a:xfrm>
            <a:off x="11315700" y="1696212"/>
            <a:ext cx="237744" cy="182880"/>
          </a:xfrm>
          <a:prstGeom prst="rect">
            <a:avLst/>
          </a:prstGeom>
          <a:solidFill>
            <a:srgbClr val="111B31"/>
          </a:solidFill>
          <a:ln w="12700">
            <a:solidFill>
              <a:srgbClr val="111B31"/>
            </a:solidFill>
            <a:prstDash val="solid"/>
          </a:ln>
        </p:spPr>
      </p:sp>
      <p:sp>
        <p:nvSpPr>
          <p:cNvPr id="83" name="Shape 81"/>
          <p:cNvSpPr/>
          <p:nvPr/>
        </p:nvSpPr>
        <p:spPr>
          <a:xfrm>
            <a:off x="7269480" y="1911096"/>
            <a:ext cx="237744" cy="182880"/>
          </a:xfrm>
          <a:prstGeom prst="rect">
            <a:avLst/>
          </a:prstGeom>
          <a:solidFill>
            <a:srgbClr val="111B31"/>
          </a:solidFill>
          <a:ln w="12700">
            <a:solidFill>
              <a:srgbClr val="111B31"/>
            </a:solidFill>
            <a:prstDash val="solid"/>
          </a:ln>
        </p:spPr>
      </p:sp>
      <p:sp>
        <p:nvSpPr>
          <p:cNvPr id="84" name="Shape 82"/>
          <p:cNvSpPr/>
          <p:nvPr/>
        </p:nvSpPr>
        <p:spPr>
          <a:xfrm>
            <a:off x="7539228" y="1911096"/>
            <a:ext cx="237744" cy="182880"/>
          </a:xfrm>
          <a:prstGeom prst="rect">
            <a:avLst/>
          </a:prstGeom>
          <a:solidFill>
            <a:srgbClr val="5B8DEF">
              <a:alpha val="38000"/>
            </a:srgbClr>
          </a:solidFill>
          <a:ln w="12700">
            <a:solidFill>
              <a:srgbClr val="5B8DEF"/>
            </a:solidFill>
            <a:prstDash val="solid"/>
          </a:ln>
        </p:spPr>
      </p:sp>
      <p:sp>
        <p:nvSpPr>
          <p:cNvPr id="85" name="Shape 83"/>
          <p:cNvSpPr/>
          <p:nvPr/>
        </p:nvSpPr>
        <p:spPr>
          <a:xfrm>
            <a:off x="7808976" y="1911096"/>
            <a:ext cx="237744" cy="182880"/>
          </a:xfrm>
          <a:prstGeom prst="rect">
            <a:avLst/>
          </a:prstGeom>
          <a:solidFill>
            <a:srgbClr val="111B31"/>
          </a:solidFill>
          <a:ln w="12700">
            <a:solidFill>
              <a:srgbClr val="111B31"/>
            </a:solidFill>
            <a:prstDash val="solid"/>
          </a:ln>
        </p:spPr>
      </p:sp>
      <p:sp>
        <p:nvSpPr>
          <p:cNvPr id="86" name="Shape 84"/>
          <p:cNvSpPr/>
          <p:nvPr/>
        </p:nvSpPr>
        <p:spPr>
          <a:xfrm>
            <a:off x="8078724" y="1911096"/>
            <a:ext cx="237744" cy="182880"/>
          </a:xfrm>
          <a:prstGeom prst="rect">
            <a:avLst/>
          </a:prstGeom>
          <a:solidFill>
            <a:srgbClr val="FFB020"/>
          </a:solidFill>
          <a:ln w="12700">
            <a:solidFill>
              <a:srgbClr val="FFB020"/>
            </a:solidFill>
            <a:prstDash val="solid"/>
          </a:ln>
        </p:spPr>
      </p:sp>
      <p:sp>
        <p:nvSpPr>
          <p:cNvPr id="87" name="Shape 85"/>
          <p:cNvSpPr/>
          <p:nvPr/>
        </p:nvSpPr>
        <p:spPr>
          <a:xfrm>
            <a:off x="8348472" y="1911096"/>
            <a:ext cx="237744" cy="182880"/>
          </a:xfrm>
          <a:prstGeom prst="rect">
            <a:avLst/>
          </a:prstGeom>
          <a:solidFill>
            <a:srgbClr val="111B31"/>
          </a:solidFill>
          <a:ln w="12700">
            <a:solidFill>
              <a:srgbClr val="111B31"/>
            </a:solidFill>
            <a:prstDash val="solid"/>
          </a:ln>
        </p:spPr>
      </p:sp>
      <p:sp>
        <p:nvSpPr>
          <p:cNvPr id="88" name="Shape 86"/>
          <p:cNvSpPr/>
          <p:nvPr/>
        </p:nvSpPr>
        <p:spPr>
          <a:xfrm>
            <a:off x="8618220" y="1911096"/>
            <a:ext cx="237744" cy="182880"/>
          </a:xfrm>
          <a:prstGeom prst="rect">
            <a:avLst/>
          </a:prstGeom>
          <a:solidFill>
            <a:srgbClr val="5B8DEF">
              <a:alpha val="38000"/>
            </a:srgbClr>
          </a:solidFill>
          <a:ln w="12700">
            <a:solidFill>
              <a:srgbClr val="5B8DEF"/>
            </a:solidFill>
            <a:prstDash val="solid"/>
          </a:ln>
        </p:spPr>
      </p:sp>
      <p:sp>
        <p:nvSpPr>
          <p:cNvPr id="89" name="Shape 87"/>
          <p:cNvSpPr/>
          <p:nvPr/>
        </p:nvSpPr>
        <p:spPr>
          <a:xfrm>
            <a:off x="8887968" y="1911096"/>
            <a:ext cx="237744" cy="182880"/>
          </a:xfrm>
          <a:prstGeom prst="rect">
            <a:avLst/>
          </a:prstGeom>
          <a:solidFill>
            <a:srgbClr val="5B8DEF">
              <a:alpha val="38000"/>
            </a:srgbClr>
          </a:solidFill>
          <a:ln w="12700">
            <a:solidFill>
              <a:srgbClr val="5B8DEF"/>
            </a:solidFill>
            <a:prstDash val="solid"/>
          </a:ln>
        </p:spPr>
      </p:sp>
      <p:sp>
        <p:nvSpPr>
          <p:cNvPr id="90" name="Shape 88"/>
          <p:cNvSpPr/>
          <p:nvPr/>
        </p:nvSpPr>
        <p:spPr>
          <a:xfrm>
            <a:off x="9157716" y="1911096"/>
            <a:ext cx="237744" cy="182880"/>
          </a:xfrm>
          <a:prstGeom prst="rect">
            <a:avLst/>
          </a:prstGeom>
          <a:solidFill>
            <a:srgbClr val="3A4E7A"/>
          </a:solidFill>
          <a:ln w="12700">
            <a:solidFill>
              <a:srgbClr val="3A4E7A"/>
            </a:solidFill>
            <a:prstDash val="solid"/>
          </a:ln>
        </p:spPr>
      </p:sp>
      <p:sp>
        <p:nvSpPr>
          <p:cNvPr id="91" name="Shape 89"/>
          <p:cNvSpPr/>
          <p:nvPr/>
        </p:nvSpPr>
        <p:spPr>
          <a:xfrm>
            <a:off x="9427464" y="1911096"/>
            <a:ext cx="237744" cy="182880"/>
          </a:xfrm>
          <a:prstGeom prst="rect">
            <a:avLst/>
          </a:prstGeom>
          <a:solidFill>
            <a:srgbClr val="111B31"/>
          </a:solidFill>
          <a:ln w="12700">
            <a:solidFill>
              <a:srgbClr val="111B31"/>
            </a:solidFill>
            <a:prstDash val="solid"/>
          </a:ln>
        </p:spPr>
      </p:sp>
      <p:sp>
        <p:nvSpPr>
          <p:cNvPr id="92" name="Shape 90"/>
          <p:cNvSpPr/>
          <p:nvPr/>
        </p:nvSpPr>
        <p:spPr>
          <a:xfrm>
            <a:off x="9697212" y="1911096"/>
            <a:ext cx="237744" cy="182880"/>
          </a:xfrm>
          <a:prstGeom prst="rect">
            <a:avLst/>
          </a:prstGeom>
          <a:solidFill>
            <a:srgbClr val="111B31"/>
          </a:solidFill>
          <a:ln w="12700">
            <a:solidFill>
              <a:srgbClr val="111B31"/>
            </a:solidFill>
            <a:prstDash val="solid"/>
          </a:ln>
        </p:spPr>
      </p:sp>
      <p:sp>
        <p:nvSpPr>
          <p:cNvPr id="93" name="Shape 91"/>
          <p:cNvSpPr/>
          <p:nvPr/>
        </p:nvSpPr>
        <p:spPr>
          <a:xfrm>
            <a:off x="9966960" y="1911096"/>
            <a:ext cx="237744" cy="182880"/>
          </a:xfrm>
          <a:prstGeom prst="rect">
            <a:avLst/>
          </a:prstGeom>
          <a:solidFill>
            <a:srgbClr val="5B8DEF">
              <a:alpha val="38000"/>
            </a:srgbClr>
          </a:solidFill>
          <a:ln w="12700">
            <a:solidFill>
              <a:srgbClr val="5B8DEF"/>
            </a:solidFill>
            <a:prstDash val="solid"/>
          </a:ln>
        </p:spPr>
      </p:sp>
      <p:sp>
        <p:nvSpPr>
          <p:cNvPr id="94" name="Shape 92"/>
          <p:cNvSpPr/>
          <p:nvPr/>
        </p:nvSpPr>
        <p:spPr>
          <a:xfrm>
            <a:off x="10236708" y="1911096"/>
            <a:ext cx="237744" cy="182880"/>
          </a:xfrm>
          <a:prstGeom prst="rect">
            <a:avLst/>
          </a:prstGeom>
          <a:solidFill>
            <a:srgbClr val="111B31"/>
          </a:solidFill>
          <a:ln w="12700">
            <a:solidFill>
              <a:srgbClr val="111B31"/>
            </a:solidFill>
            <a:prstDash val="solid"/>
          </a:ln>
        </p:spPr>
      </p:sp>
      <p:sp>
        <p:nvSpPr>
          <p:cNvPr id="95" name="Shape 93"/>
          <p:cNvSpPr/>
          <p:nvPr/>
        </p:nvSpPr>
        <p:spPr>
          <a:xfrm>
            <a:off x="10506456" y="1911096"/>
            <a:ext cx="237744" cy="182880"/>
          </a:xfrm>
          <a:prstGeom prst="rect">
            <a:avLst/>
          </a:prstGeom>
          <a:solidFill>
            <a:srgbClr val="111B31"/>
          </a:solidFill>
          <a:ln w="12700">
            <a:solidFill>
              <a:srgbClr val="111B31"/>
            </a:solidFill>
            <a:prstDash val="solid"/>
          </a:ln>
        </p:spPr>
      </p:sp>
      <p:sp>
        <p:nvSpPr>
          <p:cNvPr id="96" name="Shape 94"/>
          <p:cNvSpPr/>
          <p:nvPr/>
        </p:nvSpPr>
        <p:spPr>
          <a:xfrm>
            <a:off x="10776204" y="1911096"/>
            <a:ext cx="237744" cy="182880"/>
          </a:xfrm>
          <a:prstGeom prst="rect">
            <a:avLst/>
          </a:prstGeom>
          <a:solidFill>
            <a:srgbClr val="111B31"/>
          </a:solidFill>
          <a:ln w="12700">
            <a:solidFill>
              <a:srgbClr val="111B31"/>
            </a:solidFill>
            <a:prstDash val="solid"/>
          </a:ln>
        </p:spPr>
      </p:sp>
      <p:sp>
        <p:nvSpPr>
          <p:cNvPr id="97" name="Shape 95"/>
          <p:cNvSpPr/>
          <p:nvPr/>
        </p:nvSpPr>
        <p:spPr>
          <a:xfrm>
            <a:off x="11045952" y="1911096"/>
            <a:ext cx="237744" cy="182880"/>
          </a:xfrm>
          <a:prstGeom prst="rect">
            <a:avLst/>
          </a:prstGeom>
          <a:solidFill>
            <a:srgbClr val="111B31"/>
          </a:solidFill>
          <a:ln w="12700">
            <a:solidFill>
              <a:srgbClr val="111B31"/>
            </a:solidFill>
            <a:prstDash val="solid"/>
          </a:ln>
        </p:spPr>
      </p:sp>
      <p:sp>
        <p:nvSpPr>
          <p:cNvPr id="98" name="Shape 96"/>
          <p:cNvSpPr/>
          <p:nvPr/>
        </p:nvSpPr>
        <p:spPr>
          <a:xfrm>
            <a:off x="11315700" y="1911096"/>
            <a:ext cx="237744" cy="182880"/>
          </a:xfrm>
          <a:prstGeom prst="rect">
            <a:avLst/>
          </a:prstGeom>
          <a:solidFill>
            <a:srgbClr val="111B31"/>
          </a:solidFill>
          <a:ln w="12700">
            <a:solidFill>
              <a:srgbClr val="111B31"/>
            </a:solidFill>
            <a:prstDash val="solid"/>
          </a:ln>
        </p:spPr>
      </p:sp>
      <p:sp>
        <p:nvSpPr>
          <p:cNvPr id="99" name="Shape 97"/>
          <p:cNvSpPr/>
          <p:nvPr/>
        </p:nvSpPr>
        <p:spPr>
          <a:xfrm>
            <a:off x="7269480" y="2125980"/>
            <a:ext cx="237744" cy="182880"/>
          </a:xfrm>
          <a:prstGeom prst="rect">
            <a:avLst/>
          </a:prstGeom>
          <a:solidFill>
            <a:srgbClr val="111B31"/>
          </a:solidFill>
          <a:ln w="12700">
            <a:solidFill>
              <a:srgbClr val="111B31"/>
            </a:solidFill>
            <a:prstDash val="solid"/>
          </a:ln>
        </p:spPr>
      </p:sp>
      <p:sp>
        <p:nvSpPr>
          <p:cNvPr id="100" name="Shape 98"/>
          <p:cNvSpPr/>
          <p:nvPr/>
        </p:nvSpPr>
        <p:spPr>
          <a:xfrm>
            <a:off x="7539228" y="2125980"/>
            <a:ext cx="237744" cy="182880"/>
          </a:xfrm>
          <a:prstGeom prst="rect">
            <a:avLst/>
          </a:prstGeom>
          <a:solidFill>
            <a:srgbClr val="111B31"/>
          </a:solidFill>
          <a:ln w="12700">
            <a:solidFill>
              <a:srgbClr val="111B31"/>
            </a:solidFill>
            <a:prstDash val="solid"/>
          </a:ln>
        </p:spPr>
      </p:sp>
      <p:sp>
        <p:nvSpPr>
          <p:cNvPr id="101" name="Shape 99"/>
          <p:cNvSpPr/>
          <p:nvPr/>
        </p:nvSpPr>
        <p:spPr>
          <a:xfrm>
            <a:off x="7808976" y="2125980"/>
            <a:ext cx="237744" cy="182880"/>
          </a:xfrm>
          <a:prstGeom prst="rect">
            <a:avLst/>
          </a:prstGeom>
          <a:solidFill>
            <a:srgbClr val="111B31"/>
          </a:solidFill>
          <a:ln w="12700">
            <a:solidFill>
              <a:srgbClr val="111B31"/>
            </a:solidFill>
            <a:prstDash val="solid"/>
          </a:ln>
        </p:spPr>
      </p:sp>
      <p:sp>
        <p:nvSpPr>
          <p:cNvPr id="102" name="Shape 100"/>
          <p:cNvSpPr/>
          <p:nvPr/>
        </p:nvSpPr>
        <p:spPr>
          <a:xfrm>
            <a:off x="8078724" y="2125980"/>
            <a:ext cx="237744" cy="182880"/>
          </a:xfrm>
          <a:prstGeom prst="rect">
            <a:avLst/>
          </a:prstGeom>
          <a:solidFill>
            <a:srgbClr val="111B31"/>
          </a:solidFill>
          <a:ln w="12700">
            <a:solidFill>
              <a:srgbClr val="111B31"/>
            </a:solidFill>
            <a:prstDash val="solid"/>
          </a:ln>
        </p:spPr>
      </p:sp>
      <p:sp>
        <p:nvSpPr>
          <p:cNvPr id="103" name="Shape 101"/>
          <p:cNvSpPr/>
          <p:nvPr/>
        </p:nvSpPr>
        <p:spPr>
          <a:xfrm>
            <a:off x="8348472" y="2125980"/>
            <a:ext cx="237744" cy="182880"/>
          </a:xfrm>
          <a:prstGeom prst="rect">
            <a:avLst/>
          </a:prstGeom>
          <a:solidFill>
            <a:srgbClr val="111B31"/>
          </a:solidFill>
          <a:ln w="12700">
            <a:solidFill>
              <a:srgbClr val="111B31"/>
            </a:solidFill>
            <a:prstDash val="solid"/>
          </a:ln>
        </p:spPr>
      </p:sp>
      <p:sp>
        <p:nvSpPr>
          <p:cNvPr id="104" name="Shape 102"/>
          <p:cNvSpPr/>
          <p:nvPr/>
        </p:nvSpPr>
        <p:spPr>
          <a:xfrm>
            <a:off x="8618220" y="2125980"/>
            <a:ext cx="237744" cy="182880"/>
          </a:xfrm>
          <a:prstGeom prst="rect">
            <a:avLst/>
          </a:prstGeom>
          <a:solidFill>
            <a:srgbClr val="FFB020"/>
          </a:solidFill>
          <a:ln w="12700">
            <a:solidFill>
              <a:srgbClr val="FFB020"/>
            </a:solidFill>
            <a:prstDash val="solid"/>
          </a:ln>
        </p:spPr>
      </p:sp>
      <p:sp>
        <p:nvSpPr>
          <p:cNvPr id="105" name="Shape 103"/>
          <p:cNvSpPr/>
          <p:nvPr/>
        </p:nvSpPr>
        <p:spPr>
          <a:xfrm>
            <a:off x="8887968" y="2125980"/>
            <a:ext cx="237744" cy="182880"/>
          </a:xfrm>
          <a:prstGeom prst="rect">
            <a:avLst/>
          </a:prstGeom>
          <a:solidFill>
            <a:srgbClr val="5B8DEF">
              <a:alpha val="38000"/>
            </a:srgbClr>
          </a:solidFill>
          <a:ln w="12700">
            <a:solidFill>
              <a:srgbClr val="5B8DEF"/>
            </a:solidFill>
            <a:prstDash val="solid"/>
          </a:ln>
        </p:spPr>
      </p:sp>
      <p:sp>
        <p:nvSpPr>
          <p:cNvPr id="106" name="Shape 104"/>
          <p:cNvSpPr/>
          <p:nvPr/>
        </p:nvSpPr>
        <p:spPr>
          <a:xfrm>
            <a:off x="9157716" y="2125980"/>
            <a:ext cx="237744" cy="182880"/>
          </a:xfrm>
          <a:prstGeom prst="rect">
            <a:avLst/>
          </a:prstGeom>
          <a:solidFill>
            <a:srgbClr val="FFB020"/>
          </a:solidFill>
          <a:ln w="12700">
            <a:solidFill>
              <a:srgbClr val="FFB020"/>
            </a:solidFill>
            <a:prstDash val="solid"/>
          </a:ln>
        </p:spPr>
      </p:sp>
      <p:sp>
        <p:nvSpPr>
          <p:cNvPr id="107" name="Shape 105"/>
          <p:cNvSpPr/>
          <p:nvPr/>
        </p:nvSpPr>
        <p:spPr>
          <a:xfrm>
            <a:off x="9427464" y="2125980"/>
            <a:ext cx="237744" cy="182880"/>
          </a:xfrm>
          <a:prstGeom prst="rect">
            <a:avLst/>
          </a:prstGeom>
          <a:solidFill>
            <a:srgbClr val="111B31"/>
          </a:solidFill>
          <a:ln w="12700">
            <a:solidFill>
              <a:srgbClr val="111B31"/>
            </a:solidFill>
            <a:prstDash val="solid"/>
          </a:ln>
        </p:spPr>
      </p:sp>
      <p:sp>
        <p:nvSpPr>
          <p:cNvPr id="108" name="Shape 106"/>
          <p:cNvSpPr/>
          <p:nvPr/>
        </p:nvSpPr>
        <p:spPr>
          <a:xfrm>
            <a:off x="9697212" y="2125980"/>
            <a:ext cx="237744" cy="182880"/>
          </a:xfrm>
          <a:prstGeom prst="rect">
            <a:avLst/>
          </a:prstGeom>
          <a:solidFill>
            <a:srgbClr val="111B31"/>
          </a:solidFill>
          <a:ln w="12700">
            <a:solidFill>
              <a:srgbClr val="111B31"/>
            </a:solidFill>
            <a:prstDash val="solid"/>
          </a:ln>
        </p:spPr>
      </p:sp>
      <p:sp>
        <p:nvSpPr>
          <p:cNvPr id="109" name="Shape 107"/>
          <p:cNvSpPr/>
          <p:nvPr/>
        </p:nvSpPr>
        <p:spPr>
          <a:xfrm>
            <a:off x="9966960" y="2125980"/>
            <a:ext cx="237744" cy="182880"/>
          </a:xfrm>
          <a:prstGeom prst="rect">
            <a:avLst/>
          </a:prstGeom>
          <a:solidFill>
            <a:srgbClr val="111B31"/>
          </a:solidFill>
          <a:ln w="12700">
            <a:solidFill>
              <a:srgbClr val="111B31"/>
            </a:solidFill>
            <a:prstDash val="solid"/>
          </a:ln>
        </p:spPr>
      </p:sp>
      <p:sp>
        <p:nvSpPr>
          <p:cNvPr id="110" name="Shape 108"/>
          <p:cNvSpPr/>
          <p:nvPr/>
        </p:nvSpPr>
        <p:spPr>
          <a:xfrm>
            <a:off x="10236708" y="2125980"/>
            <a:ext cx="237744" cy="182880"/>
          </a:xfrm>
          <a:prstGeom prst="rect">
            <a:avLst/>
          </a:prstGeom>
          <a:solidFill>
            <a:srgbClr val="111B31"/>
          </a:solidFill>
          <a:ln w="12700">
            <a:solidFill>
              <a:srgbClr val="111B31"/>
            </a:solidFill>
            <a:prstDash val="solid"/>
          </a:ln>
        </p:spPr>
      </p:sp>
      <p:sp>
        <p:nvSpPr>
          <p:cNvPr id="111" name="Shape 109"/>
          <p:cNvSpPr/>
          <p:nvPr/>
        </p:nvSpPr>
        <p:spPr>
          <a:xfrm>
            <a:off x="10506456" y="2125980"/>
            <a:ext cx="237744" cy="182880"/>
          </a:xfrm>
          <a:prstGeom prst="rect">
            <a:avLst/>
          </a:prstGeom>
          <a:solidFill>
            <a:srgbClr val="111B31"/>
          </a:solidFill>
          <a:ln w="12700">
            <a:solidFill>
              <a:srgbClr val="111B31"/>
            </a:solidFill>
            <a:prstDash val="solid"/>
          </a:ln>
        </p:spPr>
      </p:sp>
      <p:sp>
        <p:nvSpPr>
          <p:cNvPr id="112" name="Shape 110"/>
          <p:cNvSpPr/>
          <p:nvPr/>
        </p:nvSpPr>
        <p:spPr>
          <a:xfrm>
            <a:off x="10776204" y="2125980"/>
            <a:ext cx="237744" cy="182880"/>
          </a:xfrm>
          <a:prstGeom prst="rect">
            <a:avLst/>
          </a:prstGeom>
          <a:solidFill>
            <a:srgbClr val="111B31"/>
          </a:solidFill>
          <a:ln w="12700">
            <a:solidFill>
              <a:srgbClr val="111B31"/>
            </a:solidFill>
            <a:prstDash val="solid"/>
          </a:ln>
        </p:spPr>
      </p:sp>
      <p:sp>
        <p:nvSpPr>
          <p:cNvPr id="113" name="Shape 111"/>
          <p:cNvSpPr/>
          <p:nvPr/>
        </p:nvSpPr>
        <p:spPr>
          <a:xfrm>
            <a:off x="11045952" y="2125980"/>
            <a:ext cx="237744" cy="182880"/>
          </a:xfrm>
          <a:prstGeom prst="rect">
            <a:avLst/>
          </a:prstGeom>
          <a:solidFill>
            <a:srgbClr val="5B8DEF">
              <a:alpha val="38000"/>
            </a:srgbClr>
          </a:solidFill>
          <a:ln w="12700">
            <a:solidFill>
              <a:srgbClr val="5B8DEF"/>
            </a:solidFill>
            <a:prstDash val="solid"/>
          </a:ln>
        </p:spPr>
      </p:sp>
      <p:sp>
        <p:nvSpPr>
          <p:cNvPr id="114" name="Shape 112"/>
          <p:cNvSpPr/>
          <p:nvPr/>
        </p:nvSpPr>
        <p:spPr>
          <a:xfrm>
            <a:off x="11315700" y="2125980"/>
            <a:ext cx="237744" cy="182880"/>
          </a:xfrm>
          <a:prstGeom prst="rect">
            <a:avLst/>
          </a:prstGeom>
          <a:solidFill>
            <a:srgbClr val="111B31"/>
          </a:solidFill>
          <a:ln w="12700">
            <a:solidFill>
              <a:srgbClr val="111B31"/>
            </a:solidFill>
            <a:prstDash val="solid"/>
          </a:ln>
        </p:spPr>
      </p:sp>
      <p:sp>
        <p:nvSpPr>
          <p:cNvPr id="115" name="Shape 113"/>
          <p:cNvSpPr/>
          <p:nvPr/>
        </p:nvSpPr>
        <p:spPr>
          <a:xfrm>
            <a:off x="7269480" y="2340864"/>
            <a:ext cx="237744" cy="182880"/>
          </a:xfrm>
          <a:prstGeom prst="rect">
            <a:avLst/>
          </a:prstGeom>
          <a:solidFill>
            <a:srgbClr val="5B8DEF">
              <a:alpha val="38000"/>
            </a:srgbClr>
          </a:solidFill>
          <a:ln w="12700">
            <a:solidFill>
              <a:srgbClr val="5B8DEF"/>
            </a:solidFill>
            <a:prstDash val="solid"/>
          </a:ln>
        </p:spPr>
      </p:sp>
      <p:sp>
        <p:nvSpPr>
          <p:cNvPr id="116" name="Shape 114"/>
          <p:cNvSpPr/>
          <p:nvPr/>
        </p:nvSpPr>
        <p:spPr>
          <a:xfrm>
            <a:off x="7539228" y="2340864"/>
            <a:ext cx="237744" cy="182880"/>
          </a:xfrm>
          <a:prstGeom prst="rect">
            <a:avLst/>
          </a:prstGeom>
          <a:solidFill>
            <a:srgbClr val="111B31"/>
          </a:solidFill>
          <a:ln w="12700">
            <a:solidFill>
              <a:srgbClr val="111B31"/>
            </a:solidFill>
            <a:prstDash val="solid"/>
          </a:ln>
        </p:spPr>
      </p:sp>
      <p:sp>
        <p:nvSpPr>
          <p:cNvPr id="117" name="Shape 115"/>
          <p:cNvSpPr/>
          <p:nvPr/>
        </p:nvSpPr>
        <p:spPr>
          <a:xfrm>
            <a:off x="7808976" y="2340864"/>
            <a:ext cx="237744" cy="182880"/>
          </a:xfrm>
          <a:prstGeom prst="rect">
            <a:avLst/>
          </a:prstGeom>
          <a:solidFill>
            <a:srgbClr val="111B31"/>
          </a:solidFill>
          <a:ln w="12700">
            <a:solidFill>
              <a:srgbClr val="111B31"/>
            </a:solidFill>
            <a:prstDash val="solid"/>
          </a:ln>
        </p:spPr>
      </p:sp>
      <p:sp>
        <p:nvSpPr>
          <p:cNvPr id="118" name="Shape 116"/>
          <p:cNvSpPr/>
          <p:nvPr/>
        </p:nvSpPr>
        <p:spPr>
          <a:xfrm>
            <a:off x="8078724" y="2340864"/>
            <a:ext cx="237744" cy="182880"/>
          </a:xfrm>
          <a:prstGeom prst="rect">
            <a:avLst/>
          </a:prstGeom>
          <a:solidFill>
            <a:srgbClr val="111B31"/>
          </a:solidFill>
          <a:ln w="12700">
            <a:solidFill>
              <a:srgbClr val="111B31"/>
            </a:solidFill>
            <a:prstDash val="solid"/>
          </a:ln>
        </p:spPr>
      </p:sp>
      <p:sp>
        <p:nvSpPr>
          <p:cNvPr id="119" name="Shape 117"/>
          <p:cNvSpPr/>
          <p:nvPr/>
        </p:nvSpPr>
        <p:spPr>
          <a:xfrm>
            <a:off x="8348472" y="2340864"/>
            <a:ext cx="237744" cy="182880"/>
          </a:xfrm>
          <a:prstGeom prst="rect">
            <a:avLst/>
          </a:prstGeom>
          <a:solidFill>
            <a:srgbClr val="111B31"/>
          </a:solidFill>
          <a:ln w="12700">
            <a:solidFill>
              <a:srgbClr val="111B31"/>
            </a:solidFill>
            <a:prstDash val="solid"/>
          </a:ln>
        </p:spPr>
      </p:sp>
      <p:sp>
        <p:nvSpPr>
          <p:cNvPr id="120" name="Shape 118"/>
          <p:cNvSpPr/>
          <p:nvPr/>
        </p:nvSpPr>
        <p:spPr>
          <a:xfrm>
            <a:off x="8618220" y="2340864"/>
            <a:ext cx="237744" cy="182880"/>
          </a:xfrm>
          <a:prstGeom prst="rect">
            <a:avLst/>
          </a:prstGeom>
          <a:solidFill>
            <a:srgbClr val="111B31"/>
          </a:solidFill>
          <a:ln w="12700">
            <a:solidFill>
              <a:srgbClr val="111B31"/>
            </a:solidFill>
            <a:prstDash val="solid"/>
          </a:ln>
        </p:spPr>
      </p:sp>
      <p:sp>
        <p:nvSpPr>
          <p:cNvPr id="121" name="Shape 119"/>
          <p:cNvSpPr/>
          <p:nvPr/>
        </p:nvSpPr>
        <p:spPr>
          <a:xfrm>
            <a:off x="8887968" y="2340864"/>
            <a:ext cx="237744" cy="182880"/>
          </a:xfrm>
          <a:prstGeom prst="rect">
            <a:avLst/>
          </a:prstGeom>
          <a:solidFill>
            <a:srgbClr val="FFB020"/>
          </a:solidFill>
          <a:ln w="12700">
            <a:solidFill>
              <a:srgbClr val="FFB020"/>
            </a:solidFill>
            <a:prstDash val="solid"/>
          </a:ln>
        </p:spPr>
      </p:sp>
      <p:sp>
        <p:nvSpPr>
          <p:cNvPr id="122" name="Shape 120"/>
          <p:cNvSpPr/>
          <p:nvPr/>
        </p:nvSpPr>
        <p:spPr>
          <a:xfrm>
            <a:off x="9157716" y="2340864"/>
            <a:ext cx="237744" cy="182880"/>
          </a:xfrm>
          <a:prstGeom prst="rect">
            <a:avLst/>
          </a:prstGeom>
          <a:solidFill>
            <a:srgbClr val="111B31"/>
          </a:solidFill>
          <a:ln w="12700">
            <a:solidFill>
              <a:srgbClr val="111B31"/>
            </a:solidFill>
            <a:prstDash val="solid"/>
          </a:ln>
        </p:spPr>
      </p:sp>
      <p:sp>
        <p:nvSpPr>
          <p:cNvPr id="123" name="Shape 121"/>
          <p:cNvSpPr/>
          <p:nvPr/>
        </p:nvSpPr>
        <p:spPr>
          <a:xfrm>
            <a:off x="9427464" y="2340864"/>
            <a:ext cx="237744" cy="182880"/>
          </a:xfrm>
          <a:prstGeom prst="rect">
            <a:avLst/>
          </a:prstGeom>
          <a:solidFill>
            <a:srgbClr val="5B8DEF">
              <a:alpha val="38000"/>
            </a:srgbClr>
          </a:solidFill>
          <a:ln w="12700">
            <a:solidFill>
              <a:srgbClr val="5B8DEF"/>
            </a:solidFill>
            <a:prstDash val="solid"/>
          </a:ln>
        </p:spPr>
      </p:sp>
      <p:sp>
        <p:nvSpPr>
          <p:cNvPr id="124" name="Shape 122"/>
          <p:cNvSpPr/>
          <p:nvPr/>
        </p:nvSpPr>
        <p:spPr>
          <a:xfrm>
            <a:off x="9697212" y="2340864"/>
            <a:ext cx="237744" cy="182880"/>
          </a:xfrm>
          <a:prstGeom prst="rect">
            <a:avLst/>
          </a:prstGeom>
          <a:solidFill>
            <a:srgbClr val="3A4E7A"/>
          </a:solidFill>
          <a:ln w="12700">
            <a:solidFill>
              <a:srgbClr val="3A4E7A"/>
            </a:solidFill>
            <a:prstDash val="solid"/>
          </a:ln>
        </p:spPr>
      </p:sp>
      <p:sp>
        <p:nvSpPr>
          <p:cNvPr id="125" name="Shape 123"/>
          <p:cNvSpPr/>
          <p:nvPr/>
        </p:nvSpPr>
        <p:spPr>
          <a:xfrm>
            <a:off x="9966960" y="2340864"/>
            <a:ext cx="237744" cy="182880"/>
          </a:xfrm>
          <a:prstGeom prst="rect">
            <a:avLst/>
          </a:prstGeom>
          <a:solidFill>
            <a:srgbClr val="111B31"/>
          </a:solidFill>
          <a:ln w="12700">
            <a:solidFill>
              <a:srgbClr val="111B31"/>
            </a:solidFill>
            <a:prstDash val="solid"/>
          </a:ln>
        </p:spPr>
      </p:sp>
      <p:sp>
        <p:nvSpPr>
          <p:cNvPr id="126" name="Shape 124"/>
          <p:cNvSpPr/>
          <p:nvPr/>
        </p:nvSpPr>
        <p:spPr>
          <a:xfrm>
            <a:off x="10236708" y="2340864"/>
            <a:ext cx="237744" cy="182880"/>
          </a:xfrm>
          <a:prstGeom prst="rect">
            <a:avLst/>
          </a:prstGeom>
          <a:solidFill>
            <a:srgbClr val="111B31"/>
          </a:solidFill>
          <a:ln w="12700">
            <a:solidFill>
              <a:srgbClr val="111B31"/>
            </a:solidFill>
            <a:prstDash val="solid"/>
          </a:ln>
        </p:spPr>
      </p:sp>
      <p:sp>
        <p:nvSpPr>
          <p:cNvPr id="127" name="Shape 125"/>
          <p:cNvSpPr/>
          <p:nvPr/>
        </p:nvSpPr>
        <p:spPr>
          <a:xfrm>
            <a:off x="10506456" y="2340864"/>
            <a:ext cx="237744" cy="182880"/>
          </a:xfrm>
          <a:prstGeom prst="rect">
            <a:avLst/>
          </a:prstGeom>
          <a:solidFill>
            <a:srgbClr val="5B8DEF">
              <a:alpha val="38000"/>
            </a:srgbClr>
          </a:solidFill>
          <a:ln w="12700">
            <a:solidFill>
              <a:srgbClr val="5B8DEF"/>
            </a:solidFill>
            <a:prstDash val="solid"/>
          </a:ln>
        </p:spPr>
      </p:sp>
      <p:sp>
        <p:nvSpPr>
          <p:cNvPr id="128" name="Shape 126"/>
          <p:cNvSpPr/>
          <p:nvPr/>
        </p:nvSpPr>
        <p:spPr>
          <a:xfrm>
            <a:off x="10776204" y="2340864"/>
            <a:ext cx="237744" cy="182880"/>
          </a:xfrm>
          <a:prstGeom prst="rect">
            <a:avLst/>
          </a:prstGeom>
          <a:solidFill>
            <a:srgbClr val="111B31"/>
          </a:solidFill>
          <a:ln w="12700">
            <a:solidFill>
              <a:srgbClr val="111B31"/>
            </a:solidFill>
            <a:prstDash val="solid"/>
          </a:ln>
        </p:spPr>
      </p:sp>
      <p:sp>
        <p:nvSpPr>
          <p:cNvPr id="129" name="Shape 127"/>
          <p:cNvSpPr/>
          <p:nvPr/>
        </p:nvSpPr>
        <p:spPr>
          <a:xfrm>
            <a:off x="11045952" y="2340864"/>
            <a:ext cx="237744" cy="182880"/>
          </a:xfrm>
          <a:prstGeom prst="rect">
            <a:avLst/>
          </a:prstGeom>
          <a:solidFill>
            <a:srgbClr val="111B31"/>
          </a:solidFill>
          <a:ln w="12700">
            <a:solidFill>
              <a:srgbClr val="111B31"/>
            </a:solidFill>
            <a:prstDash val="solid"/>
          </a:ln>
        </p:spPr>
      </p:sp>
      <p:sp>
        <p:nvSpPr>
          <p:cNvPr id="130" name="Shape 128"/>
          <p:cNvSpPr/>
          <p:nvPr/>
        </p:nvSpPr>
        <p:spPr>
          <a:xfrm>
            <a:off x="11315700" y="2340864"/>
            <a:ext cx="237744" cy="182880"/>
          </a:xfrm>
          <a:prstGeom prst="rect">
            <a:avLst/>
          </a:prstGeom>
          <a:solidFill>
            <a:srgbClr val="111B31"/>
          </a:solidFill>
          <a:ln w="12700">
            <a:solidFill>
              <a:srgbClr val="111B31"/>
            </a:solidFill>
            <a:prstDash val="solid"/>
          </a:ln>
        </p:spPr>
      </p:sp>
      <p:sp>
        <p:nvSpPr>
          <p:cNvPr id="131" name="Shape 129"/>
          <p:cNvSpPr/>
          <p:nvPr/>
        </p:nvSpPr>
        <p:spPr>
          <a:xfrm>
            <a:off x="7269480" y="2555748"/>
            <a:ext cx="237744" cy="182880"/>
          </a:xfrm>
          <a:prstGeom prst="rect">
            <a:avLst/>
          </a:prstGeom>
          <a:solidFill>
            <a:srgbClr val="111B31"/>
          </a:solidFill>
          <a:ln w="12700">
            <a:solidFill>
              <a:srgbClr val="111B31"/>
            </a:solidFill>
            <a:prstDash val="solid"/>
          </a:ln>
        </p:spPr>
      </p:sp>
      <p:sp>
        <p:nvSpPr>
          <p:cNvPr id="132" name="Shape 130"/>
          <p:cNvSpPr/>
          <p:nvPr/>
        </p:nvSpPr>
        <p:spPr>
          <a:xfrm>
            <a:off x="7539228" y="2555748"/>
            <a:ext cx="237744" cy="182880"/>
          </a:xfrm>
          <a:prstGeom prst="rect">
            <a:avLst/>
          </a:prstGeom>
          <a:solidFill>
            <a:srgbClr val="111B31"/>
          </a:solidFill>
          <a:ln w="12700">
            <a:solidFill>
              <a:srgbClr val="111B31"/>
            </a:solidFill>
            <a:prstDash val="solid"/>
          </a:ln>
        </p:spPr>
      </p:sp>
      <p:sp>
        <p:nvSpPr>
          <p:cNvPr id="133" name="Shape 131"/>
          <p:cNvSpPr/>
          <p:nvPr/>
        </p:nvSpPr>
        <p:spPr>
          <a:xfrm>
            <a:off x="7808976" y="2555748"/>
            <a:ext cx="237744" cy="182880"/>
          </a:xfrm>
          <a:prstGeom prst="rect">
            <a:avLst/>
          </a:prstGeom>
          <a:solidFill>
            <a:srgbClr val="FFB020"/>
          </a:solidFill>
          <a:ln w="12700">
            <a:solidFill>
              <a:srgbClr val="FFB020"/>
            </a:solidFill>
            <a:prstDash val="solid"/>
          </a:ln>
        </p:spPr>
      </p:sp>
      <p:sp>
        <p:nvSpPr>
          <p:cNvPr id="134" name="Shape 132"/>
          <p:cNvSpPr/>
          <p:nvPr/>
        </p:nvSpPr>
        <p:spPr>
          <a:xfrm>
            <a:off x="8078724" y="2555748"/>
            <a:ext cx="237744" cy="182880"/>
          </a:xfrm>
          <a:prstGeom prst="rect">
            <a:avLst/>
          </a:prstGeom>
          <a:solidFill>
            <a:srgbClr val="111B31"/>
          </a:solidFill>
          <a:ln w="12700">
            <a:solidFill>
              <a:srgbClr val="111B31"/>
            </a:solidFill>
            <a:prstDash val="solid"/>
          </a:ln>
        </p:spPr>
      </p:sp>
      <p:sp>
        <p:nvSpPr>
          <p:cNvPr id="135" name="Shape 133"/>
          <p:cNvSpPr/>
          <p:nvPr/>
        </p:nvSpPr>
        <p:spPr>
          <a:xfrm>
            <a:off x="8348472" y="2555748"/>
            <a:ext cx="237744" cy="182880"/>
          </a:xfrm>
          <a:prstGeom prst="rect">
            <a:avLst/>
          </a:prstGeom>
          <a:solidFill>
            <a:srgbClr val="111B31"/>
          </a:solidFill>
          <a:ln w="12700">
            <a:solidFill>
              <a:srgbClr val="111B31"/>
            </a:solidFill>
            <a:prstDash val="solid"/>
          </a:ln>
        </p:spPr>
      </p:sp>
      <p:sp>
        <p:nvSpPr>
          <p:cNvPr id="136" name="Shape 134"/>
          <p:cNvSpPr/>
          <p:nvPr/>
        </p:nvSpPr>
        <p:spPr>
          <a:xfrm>
            <a:off x="8618220" y="2555748"/>
            <a:ext cx="237744" cy="182880"/>
          </a:xfrm>
          <a:prstGeom prst="rect">
            <a:avLst/>
          </a:prstGeom>
          <a:solidFill>
            <a:srgbClr val="111B31"/>
          </a:solidFill>
          <a:ln w="12700">
            <a:solidFill>
              <a:srgbClr val="111B31"/>
            </a:solidFill>
            <a:prstDash val="solid"/>
          </a:ln>
        </p:spPr>
      </p:sp>
      <p:sp>
        <p:nvSpPr>
          <p:cNvPr id="137" name="Shape 135"/>
          <p:cNvSpPr/>
          <p:nvPr/>
        </p:nvSpPr>
        <p:spPr>
          <a:xfrm>
            <a:off x="8887968" y="2555748"/>
            <a:ext cx="237744" cy="182880"/>
          </a:xfrm>
          <a:prstGeom prst="rect">
            <a:avLst/>
          </a:prstGeom>
          <a:solidFill>
            <a:srgbClr val="111B31"/>
          </a:solidFill>
          <a:ln w="12700">
            <a:solidFill>
              <a:srgbClr val="111B31"/>
            </a:solidFill>
            <a:prstDash val="solid"/>
          </a:ln>
        </p:spPr>
      </p:sp>
      <p:sp>
        <p:nvSpPr>
          <p:cNvPr id="138" name="Shape 136"/>
          <p:cNvSpPr/>
          <p:nvPr/>
        </p:nvSpPr>
        <p:spPr>
          <a:xfrm>
            <a:off x="9157716" y="2555748"/>
            <a:ext cx="237744" cy="182880"/>
          </a:xfrm>
          <a:prstGeom prst="rect">
            <a:avLst/>
          </a:prstGeom>
          <a:solidFill>
            <a:srgbClr val="5B8DEF">
              <a:alpha val="38000"/>
            </a:srgbClr>
          </a:solidFill>
          <a:ln w="12700">
            <a:solidFill>
              <a:srgbClr val="5B8DEF"/>
            </a:solidFill>
            <a:prstDash val="solid"/>
          </a:ln>
        </p:spPr>
      </p:sp>
      <p:sp>
        <p:nvSpPr>
          <p:cNvPr id="139" name="Shape 137"/>
          <p:cNvSpPr/>
          <p:nvPr/>
        </p:nvSpPr>
        <p:spPr>
          <a:xfrm>
            <a:off x="9427464" y="2555748"/>
            <a:ext cx="237744" cy="182880"/>
          </a:xfrm>
          <a:prstGeom prst="rect">
            <a:avLst/>
          </a:prstGeom>
          <a:solidFill>
            <a:srgbClr val="111B31"/>
          </a:solidFill>
          <a:ln w="12700">
            <a:solidFill>
              <a:srgbClr val="111B31"/>
            </a:solidFill>
            <a:prstDash val="solid"/>
          </a:ln>
        </p:spPr>
      </p:sp>
      <p:sp>
        <p:nvSpPr>
          <p:cNvPr id="140" name="Shape 138"/>
          <p:cNvSpPr/>
          <p:nvPr/>
        </p:nvSpPr>
        <p:spPr>
          <a:xfrm>
            <a:off x="9697212" y="2555748"/>
            <a:ext cx="237744" cy="182880"/>
          </a:xfrm>
          <a:prstGeom prst="rect">
            <a:avLst/>
          </a:prstGeom>
          <a:solidFill>
            <a:srgbClr val="5B8DEF">
              <a:alpha val="38000"/>
            </a:srgbClr>
          </a:solidFill>
          <a:ln w="12700">
            <a:solidFill>
              <a:srgbClr val="5B8DEF"/>
            </a:solidFill>
            <a:prstDash val="solid"/>
          </a:ln>
        </p:spPr>
      </p:sp>
      <p:sp>
        <p:nvSpPr>
          <p:cNvPr id="141" name="Shape 139"/>
          <p:cNvSpPr/>
          <p:nvPr/>
        </p:nvSpPr>
        <p:spPr>
          <a:xfrm>
            <a:off x="9966960" y="2555748"/>
            <a:ext cx="237744" cy="182880"/>
          </a:xfrm>
          <a:prstGeom prst="rect">
            <a:avLst/>
          </a:prstGeom>
          <a:solidFill>
            <a:srgbClr val="3A4E7A"/>
          </a:solidFill>
          <a:ln w="12700">
            <a:solidFill>
              <a:srgbClr val="3A4E7A"/>
            </a:solidFill>
            <a:prstDash val="solid"/>
          </a:ln>
        </p:spPr>
      </p:sp>
      <p:sp>
        <p:nvSpPr>
          <p:cNvPr id="142" name="Shape 140"/>
          <p:cNvSpPr/>
          <p:nvPr/>
        </p:nvSpPr>
        <p:spPr>
          <a:xfrm>
            <a:off x="10236708" y="2555748"/>
            <a:ext cx="237744" cy="182880"/>
          </a:xfrm>
          <a:prstGeom prst="rect">
            <a:avLst/>
          </a:prstGeom>
          <a:solidFill>
            <a:srgbClr val="5B8DEF">
              <a:alpha val="38000"/>
            </a:srgbClr>
          </a:solidFill>
          <a:ln w="12700">
            <a:solidFill>
              <a:srgbClr val="5B8DEF"/>
            </a:solidFill>
            <a:prstDash val="solid"/>
          </a:ln>
        </p:spPr>
      </p:sp>
      <p:sp>
        <p:nvSpPr>
          <p:cNvPr id="143" name="Shape 141"/>
          <p:cNvSpPr/>
          <p:nvPr/>
        </p:nvSpPr>
        <p:spPr>
          <a:xfrm>
            <a:off x="10506456" y="2555748"/>
            <a:ext cx="237744" cy="182880"/>
          </a:xfrm>
          <a:prstGeom prst="rect">
            <a:avLst/>
          </a:prstGeom>
          <a:solidFill>
            <a:srgbClr val="111B31"/>
          </a:solidFill>
          <a:ln w="12700">
            <a:solidFill>
              <a:srgbClr val="111B31"/>
            </a:solidFill>
            <a:prstDash val="solid"/>
          </a:ln>
        </p:spPr>
      </p:sp>
      <p:sp>
        <p:nvSpPr>
          <p:cNvPr id="144" name="Shape 142"/>
          <p:cNvSpPr/>
          <p:nvPr/>
        </p:nvSpPr>
        <p:spPr>
          <a:xfrm>
            <a:off x="10776204" y="2555748"/>
            <a:ext cx="237744" cy="182880"/>
          </a:xfrm>
          <a:prstGeom prst="rect">
            <a:avLst/>
          </a:prstGeom>
          <a:solidFill>
            <a:srgbClr val="111B31"/>
          </a:solidFill>
          <a:ln w="12700">
            <a:solidFill>
              <a:srgbClr val="111B31"/>
            </a:solidFill>
            <a:prstDash val="solid"/>
          </a:ln>
        </p:spPr>
      </p:sp>
      <p:sp>
        <p:nvSpPr>
          <p:cNvPr id="145" name="Shape 143"/>
          <p:cNvSpPr/>
          <p:nvPr/>
        </p:nvSpPr>
        <p:spPr>
          <a:xfrm>
            <a:off x="11045952" y="2555748"/>
            <a:ext cx="237744" cy="182880"/>
          </a:xfrm>
          <a:prstGeom prst="rect">
            <a:avLst/>
          </a:prstGeom>
          <a:solidFill>
            <a:srgbClr val="111B31"/>
          </a:solidFill>
          <a:ln w="12700">
            <a:solidFill>
              <a:srgbClr val="111B31"/>
            </a:solidFill>
            <a:prstDash val="solid"/>
          </a:ln>
        </p:spPr>
      </p:sp>
      <p:sp>
        <p:nvSpPr>
          <p:cNvPr id="146" name="Shape 144"/>
          <p:cNvSpPr/>
          <p:nvPr/>
        </p:nvSpPr>
        <p:spPr>
          <a:xfrm>
            <a:off x="11315700" y="2555748"/>
            <a:ext cx="237744" cy="182880"/>
          </a:xfrm>
          <a:prstGeom prst="rect">
            <a:avLst/>
          </a:prstGeom>
          <a:solidFill>
            <a:srgbClr val="5B8DEF">
              <a:alpha val="38000"/>
            </a:srgbClr>
          </a:solidFill>
          <a:ln w="12700">
            <a:solidFill>
              <a:srgbClr val="5B8DEF"/>
            </a:solidFill>
            <a:prstDash val="solid"/>
          </a:ln>
        </p:spPr>
      </p:sp>
      <p:sp>
        <p:nvSpPr>
          <p:cNvPr id="147" name="Shape 145"/>
          <p:cNvSpPr/>
          <p:nvPr/>
        </p:nvSpPr>
        <p:spPr>
          <a:xfrm>
            <a:off x="7269480" y="2770632"/>
            <a:ext cx="237744" cy="182880"/>
          </a:xfrm>
          <a:prstGeom prst="rect">
            <a:avLst/>
          </a:prstGeom>
          <a:solidFill>
            <a:srgbClr val="111B31"/>
          </a:solidFill>
          <a:ln w="12700">
            <a:solidFill>
              <a:srgbClr val="111B31"/>
            </a:solidFill>
            <a:prstDash val="solid"/>
          </a:ln>
        </p:spPr>
      </p:sp>
      <p:sp>
        <p:nvSpPr>
          <p:cNvPr id="148" name="Shape 146"/>
          <p:cNvSpPr/>
          <p:nvPr/>
        </p:nvSpPr>
        <p:spPr>
          <a:xfrm>
            <a:off x="7539228" y="2770632"/>
            <a:ext cx="237744" cy="182880"/>
          </a:xfrm>
          <a:prstGeom prst="rect">
            <a:avLst/>
          </a:prstGeom>
          <a:solidFill>
            <a:srgbClr val="5B8DEF">
              <a:alpha val="38000"/>
            </a:srgbClr>
          </a:solidFill>
          <a:ln w="12700">
            <a:solidFill>
              <a:srgbClr val="5B8DEF"/>
            </a:solidFill>
            <a:prstDash val="solid"/>
          </a:ln>
        </p:spPr>
      </p:sp>
      <p:sp>
        <p:nvSpPr>
          <p:cNvPr id="149" name="Shape 147"/>
          <p:cNvSpPr/>
          <p:nvPr/>
        </p:nvSpPr>
        <p:spPr>
          <a:xfrm>
            <a:off x="7808976" y="2770632"/>
            <a:ext cx="237744" cy="182880"/>
          </a:xfrm>
          <a:prstGeom prst="rect">
            <a:avLst/>
          </a:prstGeom>
          <a:solidFill>
            <a:srgbClr val="111B31"/>
          </a:solidFill>
          <a:ln w="12700">
            <a:solidFill>
              <a:srgbClr val="111B31"/>
            </a:solidFill>
            <a:prstDash val="solid"/>
          </a:ln>
        </p:spPr>
      </p:sp>
      <p:sp>
        <p:nvSpPr>
          <p:cNvPr id="150" name="Shape 148"/>
          <p:cNvSpPr/>
          <p:nvPr/>
        </p:nvSpPr>
        <p:spPr>
          <a:xfrm>
            <a:off x="8078724" y="2770632"/>
            <a:ext cx="237744" cy="182880"/>
          </a:xfrm>
          <a:prstGeom prst="rect">
            <a:avLst/>
          </a:prstGeom>
          <a:solidFill>
            <a:srgbClr val="111B31"/>
          </a:solidFill>
          <a:ln w="12700">
            <a:solidFill>
              <a:srgbClr val="111B31"/>
            </a:solidFill>
            <a:prstDash val="solid"/>
          </a:ln>
        </p:spPr>
      </p:sp>
      <p:sp>
        <p:nvSpPr>
          <p:cNvPr id="151" name="Shape 149"/>
          <p:cNvSpPr/>
          <p:nvPr/>
        </p:nvSpPr>
        <p:spPr>
          <a:xfrm>
            <a:off x="8348472" y="2770632"/>
            <a:ext cx="237744" cy="182880"/>
          </a:xfrm>
          <a:prstGeom prst="rect">
            <a:avLst/>
          </a:prstGeom>
          <a:solidFill>
            <a:srgbClr val="5B8DEF">
              <a:alpha val="38000"/>
            </a:srgbClr>
          </a:solidFill>
          <a:ln w="12700">
            <a:solidFill>
              <a:srgbClr val="5B8DEF"/>
            </a:solidFill>
            <a:prstDash val="solid"/>
          </a:ln>
        </p:spPr>
      </p:sp>
      <p:sp>
        <p:nvSpPr>
          <p:cNvPr id="152" name="Shape 150"/>
          <p:cNvSpPr/>
          <p:nvPr/>
        </p:nvSpPr>
        <p:spPr>
          <a:xfrm>
            <a:off x="8618220" y="2770632"/>
            <a:ext cx="237744" cy="182880"/>
          </a:xfrm>
          <a:prstGeom prst="rect">
            <a:avLst/>
          </a:prstGeom>
          <a:solidFill>
            <a:srgbClr val="111B31"/>
          </a:solidFill>
          <a:ln w="12700">
            <a:solidFill>
              <a:srgbClr val="111B31"/>
            </a:solidFill>
            <a:prstDash val="solid"/>
          </a:ln>
        </p:spPr>
      </p:sp>
      <p:sp>
        <p:nvSpPr>
          <p:cNvPr id="153" name="Shape 151"/>
          <p:cNvSpPr/>
          <p:nvPr/>
        </p:nvSpPr>
        <p:spPr>
          <a:xfrm>
            <a:off x="8887968" y="2770632"/>
            <a:ext cx="237744" cy="182880"/>
          </a:xfrm>
          <a:prstGeom prst="rect">
            <a:avLst/>
          </a:prstGeom>
          <a:solidFill>
            <a:srgbClr val="111B31"/>
          </a:solidFill>
          <a:ln w="12700">
            <a:solidFill>
              <a:srgbClr val="111B31"/>
            </a:solidFill>
            <a:prstDash val="solid"/>
          </a:ln>
        </p:spPr>
      </p:sp>
      <p:sp>
        <p:nvSpPr>
          <p:cNvPr id="154" name="Shape 152"/>
          <p:cNvSpPr/>
          <p:nvPr/>
        </p:nvSpPr>
        <p:spPr>
          <a:xfrm>
            <a:off x="9157716" y="2770632"/>
            <a:ext cx="237744" cy="182880"/>
          </a:xfrm>
          <a:prstGeom prst="rect">
            <a:avLst/>
          </a:prstGeom>
          <a:solidFill>
            <a:srgbClr val="111B31"/>
          </a:solidFill>
          <a:ln w="12700">
            <a:solidFill>
              <a:srgbClr val="111B31"/>
            </a:solidFill>
            <a:prstDash val="solid"/>
          </a:ln>
        </p:spPr>
      </p:sp>
      <p:sp>
        <p:nvSpPr>
          <p:cNvPr id="155" name="Shape 153"/>
          <p:cNvSpPr/>
          <p:nvPr/>
        </p:nvSpPr>
        <p:spPr>
          <a:xfrm>
            <a:off x="9427464" y="2770632"/>
            <a:ext cx="237744" cy="182880"/>
          </a:xfrm>
          <a:prstGeom prst="rect">
            <a:avLst/>
          </a:prstGeom>
          <a:solidFill>
            <a:srgbClr val="111B31"/>
          </a:solidFill>
          <a:ln w="12700">
            <a:solidFill>
              <a:srgbClr val="111B31"/>
            </a:solidFill>
            <a:prstDash val="solid"/>
          </a:ln>
        </p:spPr>
      </p:sp>
      <p:sp>
        <p:nvSpPr>
          <p:cNvPr id="156" name="Shape 154"/>
          <p:cNvSpPr/>
          <p:nvPr/>
        </p:nvSpPr>
        <p:spPr>
          <a:xfrm>
            <a:off x="9697212" y="2770632"/>
            <a:ext cx="237744" cy="182880"/>
          </a:xfrm>
          <a:prstGeom prst="rect">
            <a:avLst/>
          </a:prstGeom>
          <a:solidFill>
            <a:srgbClr val="5B8DEF">
              <a:alpha val="38000"/>
            </a:srgbClr>
          </a:solidFill>
          <a:ln w="12700">
            <a:solidFill>
              <a:srgbClr val="5B8DEF"/>
            </a:solidFill>
            <a:prstDash val="solid"/>
          </a:ln>
        </p:spPr>
      </p:sp>
      <p:sp>
        <p:nvSpPr>
          <p:cNvPr id="157" name="Shape 155"/>
          <p:cNvSpPr/>
          <p:nvPr/>
        </p:nvSpPr>
        <p:spPr>
          <a:xfrm>
            <a:off x="9966960" y="2770632"/>
            <a:ext cx="237744" cy="182880"/>
          </a:xfrm>
          <a:prstGeom prst="rect">
            <a:avLst/>
          </a:prstGeom>
          <a:solidFill>
            <a:srgbClr val="111B31"/>
          </a:solidFill>
          <a:ln w="12700">
            <a:solidFill>
              <a:srgbClr val="111B31"/>
            </a:solidFill>
            <a:prstDash val="solid"/>
          </a:ln>
        </p:spPr>
      </p:sp>
      <p:sp>
        <p:nvSpPr>
          <p:cNvPr id="158" name="Shape 156"/>
          <p:cNvSpPr/>
          <p:nvPr/>
        </p:nvSpPr>
        <p:spPr>
          <a:xfrm>
            <a:off x="10236708" y="2770632"/>
            <a:ext cx="237744" cy="182880"/>
          </a:xfrm>
          <a:prstGeom prst="rect">
            <a:avLst/>
          </a:prstGeom>
          <a:solidFill>
            <a:srgbClr val="111B31"/>
          </a:solidFill>
          <a:ln w="12700">
            <a:solidFill>
              <a:srgbClr val="111B31"/>
            </a:solidFill>
            <a:prstDash val="solid"/>
          </a:ln>
        </p:spPr>
      </p:sp>
      <p:sp>
        <p:nvSpPr>
          <p:cNvPr id="159" name="Shape 157"/>
          <p:cNvSpPr/>
          <p:nvPr/>
        </p:nvSpPr>
        <p:spPr>
          <a:xfrm>
            <a:off x="10506456" y="2770632"/>
            <a:ext cx="237744" cy="182880"/>
          </a:xfrm>
          <a:prstGeom prst="rect">
            <a:avLst/>
          </a:prstGeom>
          <a:solidFill>
            <a:srgbClr val="111B31"/>
          </a:solidFill>
          <a:ln w="12700">
            <a:solidFill>
              <a:srgbClr val="111B31"/>
            </a:solidFill>
            <a:prstDash val="solid"/>
          </a:ln>
        </p:spPr>
      </p:sp>
      <p:sp>
        <p:nvSpPr>
          <p:cNvPr id="160" name="Shape 158"/>
          <p:cNvSpPr/>
          <p:nvPr/>
        </p:nvSpPr>
        <p:spPr>
          <a:xfrm>
            <a:off x="10776204" y="2770632"/>
            <a:ext cx="237744" cy="182880"/>
          </a:xfrm>
          <a:prstGeom prst="rect">
            <a:avLst/>
          </a:prstGeom>
          <a:solidFill>
            <a:srgbClr val="5B8DEF">
              <a:alpha val="38000"/>
            </a:srgbClr>
          </a:solidFill>
          <a:ln w="12700">
            <a:solidFill>
              <a:srgbClr val="5B8DEF"/>
            </a:solidFill>
            <a:prstDash val="solid"/>
          </a:ln>
        </p:spPr>
      </p:sp>
      <p:sp>
        <p:nvSpPr>
          <p:cNvPr id="161" name="Shape 159"/>
          <p:cNvSpPr/>
          <p:nvPr/>
        </p:nvSpPr>
        <p:spPr>
          <a:xfrm>
            <a:off x="11045952" y="2770632"/>
            <a:ext cx="237744" cy="182880"/>
          </a:xfrm>
          <a:prstGeom prst="rect">
            <a:avLst/>
          </a:prstGeom>
          <a:solidFill>
            <a:srgbClr val="FFB020"/>
          </a:solidFill>
          <a:ln w="12700">
            <a:solidFill>
              <a:srgbClr val="FFB020"/>
            </a:solidFill>
            <a:prstDash val="solid"/>
          </a:ln>
        </p:spPr>
      </p:sp>
      <p:sp>
        <p:nvSpPr>
          <p:cNvPr id="162" name="Shape 160"/>
          <p:cNvSpPr/>
          <p:nvPr/>
        </p:nvSpPr>
        <p:spPr>
          <a:xfrm>
            <a:off x="11315700" y="2770632"/>
            <a:ext cx="237744" cy="182880"/>
          </a:xfrm>
          <a:prstGeom prst="rect">
            <a:avLst/>
          </a:prstGeom>
          <a:solidFill>
            <a:srgbClr val="3A4E7A"/>
          </a:solidFill>
          <a:ln w="12700">
            <a:solidFill>
              <a:srgbClr val="3A4E7A"/>
            </a:solidFill>
            <a:prstDash val="solid"/>
          </a:ln>
        </p:spPr>
      </p:sp>
      <p:sp>
        <p:nvSpPr>
          <p:cNvPr id="163" name="Shape 161"/>
          <p:cNvSpPr/>
          <p:nvPr/>
        </p:nvSpPr>
        <p:spPr>
          <a:xfrm>
            <a:off x="7269480" y="2985516"/>
            <a:ext cx="237744" cy="182880"/>
          </a:xfrm>
          <a:prstGeom prst="rect">
            <a:avLst/>
          </a:prstGeom>
          <a:solidFill>
            <a:srgbClr val="5B8DEF">
              <a:alpha val="38000"/>
            </a:srgbClr>
          </a:solidFill>
          <a:ln w="12700">
            <a:solidFill>
              <a:srgbClr val="5B8DEF"/>
            </a:solidFill>
            <a:prstDash val="solid"/>
          </a:ln>
        </p:spPr>
      </p:sp>
      <p:sp>
        <p:nvSpPr>
          <p:cNvPr id="164" name="Shape 162"/>
          <p:cNvSpPr/>
          <p:nvPr/>
        </p:nvSpPr>
        <p:spPr>
          <a:xfrm>
            <a:off x="7539228" y="2985516"/>
            <a:ext cx="237744" cy="182880"/>
          </a:xfrm>
          <a:prstGeom prst="rect">
            <a:avLst/>
          </a:prstGeom>
          <a:solidFill>
            <a:srgbClr val="111B31"/>
          </a:solidFill>
          <a:ln w="12700">
            <a:solidFill>
              <a:srgbClr val="111B31"/>
            </a:solidFill>
            <a:prstDash val="solid"/>
          </a:ln>
        </p:spPr>
      </p:sp>
      <p:sp>
        <p:nvSpPr>
          <p:cNvPr id="165" name="Shape 163"/>
          <p:cNvSpPr/>
          <p:nvPr/>
        </p:nvSpPr>
        <p:spPr>
          <a:xfrm>
            <a:off x="7808976" y="2985516"/>
            <a:ext cx="237744" cy="182880"/>
          </a:xfrm>
          <a:prstGeom prst="rect">
            <a:avLst/>
          </a:prstGeom>
          <a:solidFill>
            <a:srgbClr val="111B31"/>
          </a:solidFill>
          <a:ln w="12700">
            <a:solidFill>
              <a:srgbClr val="111B31"/>
            </a:solidFill>
            <a:prstDash val="solid"/>
          </a:ln>
        </p:spPr>
      </p:sp>
      <p:sp>
        <p:nvSpPr>
          <p:cNvPr id="166" name="Shape 164"/>
          <p:cNvSpPr/>
          <p:nvPr/>
        </p:nvSpPr>
        <p:spPr>
          <a:xfrm>
            <a:off x="8078724" y="2985516"/>
            <a:ext cx="237744" cy="182880"/>
          </a:xfrm>
          <a:prstGeom prst="rect">
            <a:avLst/>
          </a:prstGeom>
          <a:solidFill>
            <a:srgbClr val="5B8DEF">
              <a:alpha val="38000"/>
            </a:srgbClr>
          </a:solidFill>
          <a:ln w="12700">
            <a:solidFill>
              <a:srgbClr val="5B8DEF"/>
            </a:solidFill>
            <a:prstDash val="solid"/>
          </a:ln>
        </p:spPr>
      </p:sp>
      <p:sp>
        <p:nvSpPr>
          <p:cNvPr id="167" name="Shape 165"/>
          <p:cNvSpPr/>
          <p:nvPr/>
        </p:nvSpPr>
        <p:spPr>
          <a:xfrm>
            <a:off x="8348472" y="2985516"/>
            <a:ext cx="237744" cy="182880"/>
          </a:xfrm>
          <a:prstGeom prst="rect">
            <a:avLst/>
          </a:prstGeom>
          <a:solidFill>
            <a:srgbClr val="111B31"/>
          </a:solidFill>
          <a:ln w="12700">
            <a:solidFill>
              <a:srgbClr val="111B31"/>
            </a:solidFill>
            <a:prstDash val="solid"/>
          </a:ln>
        </p:spPr>
      </p:sp>
      <p:sp>
        <p:nvSpPr>
          <p:cNvPr id="168" name="Shape 166"/>
          <p:cNvSpPr/>
          <p:nvPr/>
        </p:nvSpPr>
        <p:spPr>
          <a:xfrm>
            <a:off x="8618220" y="2985516"/>
            <a:ext cx="237744" cy="182880"/>
          </a:xfrm>
          <a:prstGeom prst="rect">
            <a:avLst/>
          </a:prstGeom>
          <a:solidFill>
            <a:srgbClr val="111B31"/>
          </a:solidFill>
          <a:ln w="12700">
            <a:solidFill>
              <a:srgbClr val="111B31"/>
            </a:solidFill>
            <a:prstDash val="solid"/>
          </a:ln>
        </p:spPr>
      </p:sp>
      <p:sp>
        <p:nvSpPr>
          <p:cNvPr id="169" name="Shape 167"/>
          <p:cNvSpPr/>
          <p:nvPr/>
        </p:nvSpPr>
        <p:spPr>
          <a:xfrm>
            <a:off x="8887968" y="2985516"/>
            <a:ext cx="237744" cy="182880"/>
          </a:xfrm>
          <a:prstGeom prst="rect">
            <a:avLst/>
          </a:prstGeom>
          <a:solidFill>
            <a:srgbClr val="111B31"/>
          </a:solidFill>
          <a:ln w="12700">
            <a:solidFill>
              <a:srgbClr val="111B31"/>
            </a:solidFill>
            <a:prstDash val="solid"/>
          </a:ln>
        </p:spPr>
      </p:sp>
      <p:sp>
        <p:nvSpPr>
          <p:cNvPr id="170" name="Shape 168"/>
          <p:cNvSpPr/>
          <p:nvPr/>
        </p:nvSpPr>
        <p:spPr>
          <a:xfrm>
            <a:off x="9157716" y="2985516"/>
            <a:ext cx="237744" cy="182880"/>
          </a:xfrm>
          <a:prstGeom prst="rect">
            <a:avLst/>
          </a:prstGeom>
          <a:solidFill>
            <a:srgbClr val="111B31"/>
          </a:solidFill>
          <a:ln w="12700">
            <a:solidFill>
              <a:srgbClr val="111B31"/>
            </a:solidFill>
            <a:prstDash val="solid"/>
          </a:ln>
        </p:spPr>
      </p:sp>
      <p:sp>
        <p:nvSpPr>
          <p:cNvPr id="171" name="Shape 169"/>
          <p:cNvSpPr/>
          <p:nvPr/>
        </p:nvSpPr>
        <p:spPr>
          <a:xfrm>
            <a:off x="9427464" y="2985516"/>
            <a:ext cx="237744" cy="182880"/>
          </a:xfrm>
          <a:prstGeom prst="rect">
            <a:avLst/>
          </a:prstGeom>
          <a:solidFill>
            <a:srgbClr val="5B8DEF">
              <a:alpha val="38000"/>
            </a:srgbClr>
          </a:solidFill>
          <a:ln w="12700">
            <a:solidFill>
              <a:srgbClr val="5B8DEF"/>
            </a:solidFill>
            <a:prstDash val="solid"/>
          </a:ln>
        </p:spPr>
      </p:sp>
      <p:sp>
        <p:nvSpPr>
          <p:cNvPr id="172" name="Shape 170"/>
          <p:cNvSpPr/>
          <p:nvPr/>
        </p:nvSpPr>
        <p:spPr>
          <a:xfrm>
            <a:off x="9697212" y="2985516"/>
            <a:ext cx="237744" cy="182880"/>
          </a:xfrm>
          <a:prstGeom prst="rect">
            <a:avLst/>
          </a:prstGeom>
          <a:solidFill>
            <a:srgbClr val="3A4E7A"/>
          </a:solidFill>
          <a:ln w="12700">
            <a:solidFill>
              <a:srgbClr val="3A4E7A"/>
            </a:solidFill>
            <a:prstDash val="solid"/>
          </a:ln>
        </p:spPr>
      </p:sp>
      <p:sp>
        <p:nvSpPr>
          <p:cNvPr id="173" name="Shape 171"/>
          <p:cNvSpPr/>
          <p:nvPr/>
        </p:nvSpPr>
        <p:spPr>
          <a:xfrm>
            <a:off x="9966960" y="2985516"/>
            <a:ext cx="237744" cy="182880"/>
          </a:xfrm>
          <a:prstGeom prst="rect">
            <a:avLst/>
          </a:prstGeom>
          <a:solidFill>
            <a:srgbClr val="FFB020"/>
          </a:solidFill>
          <a:ln w="12700">
            <a:solidFill>
              <a:srgbClr val="FFB020"/>
            </a:solidFill>
            <a:prstDash val="solid"/>
          </a:ln>
        </p:spPr>
      </p:sp>
      <p:sp>
        <p:nvSpPr>
          <p:cNvPr id="174" name="Shape 172"/>
          <p:cNvSpPr/>
          <p:nvPr/>
        </p:nvSpPr>
        <p:spPr>
          <a:xfrm>
            <a:off x="10236708" y="2985516"/>
            <a:ext cx="237744" cy="182880"/>
          </a:xfrm>
          <a:prstGeom prst="rect">
            <a:avLst/>
          </a:prstGeom>
          <a:solidFill>
            <a:srgbClr val="111B31"/>
          </a:solidFill>
          <a:ln w="12700">
            <a:solidFill>
              <a:srgbClr val="111B31"/>
            </a:solidFill>
            <a:prstDash val="solid"/>
          </a:ln>
        </p:spPr>
      </p:sp>
      <p:sp>
        <p:nvSpPr>
          <p:cNvPr id="175" name="Shape 173"/>
          <p:cNvSpPr/>
          <p:nvPr/>
        </p:nvSpPr>
        <p:spPr>
          <a:xfrm>
            <a:off x="10506456" y="2985516"/>
            <a:ext cx="237744" cy="182880"/>
          </a:xfrm>
          <a:prstGeom prst="rect">
            <a:avLst/>
          </a:prstGeom>
          <a:solidFill>
            <a:srgbClr val="111B31"/>
          </a:solidFill>
          <a:ln w="12700">
            <a:solidFill>
              <a:srgbClr val="111B31"/>
            </a:solidFill>
            <a:prstDash val="solid"/>
          </a:ln>
        </p:spPr>
      </p:sp>
      <p:sp>
        <p:nvSpPr>
          <p:cNvPr id="176" name="Shape 174"/>
          <p:cNvSpPr/>
          <p:nvPr/>
        </p:nvSpPr>
        <p:spPr>
          <a:xfrm>
            <a:off x="10776204" y="2985516"/>
            <a:ext cx="237744" cy="182880"/>
          </a:xfrm>
          <a:prstGeom prst="rect">
            <a:avLst/>
          </a:prstGeom>
          <a:solidFill>
            <a:srgbClr val="111B31"/>
          </a:solidFill>
          <a:ln w="12700">
            <a:solidFill>
              <a:srgbClr val="111B31"/>
            </a:solidFill>
            <a:prstDash val="solid"/>
          </a:ln>
        </p:spPr>
      </p:sp>
      <p:sp>
        <p:nvSpPr>
          <p:cNvPr id="177" name="Shape 175"/>
          <p:cNvSpPr/>
          <p:nvPr/>
        </p:nvSpPr>
        <p:spPr>
          <a:xfrm>
            <a:off x="11045952" y="2985516"/>
            <a:ext cx="237744" cy="182880"/>
          </a:xfrm>
          <a:prstGeom prst="rect">
            <a:avLst/>
          </a:prstGeom>
          <a:solidFill>
            <a:srgbClr val="111B31"/>
          </a:solidFill>
          <a:ln w="12700">
            <a:solidFill>
              <a:srgbClr val="111B31"/>
            </a:solidFill>
            <a:prstDash val="solid"/>
          </a:ln>
        </p:spPr>
      </p:sp>
      <p:sp>
        <p:nvSpPr>
          <p:cNvPr id="178" name="Shape 176"/>
          <p:cNvSpPr/>
          <p:nvPr/>
        </p:nvSpPr>
        <p:spPr>
          <a:xfrm>
            <a:off x="11315700" y="2985516"/>
            <a:ext cx="237744" cy="182880"/>
          </a:xfrm>
          <a:prstGeom prst="rect">
            <a:avLst/>
          </a:prstGeom>
          <a:solidFill>
            <a:srgbClr val="111B31"/>
          </a:solidFill>
          <a:ln w="12700">
            <a:solidFill>
              <a:srgbClr val="111B31"/>
            </a:solidFill>
            <a:prstDash val="solid"/>
          </a:ln>
        </p:spPr>
      </p:sp>
      <p:sp>
        <p:nvSpPr>
          <p:cNvPr id="179" name="Shape 177"/>
          <p:cNvSpPr/>
          <p:nvPr/>
        </p:nvSpPr>
        <p:spPr>
          <a:xfrm>
            <a:off x="7269480" y="3200400"/>
            <a:ext cx="237744" cy="182880"/>
          </a:xfrm>
          <a:prstGeom prst="rect">
            <a:avLst/>
          </a:prstGeom>
          <a:solidFill>
            <a:srgbClr val="111B31"/>
          </a:solidFill>
          <a:ln w="12700">
            <a:solidFill>
              <a:srgbClr val="111B31"/>
            </a:solidFill>
            <a:prstDash val="solid"/>
          </a:ln>
        </p:spPr>
      </p:sp>
      <p:sp>
        <p:nvSpPr>
          <p:cNvPr id="180" name="Shape 178"/>
          <p:cNvSpPr/>
          <p:nvPr/>
        </p:nvSpPr>
        <p:spPr>
          <a:xfrm>
            <a:off x="7539228" y="3200400"/>
            <a:ext cx="237744" cy="182880"/>
          </a:xfrm>
          <a:prstGeom prst="rect">
            <a:avLst/>
          </a:prstGeom>
          <a:solidFill>
            <a:srgbClr val="111B31"/>
          </a:solidFill>
          <a:ln w="12700">
            <a:solidFill>
              <a:srgbClr val="111B31"/>
            </a:solidFill>
            <a:prstDash val="solid"/>
          </a:ln>
        </p:spPr>
      </p:sp>
      <p:sp>
        <p:nvSpPr>
          <p:cNvPr id="181" name="Shape 179"/>
          <p:cNvSpPr/>
          <p:nvPr/>
        </p:nvSpPr>
        <p:spPr>
          <a:xfrm>
            <a:off x="7808976" y="3200400"/>
            <a:ext cx="237744" cy="182880"/>
          </a:xfrm>
          <a:prstGeom prst="rect">
            <a:avLst/>
          </a:prstGeom>
          <a:solidFill>
            <a:srgbClr val="111B31"/>
          </a:solidFill>
          <a:ln w="12700">
            <a:solidFill>
              <a:srgbClr val="111B31"/>
            </a:solidFill>
            <a:prstDash val="solid"/>
          </a:ln>
        </p:spPr>
      </p:sp>
      <p:sp>
        <p:nvSpPr>
          <p:cNvPr id="182" name="Shape 180"/>
          <p:cNvSpPr/>
          <p:nvPr/>
        </p:nvSpPr>
        <p:spPr>
          <a:xfrm>
            <a:off x="8078724" y="3200400"/>
            <a:ext cx="237744" cy="182880"/>
          </a:xfrm>
          <a:prstGeom prst="rect">
            <a:avLst/>
          </a:prstGeom>
          <a:solidFill>
            <a:srgbClr val="111B31"/>
          </a:solidFill>
          <a:ln w="12700">
            <a:solidFill>
              <a:srgbClr val="111B31"/>
            </a:solidFill>
            <a:prstDash val="solid"/>
          </a:ln>
        </p:spPr>
      </p:sp>
      <p:sp>
        <p:nvSpPr>
          <p:cNvPr id="183" name="Shape 181"/>
          <p:cNvSpPr/>
          <p:nvPr/>
        </p:nvSpPr>
        <p:spPr>
          <a:xfrm>
            <a:off x="8348472" y="3200400"/>
            <a:ext cx="237744" cy="182880"/>
          </a:xfrm>
          <a:prstGeom prst="rect">
            <a:avLst/>
          </a:prstGeom>
          <a:solidFill>
            <a:srgbClr val="111B31"/>
          </a:solidFill>
          <a:ln w="12700">
            <a:solidFill>
              <a:srgbClr val="111B31"/>
            </a:solidFill>
            <a:prstDash val="solid"/>
          </a:ln>
        </p:spPr>
      </p:sp>
      <p:sp>
        <p:nvSpPr>
          <p:cNvPr id="184" name="Shape 182"/>
          <p:cNvSpPr/>
          <p:nvPr/>
        </p:nvSpPr>
        <p:spPr>
          <a:xfrm>
            <a:off x="8618220" y="3200400"/>
            <a:ext cx="237744" cy="182880"/>
          </a:xfrm>
          <a:prstGeom prst="rect">
            <a:avLst/>
          </a:prstGeom>
          <a:solidFill>
            <a:srgbClr val="5B8DEF">
              <a:alpha val="38000"/>
            </a:srgbClr>
          </a:solidFill>
          <a:ln w="12700">
            <a:solidFill>
              <a:srgbClr val="5B8DEF"/>
            </a:solidFill>
            <a:prstDash val="solid"/>
          </a:ln>
        </p:spPr>
      </p:sp>
      <p:sp>
        <p:nvSpPr>
          <p:cNvPr id="185" name="Shape 183"/>
          <p:cNvSpPr/>
          <p:nvPr/>
        </p:nvSpPr>
        <p:spPr>
          <a:xfrm>
            <a:off x="8887968" y="3200400"/>
            <a:ext cx="237744" cy="182880"/>
          </a:xfrm>
          <a:prstGeom prst="rect">
            <a:avLst/>
          </a:prstGeom>
          <a:solidFill>
            <a:srgbClr val="3A4E7A"/>
          </a:solidFill>
          <a:ln w="12700">
            <a:solidFill>
              <a:srgbClr val="3A4E7A"/>
            </a:solidFill>
            <a:prstDash val="solid"/>
          </a:ln>
        </p:spPr>
      </p:sp>
      <p:sp>
        <p:nvSpPr>
          <p:cNvPr id="186" name="Shape 184"/>
          <p:cNvSpPr/>
          <p:nvPr/>
        </p:nvSpPr>
        <p:spPr>
          <a:xfrm>
            <a:off x="9157716" y="3200400"/>
            <a:ext cx="237744" cy="182880"/>
          </a:xfrm>
          <a:prstGeom prst="rect">
            <a:avLst/>
          </a:prstGeom>
          <a:solidFill>
            <a:srgbClr val="111B31"/>
          </a:solidFill>
          <a:ln w="12700">
            <a:solidFill>
              <a:srgbClr val="111B31"/>
            </a:solidFill>
            <a:prstDash val="solid"/>
          </a:ln>
        </p:spPr>
      </p:sp>
      <p:sp>
        <p:nvSpPr>
          <p:cNvPr id="187" name="Shape 185"/>
          <p:cNvSpPr/>
          <p:nvPr/>
        </p:nvSpPr>
        <p:spPr>
          <a:xfrm>
            <a:off x="9427464" y="3200400"/>
            <a:ext cx="237744" cy="182880"/>
          </a:xfrm>
          <a:prstGeom prst="rect">
            <a:avLst/>
          </a:prstGeom>
          <a:solidFill>
            <a:srgbClr val="111B31"/>
          </a:solidFill>
          <a:ln w="12700">
            <a:solidFill>
              <a:srgbClr val="111B31"/>
            </a:solidFill>
            <a:prstDash val="solid"/>
          </a:ln>
        </p:spPr>
      </p:sp>
      <p:sp>
        <p:nvSpPr>
          <p:cNvPr id="188" name="Shape 186"/>
          <p:cNvSpPr/>
          <p:nvPr/>
        </p:nvSpPr>
        <p:spPr>
          <a:xfrm>
            <a:off x="9697212" y="3200400"/>
            <a:ext cx="237744" cy="182880"/>
          </a:xfrm>
          <a:prstGeom prst="rect">
            <a:avLst/>
          </a:prstGeom>
          <a:solidFill>
            <a:srgbClr val="111B31"/>
          </a:solidFill>
          <a:ln w="12700">
            <a:solidFill>
              <a:srgbClr val="111B31"/>
            </a:solidFill>
            <a:prstDash val="solid"/>
          </a:ln>
        </p:spPr>
      </p:sp>
      <p:sp>
        <p:nvSpPr>
          <p:cNvPr id="189" name="Shape 187"/>
          <p:cNvSpPr/>
          <p:nvPr/>
        </p:nvSpPr>
        <p:spPr>
          <a:xfrm>
            <a:off x="9966960" y="3200400"/>
            <a:ext cx="237744" cy="182880"/>
          </a:xfrm>
          <a:prstGeom prst="rect">
            <a:avLst/>
          </a:prstGeom>
          <a:solidFill>
            <a:srgbClr val="111B31"/>
          </a:solidFill>
          <a:ln w="12700">
            <a:solidFill>
              <a:srgbClr val="111B31"/>
            </a:solidFill>
            <a:prstDash val="solid"/>
          </a:ln>
        </p:spPr>
      </p:sp>
      <p:sp>
        <p:nvSpPr>
          <p:cNvPr id="190" name="Shape 188"/>
          <p:cNvSpPr/>
          <p:nvPr/>
        </p:nvSpPr>
        <p:spPr>
          <a:xfrm>
            <a:off x="10236708" y="3200400"/>
            <a:ext cx="237744" cy="182880"/>
          </a:xfrm>
          <a:prstGeom prst="rect">
            <a:avLst/>
          </a:prstGeom>
          <a:solidFill>
            <a:srgbClr val="111B31"/>
          </a:solidFill>
          <a:ln w="12700">
            <a:solidFill>
              <a:srgbClr val="111B31"/>
            </a:solidFill>
            <a:prstDash val="solid"/>
          </a:ln>
        </p:spPr>
      </p:sp>
      <p:sp>
        <p:nvSpPr>
          <p:cNvPr id="191" name="Shape 189"/>
          <p:cNvSpPr/>
          <p:nvPr/>
        </p:nvSpPr>
        <p:spPr>
          <a:xfrm>
            <a:off x="10506456" y="3200400"/>
            <a:ext cx="237744" cy="182880"/>
          </a:xfrm>
          <a:prstGeom prst="rect">
            <a:avLst/>
          </a:prstGeom>
          <a:solidFill>
            <a:srgbClr val="FFB020"/>
          </a:solidFill>
          <a:ln w="12700">
            <a:solidFill>
              <a:srgbClr val="FFB020"/>
            </a:solidFill>
            <a:prstDash val="solid"/>
          </a:ln>
        </p:spPr>
      </p:sp>
      <p:sp>
        <p:nvSpPr>
          <p:cNvPr id="192" name="Shape 190"/>
          <p:cNvSpPr/>
          <p:nvPr/>
        </p:nvSpPr>
        <p:spPr>
          <a:xfrm>
            <a:off x="10776204" y="3200400"/>
            <a:ext cx="237744" cy="182880"/>
          </a:xfrm>
          <a:prstGeom prst="rect">
            <a:avLst/>
          </a:prstGeom>
          <a:solidFill>
            <a:srgbClr val="111B31"/>
          </a:solidFill>
          <a:ln w="12700">
            <a:solidFill>
              <a:srgbClr val="111B31"/>
            </a:solidFill>
            <a:prstDash val="solid"/>
          </a:ln>
        </p:spPr>
      </p:sp>
      <p:sp>
        <p:nvSpPr>
          <p:cNvPr id="193" name="Shape 191"/>
          <p:cNvSpPr/>
          <p:nvPr/>
        </p:nvSpPr>
        <p:spPr>
          <a:xfrm>
            <a:off x="11045952" y="3200400"/>
            <a:ext cx="237744" cy="182880"/>
          </a:xfrm>
          <a:prstGeom prst="rect">
            <a:avLst/>
          </a:prstGeom>
          <a:solidFill>
            <a:srgbClr val="111B31"/>
          </a:solidFill>
          <a:ln w="12700">
            <a:solidFill>
              <a:srgbClr val="111B31"/>
            </a:solidFill>
            <a:prstDash val="solid"/>
          </a:ln>
        </p:spPr>
      </p:sp>
      <p:sp>
        <p:nvSpPr>
          <p:cNvPr id="194" name="Shape 192"/>
          <p:cNvSpPr/>
          <p:nvPr/>
        </p:nvSpPr>
        <p:spPr>
          <a:xfrm>
            <a:off x="11315700" y="3200400"/>
            <a:ext cx="237744" cy="182880"/>
          </a:xfrm>
          <a:prstGeom prst="rect">
            <a:avLst/>
          </a:prstGeom>
          <a:solidFill>
            <a:srgbClr val="111B31"/>
          </a:solidFill>
          <a:ln w="12700">
            <a:solidFill>
              <a:srgbClr val="111B31"/>
            </a:solidFill>
            <a:prstDash val="solid"/>
          </a:ln>
        </p:spPr>
      </p:sp>
      <p:sp>
        <p:nvSpPr>
          <p:cNvPr id="195" name="Shape 193"/>
          <p:cNvSpPr/>
          <p:nvPr/>
        </p:nvSpPr>
        <p:spPr>
          <a:xfrm>
            <a:off x="7269480" y="3415284"/>
            <a:ext cx="237744" cy="182880"/>
          </a:xfrm>
          <a:prstGeom prst="rect">
            <a:avLst/>
          </a:prstGeom>
          <a:solidFill>
            <a:srgbClr val="3A4E7A"/>
          </a:solidFill>
          <a:ln w="12700">
            <a:solidFill>
              <a:srgbClr val="3A4E7A"/>
            </a:solidFill>
            <a:prstDash val="solid"/>
          </a:ln>
        </p:spPr>
      </p:sp>
      <p:sp>
        <p:nvSpPr>
          <p:cNvPr id="196" name="Shape 194"/>
          <p:cNvSpPr/>
          <p:nvPr/>
        </p:nvSpPr>
        <p:spPr>
          <a:xfrm>
            <a:off x="7539228" y="3415284"/>
            <a:ext cx="237744" cy="182880"/>
          </a:xfrm>
          <a:prstGeom prst="rect">
            <a:avLst/>
          </a:prstGeom>
          <a:solidFill>
            <a:srgbClr val="111B31"/>
          </a:solidFill>
          <a:ln w="12700">
            <a:solidFill>
              <a:srgbClr val="111B31"/>
            </a:solidFill>
            <a:prstDash val="solid"/>
          </a:ln>
        </p:spPr>
      </p:sp>
      <p:sp>
        <p:nvSpPr>
          <p:cNvPr id="197" name="Shape 195"/>
          <p:cNvSpPr/>
          <p:nvPr/>
        </p:nvSpPr>
        <p:spPr>
          <a:xfrm>
            <a:off x="7808976" y="3415284"/>
            <a:ext cx="237744" cy="182880"/>
          </a:xfrm>
          <a:prstGeom prst="rect">
            <a:avLst/>
          </a:prstGeom>
          <a:solidFill>
            <a:srgbClr val="FFB020"/>
          </a:solidFill>
          <a:ln w="12700">
            <a:solidFill>
              <a:srgbClr val="FFB020"/>
            </a:solidFill>
            <a:prstDash val="solid"/>
          </a:ln>
        </p:spPr>
      </p:sp>
      <p:sp>
        <p:nvSpPr>
          <p:cNvPr id="198" name="Shape 196"/>
          <p:cNvSpPr/>
          <p:nvPr/>
        </p:nvSpPr>
        <p:spPr>
          <a:xfrm>
            <a:off x="8078724" y="3415284"/>
            <a:ext cx="237744" cy="182880"/>
          </a:xfrm>
          <a:prstGeom prst="rect">
            <a:avLst/>
          </a:prstGeom>
          <a:solidFill>
            <a:srgbClr val="5B8DEF">
              <a:alpha val="38000"/>
            </a:srgbClr>
          </a:solidFill>
          <a:ln w="12700">
            <a:solidFill>
              <a:srgbClr val="5B8DEF"/>
            </a:solidFill>
            <a:prstDash val="solid"/>
          </a:ln>
        </p:spPr>
      </p:sp>
      <p:sp>
        <p:nvSpPr>
          <p:cNvPr id="199" name="Shape 197"/>
          <p:cNvSpPr/>
          <p:nvPr/>
        </p:nvSpPr>
        <p:spPr>
          <a:xfrm>
            <a:off x="8348472" y="3415284"/>
            <a:ext cx="237744" cy="182880"/>
          </a:xfrm>
          <a:prstGeom prst="rect">
            <a:avLst/>
          </a:prstGeom>
          <a:solidFill>
            <a:srgbClr val="111B31"/>
          </a:solidFill>
          <a:ln w="12700">
            <a:solidFill>
              <a:srgbClr val="111B31"/>
            </a:solidFill>
            <a:prstDash val="solid"/>
          </a:ln>
        </p:spPr>
      </p:sp>
      <p:sp>
        <p:nvSpPr>
          <p:cNvPr id="200" name="Shape 198"/>
          <p:cNvSpPr/>
          <p:nvPr/>
        </p:nvSpPr>
        <p:spPr>
          <a:xfrm>
            <a:off x="8618220" y="3415284"/>
            <a:ext cx="237744" cy="182880"/>
          </a:xfrm>
          <a:prstGeom prst="rect">
            <a:avLst/>
          </a:prstGeom>
          <a:solidFill>
            <a:srgbClr val="111B31"/>
          </a:solidFill>
          <a:ln w="12700">
            <a:solidFill>
              <a:srgbClr val="111B31"/>
            </a:solidFill>
            <a:prstDash val="solid"/>
          </a:ln>
        </p:spPr>
      </p:sp>
      <p:sp>
        <p:nvSpPr>
          <p:cNvPr id="201" name="Shape 199"/>
          <p:cNvSpPr/>
          <p:nvPr/>
        </p:nvSpPr>
        <p:spPr>
          <a:xfrm>
            <a:off x="8887968" y="3415284"/>
            <a:ext cx="237744" cy="182880"/>
          </a:xfrm>
          <a:prstGeom prst="rect">
            <a:avLst/>
          </a:prstGeom>
          <a:solidFill>
            <a:srgbClr val="111B31"/>
          </a:solidFill>
          <a:ln w="12700">
            <a:solidFill>
              <a:srgbClr val="111B31"/>
            </a:solidFill>
            <a:prstDash val="solid"/>
          </a:ln>
        </p:spPr>
      </p:sp>
      <p:sp>
        <p:nvSpPr>
          <p:cNvPr id="202" name="Shape 200"/>
          <p:cNvSpPr/>
          <p:nvPr/>
        </p:nvSpPr>
        <p:spPr>
          <a:xfrm>
            <a:off x="9157716" y="3415284"/>
            <a:ext cx="237744" cy="182880"/>
          </a:xfrm>
          <a:prstGeom prst="rect">
            <a:avLst/>
          </a:prstGeom>
          <a:solidFill>
            <a:srgbClr val="5B8DEF">
              <a:alpha val="38000"/>
            </a:srgbClr>
          </a:solidFill>
          <a:ln w="12700">
            <a:solidFill>
              <a:srgbClr val="5B8DEF"/>
            </a:solidFill>
            <a:prstDash val="solid"/>
          </a:ln>
        </p:spPr>
      </p:sp>
      <p:sp>
        <p:nvSpPr>
          <p:cNvPr id="203" name="Shape 201"/>
          <p:cNvSpPr/>
          <p:nvPr/>
        </p:nvSpPr>
        <p:spPr>
          <a:xfrm>
            <a:off x="9427464" y="3415284"/>
            <a:ext cx="237744" cy="182880"/>
          </a:xfrm>
          <a:prstGeom prst="rect">
            <a:avLst/>
          </a:prstGeom>
          <a:solidFill>
            <a:srgbClr val="111B31"/>
          </a:solidFill>
          <a:ln w="12700">
            <a:solidFill>
              <a:srgbClr val="111B31"/>
            </a:solidFill>
            <a:prstDash val="solid"/>
          </a:ln>
        </p:spPr>
      </p:sp>
      <p:sp>
        <p:nvSpPr>
          <p:cNvPr id="204" name="Shape 202"/>
          <p:cNvSpPr/>
          <p:nvPr/>
        </p:nvSpPr>
        <p:spPr>
          <a:xfrm>
            <a:off x="9697212" y="3415284"/>
            <a:ext cx="237744" cy="182880"/>
          </a:xfrm>
          <a:prstGeom prst="rect">
            <a:avLst/>
          </a:prstGeom>
          <a:solidFill>
            <a:srgbClr val="111B31"/>
          </a:solidFill>
          <a:ln w="12700">
            <a:solidFill>
              <a:srgbClr val="111B31"/>
            </a:solidFill>
            <a:prstDash val="solid"/>
          </a:ln>
        </p:spPr>
      </p:sp>
      <p:sp>
        <p:nvSpPr>
          <p:cNvPr id="205" name="Shape 203"/>
          <p:cNvSpPr/>
          <p:nvPr/>
        </p:nvSpPr>
        <p:spPr>
          <a:xfrm>
            <a:off x="9966960" y="3415284"/>
            <a:ext cx="237744" cy="182880"/>
          </a:xfrm>
          <a:prstGeom prst="rect">
            <a:avLst/>
          </a:prstGeom>
          <a:solidFill>
            <a:srgbClr val="111B31"/>
          </a:solidFill>
          <a:ln w="12700">
            <a:solidFill>
              <a:srgbClr val="111B31"/>
            </a:solidFill>
            <a:prstDash val="solid"/>
          </a:ln>
        </p:spPr>
      </p:sp>
      <p:sp>
        <p:nvSpPr>
          <p:cNvPr id="206" name="Shape 204"/>
          <p:cNvSpPr/>
          <p:nvPr/>
        </p:nvSpPr>
        <p:spPr>
          <a:xfrm>
            <a:off x="10236708" y="3415284"/>
            <a:ext cx="237744" cy="182880"/>
          </a:xfrm>
          <a:prstGeom prst="rect">
            <a:avLst/>
          </a:prstGeom>
          <a:solidFill>
            <a:srgbClr val="111B31"/>
          </a:solidFill>
          <a:ln w="12700">
            <a:solidFill>
              <a:srgbClr val="111B31"/>
            </a:solidFill>
            <a:prstDash val="solid"/>
          </a:ln>
        </p:spPr>
      </p:sp>
      <p:sp>
        <p:nvSpPr>
          <p:cNvPr id="207" name="Shape 205"/>
          <p:cNvSpPr/>
          <p:nvPr/>
        </p:nvSpPr>
        <p:spPr>
          <a:xfrm>
            <a:off x="10506456" y="3415284"/>
            <a:ext cx="237744" cy="182880"/>
          </a:xfrm>
          <a:prstGeom prst="rect">
            <a:avLst/>
          </a:prstGeom>
          <a:solidFill>
            <a:srgbClr val="111B31"/>
          </a:solidFill>
          <a:ln w="12700">
            <a:solidFill>
              <a:srgbClr val="111B31"/>
            </a:solidFill>
            <a:prstDash val="solid"/>
          </a:ln>
        </p:spPr>
      </p:sp>
      <p:sp>
        <p:nvSpPr>
          <p:cNvPr id="208" name="Shape 206"/>
          <p:cNvSpPr/>
          <p:nvPr/>
        </p:nvSpPr>
        <p:spPr>
          <a:xfrm>
            <a:off x="10776204" y="3415284"/>
            <a:ext cx="237744" cy="182880"/>
          </a:xfrm>
          <a:prstGeom prst="rect">
            <a:avLst/>
          </a:prstGeom>
          <a:solidFill>
            <a:srgbClr val="111B31"/>
          </a:solidFill>
          <a:ln w="12700">
            <a:solidFill>
              <a:srgbClr val="111B31"/>
            </a:solidFill>
            <a:prstDash val="solid"/>
          </a:ln>
        </p:spPr>
      </p:sp>
      <p:sp>
        <p:nvSpPr>
          <p:cNvPr id="209" name="Shape 207"/>
          <p:cNvSpPr/>
          <p:nvPr/>
        </p:nvSpPr>
        <p:spPr>
          <a:xfrm>
            <a:off x="11045952" y="3415284"/>
            <a:ext cx="237744" cy="182880"/>
          </a:xfrm>
          <a:prstGeom prst="rect">
            <a:avLst/>
          </a:prstGeom>
          <a:solidFill>
            <a:srgbClr val="5B8DEF">
              <a:alpha val="38000"/>
            </a:srgbClr>
          </a:solidFill>
          <a:ln w="12700">
            <a:solidFill>
              <a:srgbClr val="5B8DEF"/>
            </a:solidFill>
            <a:prstDash val="solid"/>
          </a:ln>
        </p:spPr>
      </p:sp>
      <p:sp>
        <p:nvSpPr>
          <p:cNvPr id="210" name="Shape 208"/>
          <p:cNvSpPr/>
          <p:nvPr/>
        </p:nvSpPr>
        <p:spPr>
          <a:xfrm>
            <a:off x="11315700" y="3415284"/>
            <a:ext cx="237744" cy="182880"/>
          </a:xfrm>
          <a:prstGeom prst="rect">
            <a:avLst/>
          </a:prstGeom>
          <a:solidFill>
            <a:srgbClr val="5B8DEF">
              <a:alpha val="38000"/>
            </a:srgbClr>
          </a:solidFill>
          <a:ln w="12700">
            <a:solidFill>
              <a:srgbClr val="5B8DEF"/>
            </a:solidFill>
            <a:prstDash val="solid"/>
          </a:ln>
        </p:spPr>
      </p:sp>
      <p:sp>
        <p:nvSpPr>
          <p:cNvPr id="211" name="Shape 209"/>
          <p:cNvSpPr/>
          <p:nvPr/>
        </p:nvSpPr>
        <p:spPr>
          <a:xfrm>
            <a:off x="7269480" y="3630168"/>
            <a:ext cx="237744" cy="182880"/>
          </a:xfrm>
          <a:prstGeom prst="rect">
            <a:avLst/>
          </a:prstGeom>
          <a:solidFill>
            <a:srgbClr val="5B8DEF">
              <a:alpha val="38000"/>
            </a:srgbClr>
          </a:solidFill>
          <a:ln w="12700">
            <a:solidFill>
              <a:srgbClr val="5B8DEF"/>
            </a:solidFill>
            <a:prstDash val="solid"/>
          </a:ln>
        </p:spPr>
      </p:sp>
      <p:sp>
        <p:nvSpPr>
          <p:cNvPr id="212" name="Shape 210"/>
          <p:cNvSpPr/>
          <p:nvPr/>
        </p:nvSpPr>
        <p:spPr>
          <a:xfrm>
            <a:off x="7539228" y="3630168"/>
            <a:ext cx="237744" cy="182880"/>
          </a:xfrm>
          <a:prstGeom prst="rect">
            <a:avLst/>
          </a:prstGeom>
          <a:solidFill>
            <a:srgbClr val="5B8DEF">
              <a:alpha val="38000"/>
            </a:srgbClr>
          </a:solidFill>
          <a:ln w="12700">
            <a:solidFill>
              <a:srgbClr val="5B8DEF"/>
            </a:solidFill>
            <a:prstDash val="solid"/>
          </a:ln>
        </p:spPr>
      </p:sp>
      <p:sp>
        <p:nvSpPr>
          <p:cNvPr id="213" name="Shape 211"/>
          <p:cNvSpPr/>
          <p:nvPr/>
        </p:nvSpPr>
        <p:spPr>
          <a:xfrm>
            <a:off x="7808976" y="3630168"/>
            <a:ext cx="237744" cy="182880"/>
          </a:xfrm>
          <a:prstGeom prst="rect">
            <a:avLst/>
          </a:prstGeom>
          <a:solidFill>
            <a:srgbClr val="111B31"/>
          </a:solidFill>
          <a:ln w="12700">
            <a:solidFill>
              <a:srgbClr val="111B31"/>
            </a:solidFill>
            <a:prstDash val="solid"/>
          </a:ln>
        </p:spPr>
      </p:sp>
      <p:sp>
        <p:nvSpPr>
          <p:cNvPr id="214" name="Shape 212"/>
          <p:cNvSpPr/>
          <p:nvPr/>
        </p:nvSpPr>
        <p:spPr>
          <a:xfrm>
            <a:off x="8078724" y="3630168"/>
            <a:ext cx="237744" cy="182880"/>
          </a:xfrm>
          <a:prstGeom prst="rect">
            <a:avLst/>
          </a:prstGeom>
          <a:solidFill>
            <a:srgbClr val="111B31"/>
          </a:solidFill>
          <a:ln w="12700">
            <a:solidFill>
              <a:srgbClr val="111B31"/>
            </a:solidFill>
            <a:prstDash val="solid"/>
          </a:ln>
        </p:spPr>
      </p:sp>
      <p:sp>
        <p:nvSpPr>
          <p:cNvPr id="215" name="Shape 213"/>
          <p:cNvSpPr/>
          <p:nvPr/>
        </p:nvSpPr>
        <p:spPr>
          <a:xfrm>
            <a:off x="8348472" y="3630168"/>
            <a:ext cx="237744" cy="182880"/>
          </a:xfrm>
          <a:prstGeom prst="rect">
            <a:avLst/>
          </a:prstGeom>
          <a:solidFill>
            <a:srgbClr val="111B31"/>
          </a:solidFill>
          <a:ln w="12700">
            <a:solidFill>
              <a:srgbClr val="111B31"/>
            </a:solidFill>
            <a:prstDash val="solid"/>
          </a:ln>
        </p:spPr>
      </p:sp>
      <p:sp>
        <p:nvSpPr>
          <p:cNvPr id="216" name="Shape 214"/>
          <p:cNvSpPr/>
          <p:nvPr/>
        </p:nvSpPr>
        <p:spPr>
          <a:xfrm>
            <a:off x="8618220" y="3630168"/>
            <a:ext cx="237744" cy="182880"/>
          </a:xfrm>
          <a:prstGeom prst="rect">
            <a:avLst/>
          </a:prstGeom>
          <a:solidFill>
            <a:srgbClr val="111B31"/>
          </a:solidFill>
          <a:ln w="12700">
            <a:solidFill>
              <a:srgbClr val="111B31"/>
            </a:solidFill>
            <a:prstDash val="solid"/>
          </a:ln>
        </p:spPr>
      </p:sp>
      <p:sp>
        <p:nvSpPr>
          <p:cNvPr id="217" name="Shape 215"/>
          <p:cNvSpPr/>
          <p:nvPr/>
        </p:nvSpPr>
        <p:spPr>
          <a:xfrm>
            <a:off x="8887968" y="3630168"/>
            <a:ext cx="237744" cy="182880"/>
          </a:xfrm>
          <a:prstGeom prst="rect">
            <a:avLst/>
          </a:prstGeom>
          <a:solidFill>
            <a:srgbClr val="111B31"/>
          </a:solidFill>
          <a:ln w="12700">
            <a:solidFill>
              <a:srgbClr val="111B31"/>
            </a:solidFill>
            <a:prstDash val="solid"/>
          </a:ln>
        </p:spPr>
      </p:sp>
      <p:sp>
        <p:nvSpPr>
          <p:cNvPr id="218" name="Shape 216"/>
          <p:cNvSpPr/>
          <p:nvPr/>
        </p:nvSpPr>
        <p:spPr>
          <a:xfrm>
            <a:off x="9157716" y="3630168"/>
            <a:ext cx="237744" cy="182880"/>
          </a:xfrm>
          <a:prstGeom prst="rect">
            <a:avLst/>
          </a:prstGeom>
          <a:solidFill>
            <a:srgbClr val="111B31"/>
          </a:solidFill>
          <a:ln w="12700">
            <a:solidFill>
              <a:srgbClr val="111B31"/>
            </a:solidFill>
            <a:prstDash val="solid"/>
          </a:ln>
        </p:spPr>
      </p:sp>
      <p:sp>
        <p:nvSpPr>
          <p:cNvPr id="219" name="Shape 217"/>
          <p:cNvSpPr/>
          <p:nvPr/>
        </p:nvSpPr>
        <p:spPr>
          <a:xfrm>
            <a:off x="9427464" y="3630168"/>
            <a:ext cx="237744" cy="182880"/>
          </a:xfrm>
          <a:prstGeom prst="rect">
            <a:avLst/>
          </a:prstGeom>
          <a:solidFill>
            <a:srgbClr val="5B8DEF">
              <a:alpha val="38000"/>
            </a:srgbClr>
          </a:solidFill>
          <a:ln w="12700">
            <a:solidFill>
              <a:srgbClr val="5B8DEF"/>
            </a:solidFill>
            <a:prstDash val="solid"/>
          </a:ln>
        </p:spPr>
      </p:sp>
      <p:sp>
        <p:nvSpPr>
          <p:cNvPr id="220" name="Shape 218"/>
          <p:cNvSpPr/>
          <p:nvPr/>
        </p:nvSpPr>
        <p:spPr>
          <a:xfrm>
            <a:off x="9697212" y="3630168"/>
            <a:ext cx="237744" cy="182880"/>
          </a:xfrm>
          <a:prstGeom prst="rect">
            <a:avLst/>
          </a:prstGeom>
          <a:solidFill>
            <a:srgbClr val="3A4E7A"/>
          </a:solidFill>
          <a:ln w="12700">
            <a:solidFill>
              <a:srgbClr val="3A4E7A"/>
            </a:solidFill>
            <a:prstDash val="solid"/>
          </a:ln>
        </p:spPr>
      </p:sp>
      <p:sp>
        <p:nvSpPr>
          <p:cNvPr id="221" name="Shape 219"/>
          <p:cNvSpPr/>
          <p:nvPr/>
        </p:nvSpPr>
        <p:spPr>
          <a:xfrm>
            <a:off x="9966960" y="3630168"/>
            <a:ext cx="237744" cy="182880"/>
          </a:xfrm>
          <a:prstGeom prst="rect">
            <a:avLst/>
          </a:prstGeom>
          <a:solidFill>
            <a:srgbClr val="111B31"/>
          </a:solidFill>
          <a:ln w="12700">
            <a:solidFill>
              <a:srgbClr val="111B31"/>
            </a:solidFill>
            <a:prstDash val="solid"/>
          </a:ln>
        </p:spPr>
      </p:sp>
      <p:sp>
        <p:nvSpPr>
          <p:cNvPr id="222" name="Shape 220"/>
          <p:cNvSpPr/>
          <p:nvPr/>
        </p:nvSpPr>
        <p:spPr>
          <a:xfrm>
            <a:off x="10236708" y="3630168"/>
            <a:ext cx="237744" cy="182880"/>
          </a:xfrm>
          <a:prstGeom prst="rect">
            <a:avLst/>
          </a:prstGeom>
          <a:solidFill>
            <a:srgbClr val="111B31"/>
          </a:solidFill>
          <a:ln w="12700">
            <a:solidFill>
              <a:srgbClr val="111B31"/>
            </a:solidFill>
            <a:prstDash val="solid"/>
          </a:ln>
        </p:spPr>
      </p:sp>
      <p:sp>
        <p:nvSpPr>
          <p:cNvPr id="223" name="Shape 221"/>
          <p:cNvSpPr/>
          <p:nvPr/>
        </p:nvSpPr>
        <p:spPr>
          <a:xfrm>
            <a:off x="10506456" y="3630168"/>
            <a:ext cx="237744" cy="182880"/>
          </a:xfrm>
          <a:prstGeom prst="rect">
            <a:avLst/>
          </a:prstGeom>
          <a:solidFill>
            <a:srgbClr val="111B31"/>
          </a:solidFill>
          <a:ln w="12700">
            <a:solidFill>
              <a:srgbClr val="111B31"/>
            </a:solidFill>
            <a:prstDash val="solid"/>
          </a:ln>
        </p:spPr>
      </p:sp>
      <p:sp>
        <p:nvSpPr>
          <p:cNvPr id="224" name="Shape 222"/>
          <p:cNvSpPr/>
          <p:nvPr/>
        </p:nvSpPr>
        <p:spPr>
          <a:xfrm>
            <a:off x="10776204" y="3630168"/>
            <a:ext cx="237744" cy="182880"/>
          </a:xfrm>
          <a:prstGeom prst="rect">
            <a:avLst/>
          </a:prstGeom>
          <a:solidFill>
            <a:srgbClr val="111B31"/>
          </a:solidFill>
          <a:ln w="12700">
            <a:solidFill>
              <a:srgbClr val="111B31"/>
            </a:solidFill>
            <a:prstDash val="solid"/>
          </a:ln>
        </p:spPr>
      </p:sp>
      <p:sp>
        <p:nvSpPr>
          <p:cNvPr id="225" name="Shape 223"/>
          <p:cNvSpPr/>
          <p:nvPr/>
        </p:nvSpPr>
        <p:spPr>
          <a:xfrm>
            <a:off x="11045952" y="3630168"/>
            <a:ext cx="237744" cy="182880"/>
          </a:xfrm>
          <a:prstGeom prst="rect">
            <a:avLst/>
          </a:prstGeom>
          <a:solidFill>
            <a:srgbClr val="111B31"/>
          </a:solidFill>
          <a:ln w="12700">
            <a:solidFill>
              <a:srgbClr val="111B31"/>
            </a:solidFill>
            <a:prstDash val="solid"/>
          </a:ln>
        </p:spPr>
      </p:sp>
      <p:sp>
        <p:nvSpPr>
          <p:cNvPr id="226" name="Shape 224"/>
          <p:cNvSpPr/>
          <p:nvPr/>
        </p:nvSpPr>
        <p:spPr>
          <a:xfrm>
            <a:off x="11315700" y="3630168"/>
            <a:ext cx="237744" cy="182880"/>
          </a:xfrm>
          <a:prstGeom prst="rect">
            <a:avLst/>
          </a:prstGeom>
          <a:solidFill>
            <a:srgbClr val="FFB020"/>
          </a:solidFill>
          <a:ln w="12700">
            <a:solidFill>
              <a:srgbClr val="FFB020"/>
            </a:solidFill>
            <a:prstDash val="solid"/>
          </a:ln>
        </p:spPr>
      </p:sp>
      <p:sp>
        <p:nvSpPr>
          <p:cNvPr id="227" name="Shape 225"/>
          <p:cNvSpPr/>
          <p:nvPr/>
        </p:nvSpPr>
        <p:spPr>
          <a:xfrm>
            <a:off x="7269480" y="3845052"/>
            <a:ext cx="237744" cy="182880"/>
          </a:xfrm>
          <a:prstGeom prst="rect">
            <a:avLst/>
          </a:prstGeom>
          <a:solidFill>
            <a:srgbClr val="111B31"/>
          </a:solidFill>
          <a:ln w="12700">
            <a:solidFill>
              <a:srgbClr val="111B31"/>
            </a:solidFill>
            <a:prstDash val="solid"/>
          </a:ln>
        </p:spPr>
      </p:sp>
      <p:sp>
        <p:nvSpPr>
          <p:cNvPr id="228" name="Shape 226"/>
          <p:cNvSpPr/>
          <p:nvPr/>
        </p:nvSpPr>
        <p:spPr>
          <a:xfrm>
            <a:off x="7539228" y="3845052"/>
            <a:ext cx="237744" cy="182880"/>
          </a:xfrm>
          <a:prstGeom prst="rect">
            <a:avLst/>
          </a:prstGeom>
          <a:solidFill>
            <a:srgbClr val="5B8DEF">
              <a:alpha val="38000"/>
            </a:srgbClr>
          </a:solidFill>
          <a:ln w="12700">
            <a:solidFill>
              <a:srgbClr val="5B8DEF"/>
            </a:solidFill>
            <a:prstDash val="solid"/>
          </a:ln>
        </p:spPr>
      </p:sp>
      <p:sp>
        <p:nvSpPr>
          <p:cNvPr id="229" name="Shape 227"/>
          <p:cNvSpPr/>
          <p:nvPr/>
        </p:nvSpPr>
        <p:spPr>
          <a:xfrm>
            <a:off x="7808976" y="3845052"/>
            <a:ext cx="237744" cy="182880"/>
          </a:xfrm>
          <a:prstGeom prst="rect">
            <a:avLst/>
          </a:prstGeom>
          <a:solidFill>
            <a:srgbClr val="3A4E7A"/>
          </a:solidFill>
          <a:ln w="12700">
            <a:solidFill>
              <a:srgbClr val="3A4E7A"/>
            </a:solidFill>
            <a:prstDash val="solid"/>
          </a:ln>
        </p:spPr>
      </p:sp>
      <p:sp>
        <p:nvSpPr>
          <p:cNvPr id="230" name="Shape 228"/>
          <p:cNvSpPr/>
          <p:nvPr/>
        </p:nvSpPr>
        <p:spPr>
          <a:xfrm>
            <a:off x="8078724" y="3845052"/>
            <a:ext cx="237744" cy="182880"/>
          </a:xfrm>
          <a:prstGeom prst="rect">
            <a:avLst/>
          </a:prstGeom>
          <a:solidFill>
            <a:srgbClr val="111B31"/>
          </a:solidFill>
          <a:ln w="12700">
            <a:solidFill>
              <a:srgbClr val="111B31"/>
            </a:solidFill>
            <a:prstDash val="solid"/>
          </a:ln>
        </p:spPr>
      </p:sp>
      <p:sp>
        <p:nvSpPr>
          <p:cNvPr id="231" name="Shape 229"/>
          <p:cNvSpPr/>
          <p:nvPr/>
        </p:nvSpPr>
        <p:spPr>
          <a:xfrm>
            <a:off x="8348472" y="3845052"/>
            <a:ext cx="237744" cy="182880"/>
          </a:xfrm>
          <a:prstGeom prst="rect">
            <a:avLst/>
          </a:prstGeom>
          <a:solidFill>
            <a:srgbClr val="111B31"/>
          </a:solidFill>
          <a:ln w="12700">
            <a:solidFill>
              <a:srgbClr val="111B31"/>
            </a:solidFill>
            <a:prstDash val="solid"/>
          </a:ln>
        </p:spPr>
      </p:sp>
      <p:sp>
        <p:nvSpPr>
          <p:cNvPr id="232" name="Shape 230"/>
          <p:cNvSpPr/>
          <p:nvPr/>
        </p:nvSpPr>
        <p:spPr>
          <a:xfrm>
            <a:off x="8618220" y="3845052"/>
            <a:ext cx="237744" cy="182880"/>
          </a:xfrm>
          <a:prstGeom prst="rect">
            <a:avLst/>
          </a:prstGeom>
          <a:solidFill>
            <a:srgbClr val="111B31"/>
          </a:solidFill>
          <a:ln w="12700">
            <a:solidFill>
              <a:srgbClr val="111B31"/>
            </a:solidFill>
            <a:prstDash val="solid"/>
          </a:ln>
        </p:spPr>
      </p:sp>
      <p:sp>
        <p:nvSpPr>
          <p:cNvPr id="233" name="Shape 231"/>
          <p:cNvSpPr/>
          <p:nvPr/>
        </p:nvSpPr>
        <p:spPr>
          <a:xfrm>
            <a:off x="8887968" y="3845052"/>
            <a:ext cx="237744" cy="182880"/>
          </a:xfrm>
          <a:prstGeom prst="rect">
            <a:avLst/>
          </a:prstGeom>
          <a:solidFill>
            <a:srgbClr val="111B31"/>
          </a:solidFill>
          <a:ln w="12700">
            <a:solidFill>
              <a:srgbClr val="111B31"/>
            </a:solidFill>
            <a:prstDash val="solid"/>
          </a:ln>
        </p:spPr>
      </p:sp>
      <p:sp>
        <p:nvSpPr>
          <p:cNvPr id="234" name="Shape 232"/>
          <p:cNvSpPr/>
          <p:nvPr/>
        </p:nvSpPr>
        <p:spPr>
          <a:xfrm>
            <a:off x="9157716" y="3845052"/>
            <a:ext cx="237744" cy="182880"/>
          </a:xfrm>
          <a:prstGeom prst="rect">
            <a:avLst/>
          </a:prstGeom>
          <a:solidFill>
            <a:srgbClr val="111B31"/>
          </a:solidFill>
          <a:ln w="12700">
            <a:solidFill>
              <a:srgbClr val="111B31"/>
            </a:solidFill>
            <a:prstDash val="solid"/>
          </a:ln>
        </p:spPr>
      </p:sp>
      <p:sp>
        <p:nvSpPr>
          <p:cNvPr id="235" name="Shape 233"/>
          <p:cNvSpPr/>
          <p:nvPr/>
        </p:nvSpPr>
        <p:spPr>
          <a:xfrm>
            <a:off x="9427464" y="3845052"/>
            <a:ext cx="237744" cy="182880"/>
          </a:xfrm>
          <a:prstGeom prst="rect">
            <a:avLst/>
          </a:prstGeom>
          <a:solidFill>
            <a:srgbClr val="111B31"/>
          </a:solidFill>
          <a:ln w="12700">
            <a:solidFill>
              <a:srgbClr val="111B31"/>
            </a:solidFill>
            <a:prstDash val="solid"/>
          </a:ln>
        </p:spPr>
      </p:sp>
      <p:sp>
        <p:nvSpPr>
          <p:cNvPr id="236" name="Shape 234"/>
          <p:cNvSpPr/>
          <p:nvPr/>
        </p:nvSpPr>
        <p:spPr>
          <a:xfrm>
            <a:off x="9697212" y="3845052"/>
            <a:ext cx="237744" cy="182880"/>
          </a:xfrm>
          <a:prstGeom prst="rect">
            <a:avLst/>
          </a:prstGeom>
          <a:solidFill>
            <a:srgbClr val="FFB020"/>
          </a:solidFill>
          <a:ln w="12700">
            <a:solidFill>
              <a:srgbClr val="FFB020"/>
            </a:solidFill>
            <a:prstDash val="solid"/>
          </a:ln>
        </p:spPr>
      </p:sp>
      <p:sp>
        <p:nvSpPr>
          <p:cNvPr id="237" name="Shape 235"/>
          <p:cNvSpPr/>
          <p:nvPr/>
        </p:nvSpPr>
        <p:spPr>
          <a:xfrm>
            <a:off x="9966960" y="3845052"/>
            <a:ext cx="237744" cy="182880"/>
          </a:xfrm>
          <a:prstGeom prst="rect">
            <a:avLst/>
          </a:prstGeom>
          <a:solidFill>
            <a:srgbClr val="5B8DEF">
              <a:alpha val="38000"/>
            </a:srgbClr>
          </a:solidFill>
          <a:ln w="12700">
            <a:solidFill>
              <a:srgbClr val="5B8DEF"/>
            </a:solidFill>
            <a:prstDash val="solid"/>
          </a:ln>
        </p:spPr>
      </p:sp>
      <p:sp>
        <p:nvSpPr>
          <p:cNvPr id="238" name="Shape 236"/>
          <p:cNvSpPr/>
          <p:nvPr/>
        </p:nvSpPr>
        <p:spPr>
          <a:xfrm>
            <a:off x="10236708" y="3845052"/>
            <a:ext cx="237744" cy="182880"/>
          </a:xfrm>
          <a:prstGeom prst="rect">
            <a:avLst/>
          </a:prstGeom>
          <a:solidFill>
            <a:srgbClr val="111B31"/>
          </a:solidFill>
          <a:ln w="12700">
            <a:solidFill>
              <a:srgbClr val="111B31"/>
            </a:solidFill>
            <a:prstDash val="solid"/>
          </a:ln>
        </p:spPr>
      </p:sp>
      <p:sp>
        <p:nvSpPr>
          <p:cNvPr id="239" name="Shape 237"/>
          <p:cNvSpPr/>
          <p:nvPr/>
        </p:nvSpPr>
        <p:spPr>
          <a:xfrm>
            <a:off x="10506456" y="3845052"/>
            <a:ext cx="237744" cy="182880"/>
          </a:xfrm>
          <a:prstGeom prst="rect">
            <a:avLst/>
          </a:prstGeom>
          <a:solidFill>
            <a:srgbClr val="111B31"/>
          </a:solidFill>
          <a:ln w="12700">
            <a:solidFill>
              <a:srgbClr val="111B31"/>
            </a:solidFill>
            <a:prstDash val="solid"/>
          </a:ln>
        </p:spPr>
      </p:sp>
      <p:sp>
        <p:nvSpPr>
          <p:cNvPr id="240" name="Shape 238"/>
          <p:cNvSpPr/>
          <p:nvPr/>
        </p:nvSpPr>
        <p:spPr>
          <a:xfrm>
            <a:off x="10776204" y="3845052"/>
            <a:ext cx="237744" cy="182880"/>
          </a:xfrm>
          <a:prstGeom prst="rect">
            <a:avLst/>
          </a:prstGeom>
          <a:solidFill>
            <a:srgbClr val="111B31"/>
          </a:solidFill>
          <a:ln w="12700">
            <a:solidFill>
              <a:srgbClr val="111B31"/>
            </a:solidFill>
            <a:prstDash val="solid"/>
          </a:ln>
        </p:spPr>
      </p:sp>
      <p:sp>
        <p:nvSpPr>
          <p:cNvPr id="241" name="Shape 239"/>
          <p:cNvSpPr/>
          <p:nvPr/>
        </p:nvSpPr>
        <p:spPr>
          <a:xfrm>
            <a:off x="11045952" y="3845052"/>
            <a:ext cx="237744" cy="182880"/>
          </a:xfrm>
          <a:prstGeom prst="rect">
            <a:avLst/>
          </a:prstGeom>
          <a:solidFill>
            <a:srgbClr val="111B31"/>
          </a:solidFill>
          <a:ln w="12700">
            <a:solidFill>
              <a:srgbClr val="111B31"/>
            </a:solidFill>
            <a:prstDash val="solid"/>
          </a:ln>
        </p:spPr>
      </p:sp>
      <p:sp>
        <p:nvSpPr>
          <p:cNvPr id="242" name="Shape 240"/>
          <p:cNvSpPr/>
          <p:nvPr/>
        </p:nvSpPr>
        <p:spPr>
          <a:xfrm>
            <a:off x="11315700" y="3845052"/>
            <a:ext cx="237744" cy="182880"/>
          </a:xfrm>
          <a:prstGeom prst="rect">
            <a:avLst/>
          </a:prstGeom>
          <a:solidFill>
            <a:srgbClr val="111B31"/>
          </a:solidFill>
          <a:ln w="12700">
            <a:solidFill>
              <a:srgbClr val="111B31"/>
            </a:solidFill>
            <a:prstDash val="solid"/>
          </a:ln>
        </p:spPr>
      </p:sp>
      <p:sp>
        <p:nvSpPr>
          <p:cNvPr id="243" name="Shape 241"/>
          <p:cNvSpPr/>
          <p:nvPr/>
        </p:nvSpPr>
        <p:spPr>
          <a:xfrm>
            <a:off x="7269480" y="4059936"/>
            <a:ext cx="237744" cy="182880"/>
          </a:xfrm>
          <a:prstGeom prst="rect">
            <a:avLst/>
          </a:prstGeom>
          <a:solidFill>
            <a:srgbClr val="111B31"/>
          </a:solidFill>
          <a:ln w="12700">
            <a:solidFill>
              <a:srgbClr val="111B31"/>
            </a:solidFill>
            <a:prstDash val="solid"/>
          </a:ln>
        </p:spPr>
      </p:sp>
      <p:sp>
        <p:nvSpPr>
          <p:cNvPr id="244" name="Shape 242"/>
          <p:cNvSpPr/>
          <p:nvPr/>
        </p:nvSpPr>
        <p:spPr>
          <a:xfrm>
            <a:off x="7539228" y="4059936"/>
            <a:ext cx="237744" cy="182880"/>
          </a:xfrm>
          <a:prstGeom prst="rect">
            <a:avLst/>
          </a:prstGeom>
          <a:solidFill>
            <a:srgbClr val="111B31"/>
          </a:solidFill>
          <a:ln w="12700">
            <a:solidFill>
              <a:srgbClr val="111B31"/>
            </a:solidFill>
            <a:prstDash val="solid"/>
          </a:ln>
        </p:spPr>
      </p:sp>
      <p:sp>
        <p:nvSpPr>
          <p:cNvPr id="245" name="Shape 243"/>
          <p:cNvSpPr/>
          <p:nvPr/>
        </p:nvSpPr>
        <p:spPr>
          <a:xfrm>
            <a:off x="7808976" y="4059936"/>
            <a:ext cx="237744" cy="182880"/>
          </a:xfrm>
          <a:prstGeom prst="rect">
            <a:avLst/>
          </a:prstGeom>
          <a:solidFill>
            <a:srgbClr val="111B31"/>
          </a:solidFill>
          <a:ln w="12700">
            <a:solidFill>
              <a:srgbClr val="111B31"/>
            </a:solidFill>
            <a:prstDash val="solid"/>
          </a:ln>
        </p:spPr>
      </p:sp>
      <p:sp>
        <p:nvSpPr>
          <p:cNvPr id="246" name="Shape 244"/>
          <p:cNvSpPr/>
          <p:nvPr/>
        </p:nvSpPr>
        <p:spPr>
          <a:xfrm>
            <a:off x="8078724" y="4059936"/>
            <a:ext cx="237744" cy="182880"/>
          </a:xfrm>
          <a:prstGeom prst="rect">
            <a:avLst/>
          </a:prstGeom>
          <a:solidFill>
            <a:srgbClr val="111B31"/>
          </a:solidFill>
          <a:ln w="12700">
            <a:solidFill>
              <a:srgbClr val="111B31"/>
            </a:solidFill>
            <a:prstDash val="solid"/>
          </a:ln>
        </p:spPr>
      </p:sp>
      <p:sp>
        <p:nvSpPr>
          <p:cNvPr id="247" name="Shape 245"/>
          <p:cNvSpPr/>
          <p:nvPr/>
        </p:nvSpPr>
        <p:spPr>
          <a:xfrm>
            <a:off x="8348472" y="4059936"/>
            <a:ext cx="237744" cy="182880"/>
          </a:xfrm>
          <a:prstGeom prst="rect">
            <a:avLst/>
          </a:prstGeom>
          <a:solidFill>
            <a:srgbClr val="5B8DEF">
              <a:alpha val="38000"/>
            </a:srgbClr>
          </a:solidFill>
          <a:ln w="12700">
            <a:solidFill>
              <a:srgbClr val="5B8DEF"/>
            </a:solidFill>
            <a:prstDash val="solid"/>
          </a:ln>
        </p:spPr>
      </p:sp>
      <p:sp>
        <p:nvSpPr>
          <p:cNvPr id="248" name="Shape 246"/>
          <p:cNvSpPr/>
          <p:nvPr/>
        </p:nvSpPr>
        <p:spPr>
          <a:xfrm>
            <a:off x="8618220" y="4059936"/>
            <a:ext cx="237744" cy="182880"/>
          </a:xfrm>
          <a:prstGeom prst="rect">
            <a:avLst/>
          </a:prstGeom>
          <a:solidFill>
            <a:srgbClr val="3A4E7A"/>
          </a:solidFill>
          <a:ln w="12700">
            <a:solidFill>
              <a:srgbClr val="3A4E7A"/>
            </a:solidFill>
            <a:prstDash val="solid"/>
          </a:ln>
        </p:spPr>
      </p:sp>
      <p:sp>
        <p:nvSpPr>
          <p:cNvPr id="249" name="Shape 247"/>
          <p:cNvSpPr/>
          <p:nvPr/>
        </p:nvSpPr>
        <p:spPr>
          <a:xfrm>
            <a:off x="8887968" y="4059936"/>
            <a:ext cx="237744" cy="182880"/>
          </a:xfrm>
          <a:prstGeom prst="rect">
            <a:avLst/>
          </a:prstGeom>
          <a:solidFill>
            <a:srgbClr val="FFB020"/>
          </a:solidFill>
          <a:ln w="12700">
            <a:solidFill>
              <a:srgbClr val="FFB020"/>
            </a:solidFill>
            <a:prstDash val="solid"/>
          </a:ln>
        </p:spPr>
      </p:sp>
      <p:sp>
        <p:nvSpPr>
          <p:cNvPr id="250" name="Shape 248"/>
          <p:cNvSpPr/>
          <p:nvPr/>
        </p:nvSpPr>
        <p:spPr>
          <a:xfrm>
            <a:off x="9157716" y="4059936"/>
            <a:ext cx="237744" cy="182880"/>
          </a:xfrm>
          <a:prstGeom prst="rect">
            <a:avLst/>
          </a:prstGeom>
          <a:solidFill>
            <a:srgbClr val="111B31"/>
          </a:solidFill>
          <a:ln w="12700">
            <a:solidFill>
              <a:srgbClr val="111B31"/>
            </a:solidFill>
            <a:prstDash val="solid"/>
          </a:ln>
        </p:spPr>
      </p:sp>
      <p:sp>
        <p:nvSpPr>
          <p:cNvPr id="251" name="Shape 249"/>
          <p:cNvSpPr/>
          <p:nvPr/>
        </p:nvSpPr>
        <p:spPr>
          <a:xfrm>
            <a:off x="9427464" y="4059936"/>
            <a:ext cx="237744" cy="182880"/>
          </a:xfrm>
          <a:prstGeom prst="rect">
            <a:avLst/>
          </a:prstGeom>
          <a:solidFill>
            <a:srgbClr val="111B31"/>
          </a:solidFill>
          <a:ln w="12700">
            <a:solidFill>
              <a:srgbClr val="111B31"/>
            </a:solidFill>
            <a:prstDash val="solid"/>
          </a:ln>
        </p:spPr>
      </p:sp>
      <p:sp>
        <p:nvSpPr>
          <p:cNvPr id="252" name="Shape 250"/>
          <p:cNvSpPr/>
          <p:nvPr/>
        </p:nvSpPr>
        <p:spPr>
          <a:xfrm>
            <a:off x="9697212" y="4059936"/>
            <a:ext cx="237744" cy="182880"/>
          </a:xfrm>
          <a:prstGeom prst="rect">
            <a:avLst/>
          </a:prstGeom>
          <a:solidFill>
            <a:srgbClr val="111B31"/>
          </a:solidFill>
          <a:ln w="12700">
            <a:solidFill>
              <a:srgbClr val="111B31"/>
            </a:solidFill>
            <a:prstDash val="solid"/>
          </a:ln>
        </p:spPr>
      </p:sp>
      <p:sp>
        <p:nvSpPr>
          <p:cNvPr id="253" name="Shape 251"/>
          <p:cNvSpPr/>
          <p:nvPr/>
        </p:nvSpPr>
        <p:spPr>
          <a:xfrm>
            <a:off x="9966960" y="4059936"/>
            <a:ext cx="237744" cy="182880"/>
          </a:xfrm>
          <a:prstGeom prst="rect">
            <a:avLst/>
          </a:prstGeom>
          <a:solidFill>
            <a:srgbClr val="5B8DEF">
              <a:alpha val="38000"/>
            </a:srgbClr>
          </a:solidFill>
          <a:ln w="12700">
            <a:solidFill>
              <a:srgbClr val="5B8DEF"/>
            </a:solidFill>
            <a:prstDash val="solid"/>
          </a:ln>
        </p:spPr>
      </p:sp>
      <p:sp>
        <p:nvSpPr>
          <p:cNvPr id="254" name="Shape 252"/>
          <p:cNvSpPr/>
          <p:nvPr/>
        </p:nvSpPr>
        <p:spPr>
          <a:xfrm>
            <a:off x="10236708" y="4059936"/>
            <a:ext cx="237744" cy="182880"/>
          </a:xfrm>
          <a:prstGeom prst="rect">
            <a:avLst/>
          </a:prstGeom>
          <a:solidFill>
            <a:srgbClr val="5B8DEF">
              <a:alpha val="38000"/>
            </a:srgbClr>
          </a:solidFill>
          <a:ln w="12700">
            <a:solidFill>
              <a:srgbClr val="5B8DEF"/>
            </a:solidFill>
            <a:prstDash val="solid"/>
          </a:ln>
        </p:spPr>
      </p:sp>
      <p:sp>
        <p:nvSpPr>
          <p:cNvPr id="255" name="Shape 253"/>
          <p:cNvSpPr/>
          <p:nvPr/>
        </p:nvSpPr>
        <p:spPr>
          <a:xfrm>
            <a:off x="10506456" y="4059936"/>
            <a:ext cx="237744" cy="182880"/>
          </a:xfrm>
          <a:prstGeom prst="rect">
            <a:avLst/>
          </a:prstGeom>
          <a:solidFill>
            <a:srgbClr val="5B8DEF">
              <a:alpha val="38000"/>
            </a:srgbClr>
          </a:solidFill>
          <a:ln w="12700">
            <a:solidFill>
              <a:srgbClr val="5B8DEF"/>
            </a:solidFill>
            <a:prstDash val="solid"/>
          </a:ln>
        </p:spPr>
      </p:sp>
      <p:sp>
        <p:nvSpPr>
          <p:cNvPr id="256" name="Shape 254"/>
          <p:cNvSpPr/>
          <p:nvPr/>
        </p:nvSpPr>
        <p:spPr>
          <a:xfrm>
            <a:off x="10776204" y="4059936"/>
            <a:ext cx="237744" cy="182880"/>
          </a:xfrm>
          <a:prstGeom prst="rect">
            <a:avLst/>
          </a:prstGeom>
          <a:solidFill>
            <a:srgbClr val="5B8DEF">
              <a:alpha val="38000"/>
            </a:srgbClr>
          </a:solidFill>
          <a:ln w="12700">
            <a:solidFill>
              <a:srgbClr val="5B8DEF"/>
            </a:solidFill>
            <a:prstDash val="solid"/>
          </a:ln>
        </p:spPr>
      </p:sp>
      <p:sp>
        <p:nvSpPr>
          <p:cNvPr id="257" name="Shape 255"/>
          <p:cNvSpPr/>
          <p:nvPr/>
        </p:nvSpPr>
        <p:spPr>
          <a:xfrm>
            <a:off x="11045952" y="4059936"/>
            <a:ext cx="237744" cy="182880"/>
          </a:xfrm>
          <a:prstGeom prst="rect">
            <a:avLst/>
          </a:prstGeom>
          <a:solidFill>
            <a:srgbClr val="5B8DEF">
              <a:alpha val="38000"/>
            </a:srgbClr>
          </a:solidFill>
          <a:ln w="12700">
            <a:solidFill>
              <a:srgbClr val="5B8DEF"/>
            </a:solidFill>
            <a:prstDash val="solid"/>
          </a:ln>
        </p:spPr>
      </p:sp>
      <p:sp>
        <p:nvSpPr>
          <p:cNvPr id="258" name="Shape 256"/>
          <p:cNvSpPr/>
          <p:nvPr/>
        </p:nvSpPr>
        <p:spPr>
          <a:xfrm>
            <a:off x="11315700" y="4059936"/>
            <a:ext cx="237744" cy="182880"/>
          </a:xfrm>
          <a:prstGeom prst="rect">
            <a:avLst/>
          </a:prstGeom>
          <a:solidFill>
            <a:srgbClr val="111B31"/>
          </a:solidFill>
          <a:ln w="12700">
            <a:solidFill>
              <a:srgbClr val="111B31"/>
            </a:solidFill>
            <a:prstDash val="solid"/>
          </a:ln>
        </p:spPr>
      </p:sp>
      <p:sp>
        <p:nvSpPr>
          <p:cNvPr id="259" name="Shape 257"/>
          <p:cNvSpPr/>
          <p:nvPr/>
        </p:nvSpPr>
        <p:spPr>
          <a:xfrm>
            <a:off x="7269480" y="4274820"/>
            <a:ext cx="237744" cy="182880"/>
          </a:xfrm>
          <a:prstGeom prst="rect">
            <a:avLst/>
          </a:prstGeom>
          <a:solidFill>
            <a:srgbClr val="5B8DEF">
              <a:alpha val="38000"/>
            </a:srgbClr>
          </a:solidFill>
          <a:ln w="12700">
            <a:solidFill>
              <a:srgbClr val="5B8DEF"/>
            </a:solidFill>
            <a:prstDash val="solid"/>
          </a:ln>
        </p:spPr>
      </p:sp>
      <p:sp>
        <p:nvSpPr>
          <p:cNvPr id="260" name="Shape 258"/>
          <p:cNvSpPr/>
          <p:nvPr/>
        </p:nvSpPr>
        <p:spPr>
          <a:xfrm>
            <a:off x="7539228" y="4274820"/>
            <a:ext cx="237744" cy="182880"/>
          </a:xfrm>
          <a:prstGeom prst="rect">
            <a:avLst/>
          </a:prstGeom>
          <a:solidFill>
            <a:srgbClr val="111B31"/>
          </a:solidFill>
          <a:ln w="12700">
            <a:solidFill>
              <a:srgbClr val="111B31"/>
            </a:solidFill>
            <a:prstDash val="solid"/>
          </a:ln>
        </p:spPr>
      </p:sp>
      <p:sp>
        <p:nvSpPr>
          <p:cNvPr id="261" name="Shape 259"/>
          <p:cNvSpPr/>
          <p:nvPr/>
        </p:nvSpPr>
        <p:spPr>
          <a:xfrm>
            <a:off x="7808976" y="4274820"/>
            <a:ext cx="237744" cy="182880"/>
          </a:xfrm>
          <a:prstGeom prst="rect">
            <a:avLst/>
          </a:prstGeom>
          <a:solidFill>
            <a:srgbClr val="5B8DEF">
              <a:alpha val="38000"/>
            </a:srgbClr>
          </a:solidFill>
          <a:ln w="12700">
            <a:solidFill>
              <a:srgbClr val="5B8DEF"/>
            </a:solidFill>
            <a:prstDash val="solid"/>
          </a:ln>
        </p:spPr>
      </p:sp>
      <p:sp>
        <p:nvSpPr>
          <p:cNvPr id="262" name="Shape 260"/>
          <p:cNvSpPr/>
          <p:nvPr/>
        </p:nvSpPr>
        <p:spPr>
          <a:xfrm>
            <a:off x="8078724" y="4274820"/>
            <a:ext cx="237744" cy="182880"/>
          </a:xfrm>
          <a:prstGeom prst="rect">
            <a:avLst/>
          </a:prstGeom>
          <a:solidFill>
            <a:srgbClr val="111B31"/>
          </a:solidFill>
          <a:ln w="12700">
            <a:solidFill>
              <a:srgbClr val="111B31"/>
            </a:solidFill>
            <a:prstDash val="solid"/>
          </a:ln>
        </p:spPr>
      </p:sp>
      <p:sp>
        <p:nvSpPr>
          <p:cNvPr id="263" name="Shape 261"/>
          <p:cNvSpPr/>
          <p:nvPr/>
        </p:nvSpPr>
        <p:spPr>
          <a:xfrm>
            <a:off x="8348472" y="4274820"/>
            <a:ext cx="237744" cy="182880"/>
          </a:xfrm>
          <a:prstGeom prst="rect">
            <a:avLst/>
          </a:prstGeom>
          <a:solidFill>
            <a:srgbClr val="111B31"/>
          </a:solidFill>
          <a:ln w="12700">
            <a:solidFill>
              <a:srgbClr val="111B31"/>
            </a:solidFill>
            <a:prstDash val="solid"/>
          </a:ln>
        </p:spPr>
      </p:sp>
      <p:sp>
        <p:nvSpPr>
          <p:cNvPr id="264" name="Shape 262"/>
          <p:cNvSpPr/>
          <p:nvPr/>
        </p:nvSpPr>
        <p:spPr>
          <a:xfrm>
            <a:off x="8618220" y="4274820"/>
            <a:ext cx="237744" cy="182880"/>
          </a:xfrm>
          <a:prstGeom prst="rect">
            <a:avLst/>
          </a:prstGeom>
          <a:solidFill>
            <a:srgbClr val="FFB020"/>
          </a:solidFill>
          <a:ln w="12700">
            <a:solidFill>
              <a:srgbClr val="FFB020"/>
            </a:solidFill>
            <a:prstDash val="solid"/>
          </a:ln>
        </p:spPr>
      </p:sp>
      <p:sp>
        <p:nvSpPr>
          <p:cNvPr id="265" name="Shape 263"/>
          <p:cNvSpPr/>
          <p:nvPr/>
        </p:nvSpPr>
        <p:spPr>
          <a:xfrm>
            <a:off x="8887968" y="4274820"/>
            <a:ext cx="237744" cy="182880"/>
          </a:xfrm>
          <a:prstGeom prst="rect">
            <a:avLst/>
          </a:prstGeom>
          <a:solidFill>
            <a:srgbClr val="3A4E7A"/>
          </a:solidFill>
          <a:ln w="12700">
            <a:solidFill>
              <a:srgbClr val="3A4E7A"/>
            </a:solidFill>
            <a:prstDash val="solid"/>
          </a:ln>
        </p:spPr>
      </p:sp>
      <p:sp>
        <p:nvSpPr>
          <p:cNvPr id="266" name="Shape 264"/>
          <p:cNvSpPr/>
          <p:nvPr/>
        </p:nvSpPr>
        <p:spPr>
          <a:xfrm>
            <a:off x="9157716" y="4274820"/>
            <a:ext cx="237744" cy="182880"/>
          </a:xfrm>
          <a:prstGeom prst="rect">
            <a:avLst/>
          </a:prstGeom>
          <a:solidFill>
            <a:srgbClr val="5B8DEF">
              <a:alpha val="38000"/>
            </a:srgbClr>
          </a:solidFill>
          <a:ln w="12700">
            <a:solidFill>
              <a:srgbClr val="5B8DEF"/>
            </a:solidFill>
            <a:prstDash val="solid"/>
          </a:ln>
        </p:spPr>
      </p:sp>
      <p:sp>
        <p:nvSpPr>
          <p:cNvPr id="267" name="Shape 265"/>
          <p:cNvSpPr/>
          <p:nvPr/>
        </p:nvSpPr>
        <p:spPr>
          <a:xfrm>
            <a:off x="9427464" y="4274820"/>
            <a:ext cx="237744" cy="182880"/>
          </a:xfrm>
          <a:prstGeom prst="rect">
            <a:avLst/>
          </a:prstGeom>
          <a:solidFill>
            <a:srgbClr val="5B8DEF">
              <a:alpha val="38000"/>
            </a:srgbClr>
          </a:solidFill>
          <a:ln w="12700">
            <a:solidFill>
              <a:srgbClr val="5B8DEF"/>
            </a:solidFill>
            <a:prstDash val="solid"/>
          </a:ln>
        </p:spPr>
      </p:sp>
      <p:sp>
        <p:nvSpPr>
          <p:cNvPr id="268" name="Shape 266"/>
          <p:cNvSpPr/>
          <p:nvPr/>
        </p:nvSpPr>
        <p:spPr>
          <a:xfrm>
            <a:off x="9697212" y="4274820"/>
            <a:ext cx="237744" cy="182880"/>
          </a:xfrm>
          <a:prstGeom prst="rect">
            <a:avLst/>
          </a:prstGeom>
          <a:solidFill>
            <a:srgbClr val="111B31"/>
          </a:solidFill>
          <a:ln w="12700">
            <a:solidFill>
              <a:srgbClr val="111B31"/>
            </a:solidFill>
            <a:prstDash val="solid"/>
          </a:ln>
        </p:spPr>
      </p:sp>
      <p:sp>
        <p:nvSpPr>
          <p:cNvPr id="269" name="Shape 267"/>
          <p:cNvSpPr/>
          <p:nvPr/>
        </p:nvSpPr>
        <p:spPr>
          <a:xfrm>
            <a:off x="9966960" y="4274820"/>
            <a:ext cx="237744" cy="182880"/>
          </a:xfrm>
          <a:prstGeom prst="rect">
            <a:avLst/>
          </a:prstGeom>
          <a:solidFill>
            <a:srgbClr val="111B31"/>
          </a:solidFill>
          <a:ln w="12700">
            <a:solidFill>
              <a:srgbClr val="111B31"/>
            </a:solidFill>
            <a:prstDash val="solid"/>
          </a:ln>
        </p:spPr>
      </p:sp>
      <p:sp>
        <p:nvSpPr>
          <p:cNvPr id="270" name="Shape 268"/>
          <p:cNvSpPr/>
          <p:nvPr/>
        </p:nvSpPr>
        <p:spPr>
          <a:xfrm>
            <a:off x="10236708" y="4274820"/>
            <a:ext cx="237744" cy="182880"/>
          </a:xfrm>
          <a:prstGeom prst="rect">
            <a:avLst/>
          </a:prstGeom>
          <a:solidFill>
            <a:srgbClr val="111B31"/>
          </a:solidFill>
          <a:ln w="12700">
            <a:solidFill>
              <a:srgbClr val="111B31"/>
            </a:solidFill>
            <a:prstDash val="solid"/>
          </a:ln>
        </p:spPr>
      </p:sp>
      <p:sp>
        <p:nvSpPr>
          <p:cNvPr id="271" name="Shape 269"/>
          <p:cNvSpPr/>
          <p:nvPr/>
        </p:nvSpPr>
        <p:spPr>
          <a:xfrm>
            <a:off x="10506456" y="4274820"/>
            <a:ext cx="237744" cy="182880"/>
          </a:xfrm>
          <a:prstGeom prst="rect">
            <a:avLst/>
          </a:prstGeom>
          <a:solidFill>
            <a:srgbClr val="111B31"/>
          </a:solidFill>
          <a:ln w="12700">
            <a:solidFill>
              <a:srgbClr val="111B31"/>
            </a:solidFill>
            <a:prstDash val="solid"/>
          </a:ln>
        </p:spPr>
      </p:sp>
      <p:sp>
        <p:nvSpPr>
          <p:cNvPr id="272" name="Shape 270"/>
          <p:cNvSpPr/>
          <p:nvPr/>
        </p:nvSpPr>
        <p:spPr>
          <a:xfrm>
            <a:off x="10776204" y="4274820"/>
            <a:ext cx="237744" cy="182880"/>
          </a:xfrm>
          <a:prstGeom prst="rect">
            <a:avLst/>
          </a:prstGeom>
          <a:solidFill>
            <a:srgbClr val="111B31"/>
          </a:solidFill>
          <a:ln w="12700">
            <a:solidFill>
              <a:srgbClr val="111B31"/>
            </a:solidFill>
            <a:prstDash val="solid"/>
          </a:ln>
        </p:spPr>
      </p:sp>
      <p:sp>
        <p:nvSpPr>
          <p:cNvPr id="273" name="Shape 271"/>
          <p:cNvSpPr/>
          <p:nvPr/>
        </p:nvSpPr>
        <p:spPr>
          <a:xfrm>
            <a:off x="11045952" y="4274820"/>
            <a:ext cx="237744" cy="182880"/>
          </a:xfrm>
          <a:prstGeom prst="rect">
            <a:avLst/>
          </a:prstGeom>
          <a:solidFill>
            <a:srgbClr val="111B31"/>
          </a:solidFill>
          <a:ln w="12700">
            <a:solidFill>
              <a:srgbClr val="111B31"/>
            </a:solidFill>
            <a:prstDash val="solid"/>
          </a:ln>
        </p:spPr>
      </p:sp>
      <p:sp>
        <p:nvSpPr>
          <p:cNvPr id="274" name="Shape 272"/>
          <p:cNvSpPr/>
          <p:nvPr/>
        </p:nvSpPr>
        <p:spPr>
          <a:xfrm>
            <a:off x="11315700" y="4274820"/>
            <a:ext cx="237744" cy="182880"/>
          </a:xfrm>
          <a:prstGeom prst="rect">
            <a:avLst/>
          </a:prstGeom>
          <a:solidFill>
            <a:srgbClr val="111B31"/>
          </a:solidFill>
          <a:ln w="12700">
            <a:solidFill>
              <a:srgbClr val="111B31"/>
            </a:solidFill>
            <a:prstDash val="solid"/>
          </a:ln>
        </p:spPr>
      </p:sp>
      <p:sp>
        <p:nvSpPr>
          <p:cNvPr id="275" name="Shape 273"/>
          <p:cNvSpPr/>
          <p:nvPr/>
        </p:nvSpPr>
        <p:spPr>
          <a:xfrm>
            <a:off x="7269480" y="4663440"/>
            <a:ext cx="146304" cy="146304"/>
          </a:xfrm>
          <a:prstGeom prst="rect">
            <a:avLst/>
          </a:prstGeom>
          <a:solidFill>
            <a:srgbClr val="FFB020"/>
          </a:solidFill>
          <a:ln w="12700">
            <a:solidFill>
              <a:srgbClr val="FFB020"/>
            </a:solidFill>
            <a:prstDash val="solid"/>
          </a:ln>
        </p:spPr>
      </p:sp>
      <p:sp>
        <p:nvSpPr>
          <p:cNvPr id="276" name="Text 274"/>
          <p:cNvSpPr txBox="1"/>
          <p:nvPr/>
        </p:nvSpPr>
        <p:spPr>
          <a:xfrm>
            <a:off x="7488936" y="4617720"/>
            <a:ext cx="4206240" cy="237744"/>
          </a:xfrm>
          <a:prstGeom prst="rect">
            <a:avLst/>
          </a:prstGeom>
          <a:noFill/>
          <a:ln/>
        </p:spPr>
        <p:txBody>
          <a:bodyPr wrap="square" lIns="0" tIns="0" rIns="0" bIns="0" rtlCol="0" anchor="ctr"/>
          <a:lstStyle/>
          <a:p>
            <a:pPr indent="0" marL="0">
              <a:buNone/>
            </a:pPr>
            <a:r>
              <a:rPr lang="en-US" sz="1000" dirty="0">
                <a:solidFill>
                  <a:srgbClr val="9DB0D0"/>
                </a:solidFill>
                <a:latin typeface="Calibri" pitchFamily="34" charset="0"/>
                <a:ea typeface="Calibri" pitchFamily="34" charset="-122"/>
                <a:cs typeface="Calibri" pitchFamily="34" charset="-120"/>
              </a:rPr>
              <a:t>Heard — receiver tuned here, emitter active</a:t>
            </a:r>
            <a:endParaRPr lang="en-US" sz="1000" dirty="0"/>
          </a:p>
        </p:txBody>
      </p:sp>
      <p:sp>
        <p:nvSpPr>
          <p:cNvPr id="277" name="Shape 275"/>
          <p:cNvSpPr/>
          <p:nvPr/>
        </p:nvSpPr>
        <p:spPr>
          <a:xfrm>
            <a:off x="7269480" y="4965192"/>
            <a:ext cx="146304" cy="146304"/>
          </a:xfrm>
          <a:prstGeom prst="rect">
            <a:avLst/>
          </a:prstGeom>
          <a:solidFill>
            <a:srgbClr val="3A4E7A"/>
          </a:solidFill>
          <a:ln w="12700">
            <a:solidFill>
              <a:srgbClr val="3A4E7A"/>
            </a:solidFill>
            <a:prstDash val="solid"/>
          </a:ln>
        </p:spPr>
      </p:sp>
      <p:sp>
        <p:nvSpPr>
          <p:cNvPr id="278" name="Text 276"/>
          <p:cNvSpPr txBox="1"/>
          <p:nvPr/>
        </p:nvSpPr>
        <p:spPr>
          <a:xfrm>
            <a:off x="7488936" y="4919472"/>
            <a:ext cx="4206240" cy="237744"/>
          </a:xfrm>
          <a:prstGeom prst="rect">
            <a:avLst/>
          </a:prstGeom>
          <a:noFill/>
          <a:ln/>
        </p:spPr>
        <p:txBody>
          <a:bodyPr wrap="square" lIns="0" tIns="0" rIns="0" bIns="0" rtlCol="0" anchor="ctr"/>
          <a:lstStyle/>
          <a:p>
            <a:pPr indent="0" marL="0">
              <a:buNone/>
            </a:pPr>
            <a:r>
              <a:rPr lang="en-US" sz="1000" dirty="0">
                <a:solidFill>
                  <a:srgbClr val="9DB0D0"/>
                </a:solidFill>
                <a:latin typeface="Calibri" pitchFamily="34" charset="0"/>
                <a:ea typeface="Calibri" pitchFamily="34" charset="-122"/>
                <a:cs typeface="Calibri" pitchFamily="34" charset="-120"/>
              </a:rPr>
              <a:t>Tuned, but the band was quiet</a:t>
            </a:r>
            <a:endParaRPr lang="en-US" sz="1000" dirty="0"/>
          </a:p>
        </p:txBody>
      </p:sp>
      <p:sp>
        <p:nvSpPr>
          <p:cNvPr id="279" name="Shape 277"/>
          <p:cNvSpPr/>
          <p:nvPr/>
        </p:nvSpPr>
        <p:spPr>
          <a:xfrm>
            <a:off x="7269480" y="5266944"/>
            <a:ext cx="146304" cy="146304"/>
          </a:xfrm>
          <a:prstGeom prst="rect">
            <a:avLst/>
          </a:prstGeom>
          <a:solidFill>
            <a:srgbClr val="5B8DEF"/>
          </a:solidFill>
          <a:ln w="12700">
            <a:solidFill>
              <a:srgbClr val="5B8DEF"/>
            </a:solidFill>
            <a:prstDash val="solid"/>
          </a:ln>
        </p:spPr>
      </p:sp>
      <p:sp>
        <p:nvSpPr>
          <p:cNvPr id="280" name="Text 278"/>
          <p:cNvSpPr txBox="1"/>
          <p:nvPr/>
        </p:nvSpPr>
        <p:spPr>
          <a:xfrm>
            <a:off x="7488936" y="5221224"/>
            <a:ext cx="4206240" cy="237744"/>
          </a:xfrm>
          <a:prstGeom prst="rect">
            <a:avLst/>
          </a:prstGeom>
          <a:noFill/>
          <a:ln/>
        </p:spPr>
        <p:txBody>
          <a:bodyPr wrap="square" lIns="0" tIns="0" rIns="0" bIns="0" rtlCol="0" anchor="ctr"/>
          <a:lstStyle/>
          <a:p>
            <a:pPr indent="0" marL="0">
              <a:buNone/>
            </a:pPr>
            <a:r>
              <a:rPr lang="en-US" sz="1000" dirty="0">
                <a:solidFill>
                  <a:srgbClr val="9DB0D0"/>
                </a:solidFill>
                <a:latin typeface="Calibri" pitchFamily="34" charset="0"/>
                <a:ea typeface="Calibri" pitchFamily="34" charset="-122"/>
                <a:cs typeface="Calibri" pitchFamily="34" charset="-120"/>
              </a:rPr>
              <a:t>Active, and missed — nobody was listening</a:t>
            </a:r>
            <a:endParaRPr lang="en-US" sz="1000" dirty="0"/>
          </a:p>
        </p:txBody>
      </p:sp>
      <p:sp>
        <p:nvSpPr>
          <p:cNvPr id="281" name="Text 279"/>
          <p:cNvSpPr txBox="1"/>
          <p:nvPr/>
        </p:nvSpPr>
        <p:spPr>
          <a:xfrm>
            <a:off x="7269480" y="5596128"/>
            <a:ext cx="4572000" cy="274320"/>
          </a:xfrm>
          <a:prstGeom prst="rect">
            <a:avLst/>
          </a:prstGeom>
          <a:noFill/>
          <a:ln/>
        </p:spPr>
        <p:txBody>
          <a:bodyPr wrap="square" lIns="0" tIns="0" rIns="0" bIns="0" rtlCol="0" anchor="ctr"/>
          <a:lstStyle/>
          <a:p>
            <a:pPr indent="0" marL="0">
              <a:buNone/>
            </a:pPr>
            <a:r>
              <a:rPr lang="en-US" sz="1000" i="1" dirty="0">
                <a:solidFill>
                  <a:srgbClr val="6A7DA0"/>
                </a:solidFill>
                <a:latin typeface="Calibri" pitchFamily="34" charset="0"/>
                <a:ea typeface="Calibri" pitchFamily="34" charset="-122"/>
                <a:cs typeface="Calibri" pitchFamily="34" charset="-120"/>
              </a:rPr>
              <a:t>16 bands across  ·  time flowing down  ·  K = 2 tuned at any instant</a:t>
            </a:r>
            <a:endParaRPr lang="en-US" sz="1000" dirty="0"/>
          </a:p>
        </p:txBody>
      </p:sp>
      <p:sp>
        <p:nvSpPr>
          <p:cNvPr id="282" name="Text 280"/>
          <p:cNvSpPr txBox="1"/>
          <p:nvPr/>
        </p:nvSpPr>
        <p:spPr>
          <a:xfrm>
            <a:off x="502920" y="6272784"/>
            <a:ext cx="7772400" cy="274320"/>
          </a:xfrm>
          <a:prstGeom prst="rect">
            <a:avLst/>
          </a:prstGeom>
          <a:noFill/>
          <a:ln/>
        </p:spPr>
        <p:txBody>
          <a:bodyPr wrap="square" lIns="0" tIns="0" rIns="0" bIns="0" rtlCol="0" anchor="ctr"/>
          <a:lstStyle/>
          <a:p>
            <a:pPr indent="0" marL="0">
              <a:buNone/>
            </a:pPr>
            <a:r>
              <a:rPr lang="en-US" sz="1050" dirty="0">
                <a:solidFill>
                  <a:srgbClr val="6A7DA0"/>
                </a:solidFill>
                <a:latin typeface="Calibri" pitchFamily="34" charset="0"/>
                <a:ea typeface="Calibri" pitchFamily="34" charset="-122"/>
                <a:cs typeface="Calibri" pitchFamily="34" charset="-120"/>
              </a:rPr>
              <a:t>Simulation-only.  No RF hardware, no interception, no jamming, no weapon control.</a:t>
            </a:r>
            <a:endParaRPr lang="en-US" sz="1050" dirty="0"/>
          </a:p>
        </p:txBody>
      </p:sp>
      <p:sp>
        <p:nvSpPr>
          <p:cNvPr id="284" name="Text 281"/>
          <p:cNvSpPr txBox="1"/>
          <p:nvPr/>
        </p:nvSpPr>
        <p:spPr>
          <a:xfrm>
            <a:off x="11140135" y="6355080"/>
            <a:ext cx="548640" cy="274320"/>
          </a:xfrm>
          <a:prstGeom prst="rect">
            <a:avLst/>
          </a:prstGeom>
          <a:noFill/>
          <a:ln/>
        </p:spPr>
        <p:txBody>
          <a:bodyPr wrap="square" lIns="0" tIns="0" rIns="0" bIns="0" rtlCol="0" anchor="ctr"/>
          <a:lstStyle/>
          <a:p>
            <a:pPr algn="r" indent="0" marL="0">
              <a:buNone/>
            </a:pPr>
            <a:r>
              <a:rPr lang="en-US" sz="1000" dirty="0">
                <a:solidFill>
                  <a:srgbClr val="6A7DA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100" b="1" spc="240" kern="0" dirty="0">
                <a:solidFill>
                  <a:srgbClr val="FFB020"/>
                </a:solidFill>
                <a:latin typeface="Calibri" pitchFamily="34" charset="0"/>
                <a:ea typeface="Calibri" pitchFamily="34" charset="-122"/>
                <a:cs typeface="Calibri" pitchFamily="34" charset="-120"/>
              </a:rPr>
              <a:t>PROPOSED SOLUTION</a:t>
            </a:r>
            <a:endParaRPr lang="en-US" sz="1100" dirty="0"/>
          </a:p>
        </p:txBody>
      </p:sp>
      <p:sp>
        <p:nvSpPr>
          <p:cNvPr id="3" name="Text 1"/>
          <p:cNvSpPr txBox="1"/>
          <p:nvPr/>
        </p:nvSpPr>
        <p:spPr>
          <a:xfrm>
            <a:off x="502920" y="603504"/>
            <a:ext cx="11185855" cy="658368"/>
          </a:xfrm>
          <a:prstGeom prst="rect">
            <a:avLst/>
          </a:prstGeom>
          <a:noFill/>
          <a:ln/>
        </p:spPr>
        <p:txBody>
          <a:bodyPr wrap="square" lIns="0" tIns="0" rIns="0" bIns="0" rtlCol="0" anchor="ctr"/>
          <a:lstStyle/>
          <a:p>
            <a:pPr indent="0" marL="0">
              <a:buNone/>
            </a:pPr>
            <a:r>
              <a:rPr lang="en-US" sz="3400" b="1" dirty="0">
                <a:solidFill>
                  <a:srgbClr val="EAF0FA"/>
                </a:solidFill>
                <a:latin typeface="Arial" pitchFamily="34" charset="0"/>
                <a:ea typeface="Arial" pitchFamily="34" charset="-122"/>
                <a:cs typeface="Arial" pitchFamily="34" charset="-120"/>
              </a:rPr>
              <a:t>SHRUTI — learning where to listen, and when</a:t>
            </a:r>
            <a:endParaRPr lang="en-US" sz="3400" dirty="0"/>
          </a:p>
        </p:txBody>
      </p:sp>
      <p:sp>
        <p:nvSpPr>
          <p:cNvPr id="4" name="Text 2"/>
          <p:cNvSpPr txBox="1"/>
          <p:nvPr/>
        </p:nvSpPr>
        <p:spPr>
          <a:xfrm>
            <a:off x="502920" y="1225296"/>
            <a:ext cx="11185855" cy="566928"/>
          </a:xfrm>
          <a:prstGeom prst="rect">
            <a:avLst/>
          </a:prstGeom>
          <a:noFill/>
          <a:ln/>
        </p:spPr>
        <p:txBody>
          <a:bodyPr wrap="square" lIns="0" tIns="0" rIns="0" bIns="0" rtlCol="0" anchor="ctr"/>
          <a:lstStyle/>
          <a:p>
            <a:pPr indent="0" marL="0">
              <a:lnSpc>
                <a:spcPct val="105000"/>
              </a:lnSpc>
              <a:buNone/>
            </a:pPr>
            <a:r>
              <a:rPr lang="en-US" sz="1350" dirty="0">
                <a:solidFill>
                  <a:srgbClr val="9DB0D0"/>
                </a:solidFill>
                <a:latin typeface="Calibri" pitchFamily="34" charset="0"/>
                <a:ea typeface="Calibri" pitchFamily="34" charset="-122"/>
                <a:cs typeface="Calibri" pitchFamily="34" charset="-120"/>
              </a:rPr>
              <a:t>Today the receiver sweeps bands in a fixed order. </a:t>
            </a:r>
            <a:pPr indent="0" marL="0">
              <a:lnSpc>
                <a:spcPct val="105000"/>
              </a:lnSpc>
              <a:buNone/>
            </a:pPr>
            <a:r>
              <a:rPr lang="en-US" sz="1350" b="1" dirty="0">
                <a:solidFill>
                  <a:srgbClr val="EAF0FA"/>
                </a:solidFill>
                <a:latin typeface="Calibri" pitchFamily="34" charset="0"/>
                <a:ea typeface="Calibri" pitchFamily="34" charset="-122"/>
                <a:cs typeface="Calibri" pitchFamily="34" charset="-120"/>
              </a:rPr>
              <a:t>Four out of five dwells land on empty air</a:t>
            </a:r>
            <a:pPr indent="0" marL="0">
              <a:lnSpc>
                <a:spcPct val="105000"/>
              </a:lnSpc>
              <a:buNone/>
            </a:pPr>
            <a:r>
              <a:rPr lang="en-US" sz="1350" dirty="0">
                <a:solidFill>
                  <a:srgbClr val="9DB0D0"/>
                </a:solidFill>
                <a:latin typeface="Calibri" pitchFamily="34" charset="0"/>
                <a:ea typeface="Calibri" pitchFamily="34" charset="-122"/>
                <a:cs typeface="Calibri" pitchFamily="34" charset="-120"/>
              </a:rPr>
              <a:t>, and short bursts are lost between visits. SHRUTI replaces the sweep with a policy that decides, every step, which bands are worth hearing next.</a:t>
            </a:r>
            <a:endParaRPr lang="en-US" sz="1350" dirty="0"/>
          </a:p>
        </p:txBody>
      </p:sp>
      <p:sp>
        <p:nvSpPr>
          <p:cNvPr id="5" name="Shape 3"/>
          <p:cNvSpPr/>
          <p:nvPr/>
        </p:nvSpPr>
        <p:spPr>
          <a:xfrm>
            <a:off x="502920" y="1901952"/>
            <a:ext cx="6446520" cy="4160520"/>
          </a:xfrm>
          <a:prstGeom prst="roundRect">
            <a:avLst>
              <a:gd name="adj" fmla="val 1758"/>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6" name="Text 4"/>
          <p:cNvSpPr txBox="1"/>
          <p:nvPr/>
        </p:nvSpPr>
        <p:spPr>
          <a:xfrm>
            <a:off x="777240" y="2121408"/>
            <a:ext cx="594360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HOW THE SOLUTION WORKS</a:t>
            </a:r>
            <a:endParaRPr lang="en-US" sz="1050" dirty="0"/>
          </a:p>
        </p:txBody>
      </p:sp>
      <p:sp>
        <p:nvSpPr>
          <p:cNvPr id="7" name="Shape 5"/>
          <p:cNvSpPr/>
          <p:nvPr/>
        </p:nvSpPr>
        <p:spPr>
          <a:xfrm>
            <a:off x="777240" y="2505456"/>
            <a:ext cx="310896" cy="310896"/>
          </a:xfrm>
          <a:prstGeom prst="ellipse">
            <a:avLst/>
          </a:prstGeom>
          <a:solidFill>
            <a:srgbClr val="FFB020"/>
          </a:solidFill>
          <a:ln w="12700">
            <a:solidFill>
              <a:srgbClr val="FFB020"/>
            </a:solidFill>
            <a:prstDash val="solid"/>
          </a:ln>
        </p:spPr>
      </p:sp>
      <p:sp>
        <p:nvSpPr>
          <p:cNvPr id="8" name="Text 6"/>
          <p:cNvSpPr txBox="1"/>
          <p:nvPr/>
        </p:nvSpPr>
        <p:spPr>
          <a:xfrm>
            <a:off x="777240" y="2505456"/>
            <a:ext cx="310896" cy="310896"/>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1</a:t>
            </a:r>
            <a:endParaRPr lang="en-US" sz="1300" dirty="0"/>
          </a:p>
        </p:txBody>
      </p:sp>
      <p:sp>
        <p:nvSpPr>
          <p:cNvPr id="9" name="Text 7"/>
          <p:cNvSpPr txBox="1"/>
          <p:nvPr/>
        </p:nvSpPr>
        <p:spPr>
          <a:xfrm>
            <a:off x="1234440" y="2487168"/>
            <a:ext cx="5440680" cy="256032"/>
          </a:xfrm>
          <a:prstGeom prst="rect">
            <a:avLst/>
          </a:prstGeom>
          <a:noFill/>
          <a:ln/>
        </p:spPr>
        <p:txBody>
          <a:bodyPr wrap="square" lIns="0" tIns="0" rIns="0" bIns="0" rtlCol="0" anchor="ctr"/>
          <a:lstStyle/>
          <a:p>
            <a:pPr indent="0" marL="0">
              <a:buNone/>
            </a:pPr>
            <a:r>
              <a:rPr lang="en-US" sz="1350" b="1" dirty="0">
                <a:solidFill>
                  <a:srgbClr val="EAF0FA"/>
                </a:solidFill>
                <a:latin typeface="Arial" pitchFamily="34" charset="0"/>
                <a:ea typeface="Arial" pitchFamily="34" charset="-122"/>
                <a:cs typeface="Arial" pitchFamily="34" charset="-120"/>
              </a:rPr>
              <a:t>Model the spectrum</a:t>
            </a:r>
            <a:endParaRPr lang="en-US" sz="1350" dirty="0"/>
          </a:p>
        </p:txBody>
      </p:sp>
      <p:sp>
        <p:nvSpPr>
          <p:cNvPr id="10" name="Text 8"/>
          <p:cNvSpPr txBox="1"/>
          <p:nvPr/>
        </p:nvSpPr>
        <p:spPr>
          <a:xfrm>
            <a:off x="1234440" y="2724912"/>
            <a:ext cx="5440680" cy="658368"/>
          </a:xfrm>
          <a:prstGeom prst="rect">
            <a:avLst/>
          </a:prstGeom>
          <a:noFill/>
          <a:ln/>
        </p:spPr>
        <p:txBody>
          <a:bodyPr wrap="square" lIns="0" tIns="0" rIns="0" bIns="0" rtlCol="0" anchor="ctr"/>
          <a:lstStyle/>
          <a:p>
            <a:pPr indent="0" marL="0">
              <a:lnSpc>
                <a:spcPct val="100000"/>
              </a:lnSpc>
              <a:buNone/>
            </a:pPr>
            <a:r>
              <a:rPr lang="en-US" sz="1200" dirty="0">
                <a:solidFill>
                  <a:srgbClr val="9DB0D0"/>
                </a:solidFill>
                <a:latin typeface="Calibri" pitchFamily="34" charset="0"/>
                <a:ea typeface="Calibri" pitchFamily="34" charset="-122"/>
                <a:cs typeface="Calibri" pitchFamily="34" charset="-120"/>
              </a:rPr>
              <a:t>16 bands, 10 emitters across five behaviour classes — fixed, periodic, agile, random, intermittent. Deterministic by seed.</a:t>
            </a:r>
            <a:endParaRPr lang="en-US" sz="1200" dirty="0"/>
          </a:p>
        </p:txBody>
      </p:sp>
      <p:sp>
        <p:nvSpPr>
          <p:cNvPr id="11" name="Shape 9"/>
          <p:cNvSpPr/>
          <p:nvPr/>
        </p:nvSpPr>
        <p:spPr>
          <a:xfrm>
            <a:off x="777240" y="3392424"/>
            <a:ext cx="310896" cy="310896"/>
          </a:xfrm>
          <a:prstGeom prst="ellipse">
            <a:avLst/>
          </a:prstGeom>
          <a:solidFill>
            <a:srgbClr val="FFB020"/>
          </a:solidFill>
          <a:ln w="12700">
            <a:solidFill>
              <a:srgbClr val="FFB020"/>
            </a:solidFill>
            <a:prstDash val="solid"/>
          </a:ln>
        </p:spPr>
      </p:sp>
      <p:sp>
        <p:nvSpPr>
          <p:cNvPr id="12" name="Text 10"/>
          <p:cNvSpPr txBox="1"/>
          <p:nvPr/>
        </p:nvSpPr>
        <p:spPr>
          <a:xfrm>
            <a:off x="777240" y="3392424"/>
            <a:ext cx="310896" cy="310896"/>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1234440" y="3374136"/>
            <a:ext cx="5440680" cy="256032"/>
          </a:xfrm>
          <a:prstGeom prst="rect">
            <a:avLst/>
          </a:prstGeom>
          <a:noFill/>
          <a:ln/>
        </p:spPr>
        <p:txBody>
          <a:bodyPr wrap="square" lIns="0" tIns="0" rIns="0" bIns="0" rtlCol="0" anchor="ctr"/>
          <a:lstStyle/>
          <a:p>
            <a:pPr indent="0" marL="0">
              <a:buNone/>
            </a:pPr>
            <a:r>
              <a:rPr lang="en-US" sz="1350" b="1" dirty="0">
                <a:solidFill>
                  <a:srgbClr val="EAF0FA"/>
                </a:solidFill>
                <a:latin typeface="Arial" pitchFamily="34" charset="0"/>
                <a:ea typeface="Arial" pitchFamily="34" charset="-122"/>
                <a:cs typeface="Arial" pitchFamily="34" charset="-120"/>
              </a:rPr>
              <a:t>Predict the rhythm</a:t>
            </a:r>
            <a:endParaRPr lang="en-US" sz="1350" dirty="0"/>
          </a:p>
        </p:txBody>
      </p:sp>
      <p:sp>
        <p:nvSpPr>
          <p:cNvPr id="14" name="Text 12"/>
          <p:cNvSpPr txBox="1"/>
          <p:nvPr/>
        </p:nvSpPr>
        <p:spPr>
          <a:xfrm>
            <a:off x="1234440" y="3611880"/>
            <a:ext cx="5440680" cy="658368"/>
          </a:xfrm>
          <a:prstGeom prst="rect">
            <a:avLst/>
          </a:prstGeom>
          <a:noFill/>
          <a:ln/>
        </p:spPr>
        <p:txBody>
          <a:bodyPr wrap="square" lIns="0" tIns="0" rIns="0" bIns="0" rtlCol="0" anchor="ctr"/>
          <a:lstStyle/>
          <a:p>
            <a:pPr indent="0" marL="0">
              <a:lnSpc>
                <a:spcPct val="100000"/>
              </a:lnSpc>
              <a:buNone/>
            </a:pPr>
            <a:r>
              <a:rPr lang="en-US" sz="1200" dirty="0">
                <a:solidFill>
                  <a:srgbClr val="9DB0D0"/>
                </a:solidFill>
                <a:latin typeface="Calibri" pitchFamily="34" charset="0"/>
                <a:ea typeface="Calibri" pitchFamily="34" charset="-122"/>
                <a:cs typeface="Calibri" pitchFamily="34" charset="-120"/>
              </a:rPr>
              <a:t>Ai-ml-2 folds each band's detection times onto candidate periods and returns a next-activation window with a calibrated confidence.</a:t>
            </a:r>
            <a:endParaRPr lang="en-US" sz="1200" dirty="0"/>
          </a:p>
        </p:txBody>
      </p:sp>
      <p:sp>
        <p:nvSpPr>
          <p:cNvPr id="15" name="Shape 13"/>
          <p:cNvSpPr/>
          <p:nvPr/>
        </p:nvSpPr>
        <p:spPr>
          <a:xfrm>
            <a:off x="777240" y="4279392"/>
            <a:ext cx="310896" cy="310896"/>
          </a:xfrm>
          <a:prstGeom prst="ellipse">
            <a:avLst/>
          </a:prstGeom>
          <a:solidFill>
            <a:srgbClr val="FFB020"/>
          </a:solidFill>
          <a:ln w="12700">
            <a:solidFill>
              <a:srgbClr val="FFB020"/>
            </a:solidFill>
            <a:prstDash val="solid"/>
          </a:ln>
        </p:spPr>
      </p:sp>
      <p:sp>
        <p:nvSpPr>
          <p:cNvPr id="16" name="Text 14"/>
          <p:cNvSpPr txBox="1"/>
          <p:nvPr/>
        </p:nvSpPr>
        <p:spPr>
          <a:xfrm>
            <a:off x="777240" y="4279392"/>
            <a:ext cx="310896" cy="310896"/>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1234440" y="4261104"/>
            <a:ext cx="5440680" cy="256032"/>
          </a:xfrm>
          <a:prstGeom prst="rect">
            <a:avLst/>
          </a:prstGeom>
          <a:noFill/>
          <a:ln/>
        </p:spPr>
        <p:txBody>
          <a:bodyPr wrap="square" lIns="0" tIns="0" rIns="0" bIns="0" rtlCol="0" anchor="ctr"/>
          <a:lstStyle/>
          <a:p>
            <a:pPr indent="0" marL="0">
              <a:buNone/>
            </a:pPr>
            <a:r>
              <a:rPr lang="en-US" sz="1350" b="1" dirty="0">
                <a:solidFill>
                  <a:srgbClr val="EAF0FA"/>
                </a:solidFill>
                <a:latin typeface="Arial" pitchFamily="34" charset="0"/>
                <a:ea typeface="Arial" pitchFamily="34" charset="-122"/>
                <a:cs typeface="Arial" pitchFamily="34" charset="-120"/>
              </a:rPr>
              <a:t>Decide where to listen</a:t>
            </a:r>
            <a:endParaRPr lang="en-US" sz="1350" dirty="0"/>
          </a:p>
        </p:txBody>
      </p:sp>
      <p:sp>
        <p:nvSpPr>
          <p:cNvPr id="18" name="Text 16"/>
          <p:cNvSpPr txBox="1"/>
          <p:nvPr/>
        </p:nvSpPr>
        <p:spPr>
          <a:xfrm>
            <a:off x="1234440" y="4498848"/>
            <a:ext cx="5440680" cy="658368"/>
          </a:xfrm>
          <a:prstGeom prst="rect">
            <a:avLst/>
          </a:prstGeom>
          <a:noFill/>
          <a:ln/>
        </p:spPr>
        <p:txBody>
          <a:bodyPr wrap="square" lIns="0" tIns="0" rIns="0" bIns="0" rtlCol="0" anchor="ctr"/>
          <a:lstStyle/>
          <a:p>
            <a:pPr indent="0" marL="0">
              <a:lnSpc>
                <a:spcPct val="100000"/>
              </a:lnSpc>
              <a:buNone/>
            </a:pPr>
            <a:r>
              <a:rPr lang="en-US" sz="1200" dirty="0">
                <a:solidFill>
                  <a:srgbClr val="9DB0D0"/>
                </a:solidFill>
                <a:latin typeface="Calibri" pitchFamily="34" charset="0"/>
                <a:ea typeface="Calibri" pitchFamily="34" charset="-122"/>
                <a:cs typeface="Calibri" pitchFamily="34" charset="-120"/>
              </a:rPr>
              <a:t>Ai-ml-1 reads per-band state — time since scan, detection EWMA, misses, periodicity phase — and picks the next K bands.</a:t>
            </a:r>
            <a:endParaRPr lang="en-US" sz="1200" dirty="0"/>
          </a:p>
        </p:txBody>
      </p:sp>
      <p:sp>
        <p:nvSpPr>
          <p:cNvPr id="19" name="Shape 17"/>
          <p:cNvSpPr/>
          <p:nvPr/>
        </p:nvSpPr>
        <p:spPr>
          <a:xfrm>
            <a:off x="777240" y="5166360"/>
            <a:ext cx="310896" cy="310896"/>
          </a:xfrm>
          <a:prstGeom prst="ellipse">
            <a:avLst/>
          </a:prstGeom>
          <a:solidFill>
            <a:srgbClr val="FFB020"/>
          </a:solidFill>
          <a:ln w="12700">
            <a:solidFill>
              <a:srgbClr val="FFB020"/>
            </a:solidFill>
            <a:prstDash val="solid"/>
          </a:ln>
        </p:spPr>
      </p:sp>
      <p:sp>
        <p:nvSpPr>
          <p:cNvPr id="20" name="Text 18"/>
          <p:cNvSpPr txBox="1"/>
          <p:nvPr/>
        </p:nvSpPr>
        <p:spPr>
          <a:xfrm>
            <a:off x="777240" y="5166360"/>
            <a:ext cx="310896" cy="310896"/>
          </a:xfrm>
          <a:prstGeom prst="rect">
            <a:avLst/>
          </a:prstGeom>
          <a:noFill/>
          <a:ln/>
        </p:spPr>
        <p:txBody>
          <a:bodyPr wrap="square" lIns="0" tIns="0" rIns="0" bIns="0" rtlCol="0" anchor="ctr"/>
          <a:lstStyle/>
          <a:p>
            <a:pPr algn="ctr" indent="0" marL="0">
              <a:buNone/>
            </a:pPr>
            <a:r>
              <a:rPr lang="en-US" sz="1300" b="1" dirty="0">
                <a:solidFill>
                  <a:srgbClr val="0B1220"/>
                </a:solidFill>
                <a:latin typeface="Arial" pitchFamily="34" charset="0"/>
                <a:ea typeface="Arial" pitchFamily="34" charset="-122"/>
                <a:cs typeface="Arial" pitchFamily="34" charset="-120"/>
              </a:rPr>
              <a:t>4</a:t>
            </a:r>
            <a:endParaRPr lang="en-US" sz="1300" dirty="0"/>
          </a:p>
        </p:txBody>
      </p:sp>
      <p:sp>
        <p:nvSpPr>
          <p:cNvPr id="21" name="Text 19"/>
          <p:cNvSpPr txBox="1"/>
          <p:nvPr/>
        </p:nvSpPr>
        <p:spPr>
          <a:xfrm>
            <a:off x="1234440" y="5148072"/>
            <a:ext cx="5440680" cy="256032"/>
          </a:xfrm>
          <a:prstGeom prst="rect">
            <a:avLst/>
          </a:prstGeom>
          <a:noFill/>
          <a:ln/>
        </p:spPr>
        <p:txBody>
          <a:bodyPr wrap="square" lIns="0" tIns="0" rIns="0" bIns="0" rtlCol="0" anchor="ctr"/>
          <a:lstStyle/>
          <a:p>
            <a:pPr indent="0" marL="0">
              <a:buNone/>
            </a:pPr>
            <a:r>
              <a:rPr lang="en-US" sz="1350" b="1" dirty="0">
                <a:solidFill>
                  <a:srgbClr val="EAF0FA"/>
                </a:solidFill>
                <a:latin typeface="Arial" pitchFamily="34" charset="0"/>
                <a:ea typeface="Arial" pitchFamily="34" charset="-122"/>
                <a:cs typeface="Arial" pitchFamily="34" charset="-120"/>
              </a:rPr>
              <a:t>Learn from the outcome</a:t>
            </a:r>
            <a:endParaRPr lang="en-US" sz="1350" dirty="0"/>
          </a:p>
        </p:txBody>
      </p:sp>
      <p:sp>
        <p:nvSpPr>
          <p:cNvPr id="22" name="Text 20"/>
          <p:cNvSpPr txBox="1"/>
          <p:nvPr/>
        </p:nvSpPr>
        <p:spPr>
          <a:xfrm>
            <a:off x="1234440" y="5385816"/>
            <a:ext cx="5440680" cy="658368"/>
          </a:xfrm>
          <a:prstGeom prst="rect">
            <a:avLst/>
          </a:prstGeom>
          <a:noFill/>
          <a:ln/>
        </p:spPr>
        <p:txBody>
          <a:bodyPr wrap="square" lIns="0" tIns="0" rIns="0" bIns="0" rtlCol="0" anchor="ctr"/>
          <a:lstStyle/>
          <a:p>
            <a:pPr indent="0" marL="0">
              <a:lnSpc>
                <a:spcPct val="100000"/>
              </a:lnSpc>
              <a:buNone/>
            </a:pPr>
            <a:r>
              <a:rPr lang="en-US" sz="1200" dirty="0">
                <a:solidFill>
                  <a:srgbClr val="9DB0D0"/>
                </a:solidFill>
                <a:latin typeface="Calibri" pitchFamily="34" charset="0"/>
                <a:ea typeface="Calibri" pitchFamily="34" charset="-122"/>
                <a:cs typeface="Calibri" pitchFamily="34" charset="-120"/>
              </a:rPr>
              <a:t>Each step returns a reward and updates the policy online. Scoring uses ground truth the scheduler is never shown.</a:t>
            </a:r>
            <a:endParaRPr lang="en-US" sz="1200" dirty="0"/>
          </a:p>
        </p:txBody>
      </p:sp>
      <p:sp>
        <p:nvSpPr>
          <p:cNvPr id="23" name="Shape 21"/>
          <p:cNvSpPr/>
          <p:nvPr/>
        </p:nvSpPr>
        <p:spPr>
          <a:xfrm>
            <a:off x="7269480" y="1901952"/>
            <a:ext cx="4425696" cy="4160520"/>
          </a:xfrm>
          <a:prstGeom prst="roundRect">
            <a:avLst>
              <a:gd name="adj" fmla="val 1758"/>
            </a:avLst>
          </a:prstGeom>
          <a:solidFill>
            <a:srgbClr val="1C2A4A"/>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24" name="Text 22"/>
          <p:cNvSpPr txBox="1"/>
          <p:nvPr/>
        </p:nvSpPr>
        <p:spPr>
          <a:xfrm>
            <a:off x="7543800" y="2121408"/>
            <a:ext cx="393192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INNOVATION AND UNIQUENESS</a:t>
            </a:r>
            <a:endParaRPr lang="en-US" sz="1050" dirty="0"/>
          </a:p>
        </p:txBody>
      </p:sp>
      <p:sp>
        <p:nvSpPr>
          <p:cNvPr id="25" name="Shape 23"/>
          <p:cNvSpPr/>
          <p:nvPr/>
        </p:nvSpPr>
        <p:spPr>
          <a:xfrm>
            <a:off x="7543800" y="2560320"/>
            <a:ext cx="91440" cy="91440"/>
          </a:xfrm>
          <a:prstGeom prst="rect">
            <a:avLst/>
          </a:prstGeom>
          <a:solidFill>
            <a:srgbClr val="FFB020"/>
          </a:solidFill>
          <a:ln w="12700">
            <a:solidFill>
              <a:srgbClr val="FFB020"/>
            </a:solidFill>
            <a:prstDash val="solid"/>
          </a:ln>
        </p:spPr>
      </p:sp>
      <p:sp>
        <p:nvSpPr>
          <p:cNvPr id="26" name="Text 24"/>
          <p:cNvSpPr txBox="1"/>
          <p:nvPr/>
        </p:nvSpPr>
        <p:spPr>
          <a:xfrm>
            <a:off x="7744968" y="2505456"/>
            <a:ext cx="3749040" cy="237744"/>
          </a:xfrm>
          <a:prstGeom prst="rect">
            <a:avLst/>
          </a:prstGeom>
          <a:noFill/>
          <a:ln/>
        </p:spPr>
        <p:txBody>
          <a:bodyPr wrap="square" lIns="0" tIns="0" rIns="0" bIns="0" rtlCol="0" anchor="ctr"/>
          <a:lstStyle/>
          <a:p>
            <a:pPr indent="0" marL="0">
              <a:buNone/>
            </a:pPr>
            <a:r>
              <a:rPr lang="en-US" sz="1250" b="1" dirty="0">
                <a:solidFill>
                  <a:srgbClr val="FFB020"/>
                </a:solidFill>
                <a:latin typeface="Arial" pitchFamily="34" charset="0"/>
                <a:ea typeface="Arial" pitchFamily="34" charset="-122"/>
                <a:cs typeface="Arial" pitchFamily="34" charset="-120"/>
              </a:rPr>
              <a:t>We observe our detections, not the emitter.</a:t>
            </a:r>
            <a:endParaRPr lang="en-US" sz="1250" dirty="0"/>
          </a:p>
        </p:txBody>
      </p:sp>
      <p:sp>
        <p:nvSpPr>
          <p:cNvPr id="27" name="Text 25"/>
          <p:cNvSpPr txBox="1"/>
          <p:nvPr/>
        </p:nvSpPr>
        <p:spPr>
          <a:xfrm>
            <a:off x="7744968" y="2770632"/>
            <a:ext cx="3749040" cy="868680"/>
          </a:xfrm>
          <a:prstGeom prst="rect">
            <a:avLst/>
          </a:prstGeom>
          <a:noFill/>
          <a:ln/>
        </p:spPr>
        <p:txBody>
          <a:bodyPr wrap="square" lIns="0" tIns="0" rIns="0" bIns="0" rtlCol="0" anchor="ctr"/>
          <a:lstStyle/>
          <a:p>
            <a:pPr indent="0" marL="0">
              <a:lnSpc>
                <a:spcPct val="100000"/>
              </a:lnSpc>
              <a:buNone/>
            </a:pPr>
            <a:r>
              <a:rPr lang="en-US" sz="1150" dirty="0">
                <a:solidFill>
                  <a:srgbClr val="9DB0D0"/>
                </a:solidFill>
                <a:latin typeface="Calibri" pitchFamily="34" charset="0"/>
                <a:ea typeface="Calibri" pitchFamily="34" charset="-122"/>
                <a:cs typeface="Calibri" pitchFamily="34" charset="-120"/>
              </a:rPr>
              <a:t>The median gap between detections measures the scan schedule, not the signal. Phase folding recovers the true period even when whole cycles went unheard.</a:t>
            </a:r>
            <a:endParaRPr lang="en-US" sz="1150" dirty="0"/>
          </a:p>
        </p:txBody>
      </p:sp>
      <p:sp>
        <p:nvSpPr>
          <p:cNvPr id="28" name="Shape 26"/>
          <p:cNvSpPr/>
          <p:nvPr/>
        </p:nvSpPr>
        <p:spPr>
          <a:xfrm>
            <a:off x="7543800" y="3749040"/>
            <a:ext cx="91440" cy="91440"/>
          </a:xfrm>
          <a:prstGeom prst="rect">
            <a:avLst/>
          </a:prstGeom>
          <a:solidFill>
            <a:srgbClr val="FFB020"/>
          </a:solidFill>
          <a:ln w="12700">
            <a:solidFill>
              <a:srgbClr val="FFB020"/>
            </a:solidFill>
            <a:prstDash val="solid"/>
          </a:ln>
        </p:spPr>
      </p:sp>
      <p:sp>
        <p:nvSpPr>
          <p:cNvPr id="29" name="Text 27"/>
          <p:cNvSpPr txBox="1"/>
          <p:nvPr/>
        </p:nvSpPr>
        <p:spPr>
          <a:xfrm>
            <a:off x="7744968" y="3694176"/>
            <a:ext cx="3749040" cy="237744"/>
          </a:xfrm>
          <a:prstGeom prst="rect">
            <a:avLst/>
          </a:prstGeom>
          <a:noFill/>
          <a:ln/>
        </p:spPr>
        <p:txBody>
          <a:bodyPr wrap="square" lIns="0" tIns="0" rIns="0" bIns="0" rtlCol="0" anchor="ctr"/>
          <a:lstStyle/>
          <a:p>
            <a:pPr indent="0" marL="0">
              <a:buNone/>
            </a:pPr>
            <a:r>
              <a:rPr lang="en-US" sz="1250" b="1" dirty="0">
                <a:solidFill>
                  <a:srgbClr val="FFB020"/>
                </a:solidFill>
                <a:latin typeface="Arial" pitchFamily="34" charset="0"/>
                <a:ea typeface="Arial" pitchFamily="34" charset="-122"/>
                <a:cs typeface="Arial" pitchFamily="34" charset="-120"/>
              </a:rPr>
              <a:t>Confidence that survives the search.</a:t>
            </a:r>
            <a:endParaRPr lang="en-US" sz="1250" dirty="0"/>
          </a:p>
        </p:txBody>
      </p:sp>
      <p:sp>
        <p:nvSpPr>
          <p:cNvPr id="30" name="Text 28"/>
          <p:cNvSpPr txBox="1"/>
          <p:nvPr/>
        </p:nvSpPr>
        <p:spPr>
          <a:xfrm>
            <a:off x="7744968" y="3959352"/>
            <a:ext cx="3749040" cy="868680"/>
          </a:xfrm>
          <a:prstGeom prst="rect">
            <a:avLst/>
          </a:prstGeom>
          <a:noFill/>
          <a:ln/>
        </p:spPr>
        <p:txBody>
          <a:bodyPr wrap="square" lIns="0" tIns="0" rIns="0" bIns="0" rtlCol="0" anchor="ctr"/>
          <a:lstStyle/>
          <a:p>
            <a:pPr indent="0" marL="0">
              <a:lnSpc>
                <a:spcPct val="100000"/>
              </a:lnSpc>
              <a:buNone/>
            </a:pPr>
            <a:r>
              <a:rPr lang="en-US" sz="1150" dirty="0">
                <a:solidFill>
                  <a:srgbClr val="9DB0D0"/>
                </a:solidFill>
                <a:latin typeface="Calibri" pitchFamily="34" charset="0"/>
                <a:ea typeface="Calibri" pitchFamily="34" charset="-122"/>
                <a:cs typeface="Calibri" pitchFamily="34" charset="-120"/>
              </a:rPr>
              <a:t>p-values are corrected for the number of independent trial periods, so the four non-periodic emitter classes sit at the nominal 5%, not 99%.</a:t>
            </a:r>
            <a:endParaRPr lang="en-US" sz="1150" dirty="0"/>
          </a:p>
        </p:txBody>
      </p:sp>
      <p:sp>
        <p:nvSpPr>
          <p:cNvPr id="31" name="Shape 29"/>
          <p:cNvSpPr/>
          <p:nvPr/>
        </p:nvSpPr>
        <p:spPr>
          <a:xfrm>
            <a:off x="7543800" y="4937760"/>
            <a:ext cx="91440" cy="91440"/>
          </a:xfrm>
          <a:prstGeom prst="rect">
            <a:avLst/>
          </a:prstGeom>
          <a:solidFill>
            <a:srgbClr val="FFB020"/>
          </a:solidFill>
          <a:ln w="12700">
            <a:solidFill>
              <a:srgbClr val="FFB020"/>
            </a:solidFill>
            <a:prstDash val="solid"/>
          </a:ln>
        </p:spPr>
      </p:sp>
      <p:sp>
        <p:nvSpPr>
          <p:cNvPr id="32" name="Text 30"/>
          <p:cNvSpPr txBox="1"/>
          <p:nvPr/>
        </p:nvSpPr>
        <p:spPr>
          <a:xfrm>
            <a:off x="7744968" y="4882896"/>
            <a:ext cx="3749040" cy="237744"/>
          </a:xfrm>
          <a:prstGeom prst="rect">
            <a:avLst/>
          </a:prstGeom>
          <a:noFill/>
          <a:ln/>
        </p:spPr>
        <p:txBody>
          <a:bodyPr wrap="square" lIns="0" tIns="0" rIns="0" bIns="0" rtlCol="0" anchor="ctr"/>
          <a:lstStyle/>
          <a:p>
            <a:pPr indent="0" marL="0">
              <a:buNone/>
            </a:pPr>
            <a:r>
              <a:rPr lang="en-US" sz="1250" b="1" dirty="0">
                <a:solidFill>
                  <a:srgbClr val="FFB020"/>
                </a:solidFill>
                <a:latin typeface="Arial" pitchFamily="34" charset="0"/>
                <a:ea typeface="Arial" pitchFamily="34" charset="-122"/>
                <a:cs typeface="Arial" pitchFamily="34" charset="-120"/>
              </a:rPr>
              <a:t>The trade-off is a dial, not an accident.</a:t>
            </a:r>
            <a:endParaRPr lang="en-US" sz="1250" dirty="0"/>
          </a:p>
        </p:txBody>
      </p:sp>
      <p:sp>
        <p:nvSpPr>
          <p:cNvPr id="33" name="Text 31"/>
          <p:cNvSpPr txBox="1"/>
          <p:nvPr/>
        </p:nvSpPr>
        <p:spPr>
          <a:xfrm>
            <a:off x="7744968" y="5148072"/>
            <a:ext cx="3749040" cy="868680"/>
          </a:xfrm>
          <a:prstGeom prst="rect">
            <a:avLst/>
          </a:prstGeom>
          <a:noFill/>
          <a:ln/>
        </p:spPr>
        <p:txBody>
          <a:bodyPr wrap="square" lIns="0" tIns="0" rIns="0" bIns="0" rtlCol="0" anchor="ctr"/>
          <a:lstStyle/>
          <a:p>
            <a:pPr indent="0" marL="0">
              <a:lnSpc>
                <a:spcPct val="100000"/>
              </a:lnSpc>
              <a:buNone/>
            </a:pPr>
            <a:r>
              <a:rPr lang="en-US" sz="1150" dirty="0">
                <a:solidFill>
                  <a:srgbClr val="9DB0D0"/>
                </a:solidFill>
                <a:latin typeface="Calibri" pitchFamily="34" charset="0"/>
                <a:ea typeface="Calibri" pitchFamily="34" charset="-122"/>
                <a:cs typeface="Calibri" pitchFamily="34" charset="-120"/>
              </a:rPr>
              <a:t>One reward weight moves the policy monotonically between hearing more spectrum and catching more distinct bursts. Retuned per mission.</a:t>
            </a:r>
            <a:endParaRPr lang="en-US" sz="1150" dirty="0"/>
          </a:p>
        </p:txBody>
      </p:sp>
      <p:sp>
        <p:nvSpPr>
          <p:cNvPr id="34" name="Text 32"/>
          <p:cNvSpPr txBox="1"/>
          <p:nvPr/>
        </p:nvSpPr>
        <p:spPr>
          <a:xfrm>
            <a:off x="502920" y="6199632"/>
            <a:ext cx="11185855" cy="274320"/>
          </a:xfrm>
          <a:prstGeom prst="rect">
            <a:avLst/>
          </a:prstGeom>
          <a:noFill/>
          <a:ln/>
        </p:spPr>
        <p:txBody>
          <a:bodyPr wrap="square" lIns="0" tIns="0" rIns="0" bIns="0" rtlCol="0" anchor="ctr"/>
          <a:lstStyle/>
          <a:p>
            <a:pPr indent="0" marL="0">
              <a:buNone/>
            </a:pPr>
            <a:r>
              <a:rPr lang="en-US" sz="1000" i="1" dirty="0">
                <a:solidFill>
                  <a:srgbClr val="6A7DA0"/>
                </a:solidFill>
                <a:latin typeface="Calibri" pitchFamily="34" charset="0"/>
                <a:ea typeface="Calibri" pitchFamily="34" charset="-122"/>
                <a:cs typeface="Calibri" pitchFamily="34" charset="-120"/>
              </a:rPr>
              <a:t>Measured on Scenario B — 16 bands, 10 emitters, 5 seeds, 1000 steps, every policy on an identical spectrum.</a:t>
            </a:r>
            <a:endParaRPr lang="en-US" sz="1000" dirty="0"/>
          </a:p>
        </p:txBody>
      </p:sp>
      <p:sp>
        <p:nvSpPr>
          <p:cNvPr id="36" name="Text 33"/>
          <p:cNvSpPr txBox="1"/>
          <p:nvPr/>
        </p:nvSpPr>
        <p:spPr>
          <a:xfrm>
            <a:off x="11140135" y="6355080"/>
            <a:ext cx="548640" cy="274320"/>
          </a:xfrm>
          <a:prstGeom prst="rect">
            <a:avLst/>
          </a:prstGeom>
          <a:noFill/>
          <a:ln/>
        </p:spPr>
        <p:txBody>
          <a:bodyPr wrap="square" lIns="0" tIns="0" rIns="0" bIns="0" rtlCol="0" anchor="ctr"/>
          <a:lstStyle/>
          <a:p>
            <a:pPr algn="r" indent="0" marL="0">
              <a:buNone/>
            </a:pPr>
            <a:r>
              <a:rPr lang="en-US" sz="1000" dirty="0">
                <a:solidFill>
                  <a:srgbClr val="6A7DA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100" b="1" spc="240" kern="0" dirty="0">
                <a:solidFill>
                  <a:srgbClr val="FFB020"/>
                </a:solidFill>
                <a:latin typeface="Calibri" pitchFamily="34" charset="0"/>
                <a:ea typeface="Calibri" pitchFamily="34" charset="-122"/>
                <a:cs typeface="Calibri" pitchFamily="34" charset="-120"/>
              </a:rPr>
              <a:t>TECHNICAL APPROACH</a:t>
            </a:r>
            <a:endParaRPr lang="en-US" sz="1100" dirty="0"/>
          </a:p>
        </p:txBody>
      </p:sp>
      <p:sp>
        <p:nvSpPr>
          <p:cNvPr id="3" name="Text 1"/>
          <p:cNvSpPr txBox="1"/>
          <p:nvPr/>
        </p:nvSpPr>
        <p:spPr>
          <a:xfrm>
            <a:off x="502920" y="603504"/>
            <a:ext cx="11185855" cy="658368"/>
          </a:xfrm>
          <a:prstGeom prst="rect">
            <a:avLst/>
          </a:prstGeom>
          <a:noFill/>
          <a:ln/>
        </p:spPr>
        <p:txBody>
          <a:bodyPr wrap="square" lIns="0" tIns="0" rIns="0" bIns="0" rtlCol="0" anchor="ctr"/>
          <a:lstStyle/>
          <a:p>
            <a:pPr indent="0" marL="0">
              <a:buNone/>
            </a:pPr>
            <a:r>
              <a:rPr lang="en-US" sz="3400" b="1" dirty="0">
                <a:solidFill>
                  <a:srgbClr val="EAF0FA"/>
                </a:solidFill>
                <a:latin typeface="Arial" pitchFamily="34" charset="0"/>
                <a:ea typeface="Arial" pitchFamily="34" charset="-122"/>
                <a:cs typeface="Arial" pitchFamily="34" charset="-120"/>
              </a:rPr>
              <a:t>Four services, one contract, a decision every 6.6 ms</a:t>
            </a:r>
            <a:endParaRPr lang="en-US" sz="3400" dirty="0"/>
          </a:p>
        </p:txBody>
      </p:sp>
      <p:sp>
        <p:nvSpPr>
          <p:cNvPr id="4" name="Shape 2"/>
          <p:cNvSpPr/>
          <p:nvPr/>
        </p:nvSpPr>
        <p:spPr>
          <a:xfrm>
            <a:off x="502920" y="1280160"/>
            <a:ext cx="6903720" cy="3520440"/>
          </a:xfrm>
          <a:prstGeom prst="roundRect">
            <a:avLst>
              <a:gd name="adj" fmla="val 2078"/>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5" name="Text 3"/>
          <p:cNvSpPr txBox="1"/>
          <p:nvPr/>
        </p:nvSpPr>
        <p:spPr>
          <a:xfrm>
            <a:off x="777240" y="1481328"/>
            <a:ext cx="457200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SYSTEM ARCHITECTURE</a:t>
            </a:r>
            <a:endParaRPr lang="en-US" sz="1050" dirty="0"/>
          </a:p>
        </p:txBody>
      </p:sp>
      <p:sp>
        <p:nvSpPr>
          <p:cNvPr id="6" name="Shape 4"/>
          <p:cNvSpPr/>
          <p:nvPr/>
        </p:nvSpPr>
        <p:spPr>
          <a:xfrm>
            <a:off x="758952" y="1920240"/>
            <a:ext cx="1783080" cy="822960"/>
          </a:xfrm>
          <a:prstGeom prst="roundRect">
            <a:avLst>
              <a:gd name="adj" fmla="val 7778"/>
            </a:avLst>
          </a:prstGeom>
          <a:solidFill>
            <a:srgbClr val="1C2A4A"/>
          </a:solidFill>
          <a:ln w="15875">
            <a:solidFill>
              <a:srgbClr val="5B8DEF"/>
            </a:solidFill>
            <a:prstDash val="solid"/>
          </a:ln>
        </p:spPr>
      </p:sp>
      <p:sp>
        <p:nvSpPr>
          <p:cNvPr id="7" name="Text 5"/>
          <p:cNvSpPr txBox="1"/>
          <p:nvPr/>
        </p:nvSpPr>
        <p:spPr>
          <a:xfrm>
            <a:off x="868680" y="2029968"/>
            <a:ext cx="1563624" cy="237744"/>
          </a:xfrm>
          <a:prstGeom prst="rect">
            <a:avLst/>
          </a:prstGeom>
          <a:noFill/>
          <a:ln/>
        </p:spPr>
        <p:txBody>
          <a:bodyPr wrap="square" lIns="0" tIns="0" rIns="0" bIns="0" rtlCol="0" anchor="ctr"/>
          <a:lstStyle/>
          <a:p>
            <a:pPr algn="ctr" indent="0" marL="0">
              <a:buNone/>
            </a:pPr>
            <a:r>
              <a:rPr lang="en-US" sz="1150" b="1" dirty="0">
                <a:solidFill>
                  <a:srgbClr val="EAF0FA"/>
                </a:solidFill>
                <a:latin typeface="Arial" pitchFamily="34" charset="0"/>
                <a:ea typeface="Arial" pitchFamily="34" charset="-122"/>
                <a:cs typeface="Arial" pitchFamily="34" charset="-120"/>
              </a:rPr>
              <a:t>Frontend</a:t>
            </a:r>
            <a:endParaRPr lang="en-US" sz="1150" dirty="0"/>
          </a:p>
        </p:txBody>
      </p:sp>
      <p:sp>
        <p:nvSpPr>
          <p:cNvPr id="8" name="Text 6"/>
          <p:cNvSpPr txBox="1"/>
          <p:nvPr/>
        </p:nvSpPr>
        <p:spPr>
          <a:xfrm>
            <a:off x="868680" y="2267712"/>
            <a:ext cx="1563624" cy="384048"/>
          </a:xfrm>
          <a:prstGeom prst="rect">
            <a:avLst/>
          </a:prstGeom>
          <a:noFill/>
          <a:ln/>
        </p:spPr>
        <p:txBody>
          <a:bodyPr wrap="square" lIns="0" tIns="0" rIns="0" bIns="0" rtlCol="0" anchor="ctr"/>
          <a:lstStyle/>
          <a:p>
            <a:pPr algn="ctr" indent="0" marL="0">
              <a:buNone/>
            </a:pPr>
            <a:r>
              <a:rPr lang="en-US" sz="950" dirty="0">
                <a:solidFill>
                  <a:srgbClr val="9DB0D0"/>
                </a:solidFill>
                <a:latin typeface="Calibri" pitchFamily="34" charset="0"/>
                <a:ea typeface="Calibri" pitchFamily="34" charset="-122"/>
                <a:cs typeface="Calibri" pitchFamily="34" charset="-120"/>
              </a:rPr>
              <a:t>React 18 · TS · Vite</a:t>
            </a:r>
            <a:endParaRPr lang="en-US" sz="950" dirty="0"/>
          </a:p>
        </p:txBody>
      </p:sp>
      <p:sp>
        <p:nvSpPr>
          <p:cNvPr id="9" name="Shape 7"/>
          <p:cNvSpPr/>
          <p:nvPr/>
        </p:nvSpPr>
        <p:spPr>
          <a:xfrm>
            <a:off x="2606040" y="2331720"/>
            <a:ext cx="411480" cy="0"/>
          </a:xfrm>
          <a:prstGeom prst="line">
            <a:avLst/>
          </a:prstGeom>
          <a:noFill/>
          <a:ln w="19050">
            <a:solidFill>
              <a:srgbClr val="4E6390"/>
            </a:solidFill>
            <a:prstDash val="solid"/>
            <a:tailEnd type="triangle"/>
          </a:ln>
        </p:spPr>
      </p:sp>
      <p:sp>
        <p:nvSpPr>
          <p:cNvPr id="10" name="Shape 8"/>
          <p:cNvSpPr/>
          <p:nvPr/>
        </p:nvSpPr>
        <p:spPr>
          <a:xfrm>
            <a:off x="3044952" y="1810512"/>
            <a:ext cx="2103120" cy="1051560"/>
          </a:xfrm>
          <a:prstGeom prst="roundRect">
            <a:avLst>
              <a:gd name="adj" fmla="val 6087"/>
            </a:avLst>
          </a:prstGeom>
          <a:solidFill>
            <a:srgbClr val="1C2A4A"/>
          </a:solidFill>
          <a:ln w="15875">
            <a:solidFill>
              <a:srgbClr val="3ECF8E"/>
            </a:solidFill>
            <a:prstDash val="solid"/>
          </a:ln>
        </p:spPr>
      </p:sp>
      <p:sp>
        <p:nvSpPr>
          <p:cNvPr id="11" name="Text 9"/>
          <p:cNvSpPr txBox="1"/>
          <p:nvPr/>
        </p:nvSpPr>
        <p:spPr>
          <a:xfrm>
            <a:off x="3154680" y="1920240"/>
            <a:ext cx="1883664" cy="237744"/>
          </a:xfrm>
          <a:prstGeom prst="rect">
            <a:avLst/>
          </a:prstGeom>
          <a:noFill/>
          <a:ln/>
        </p:spPr>
        <p:txBody>
          <a:bodyPr wrap="square" lIns="0" tIns="0" rIns="0" bIns="0" rtlCol="0" anchor="ctr"/>
          <a:lstStyle/>
          <a:p>
            <a:pPr algn="ctr" indent="0" marL="0">
              <a:buNone/>
            </a:pPr>
            <a:r>
              <a:rPr lang="en-US" sz="1150" b="1" dirty="0">
                <a:solidFill>
                  <a:srgbClr val="EAF0FA"/>
                </a:solidFill>
                <a:latin typeface="Arial" pitchFamily="34" charset="0"/>
                <a:ea typeface="Arial" pitchFamily="34" charset="-122"/>
                <a:cs typeface="Arial" pitchFamily="34" charset="-120"/>
              </a:rPr>
              <a:t>Backend</a:t>
            </a:r>
            <a:endParaRPr lang="en-US" sz="1150" dirty="0"/>
          </a:p>
        </p:txBody>
      </p:sp>
      <p:sp>
        <p:nvSpPr>
          <p:cNvPr id="12" name="Text 10"/>
          <p:cNvSpPr txBox="1"/>
          <p:nvPr/>
        </p:nvSpPr>
        <p:spPr>
          <a:xfrm>
            <a:off x="3154680" y="2157984"/>
            <a:ext cx="1883664" cy="384048"/>
          </a:xfrm>
          <a:prstGeom prst="rect">
            <a:avLst/>
          </a:prstGeom>
          <a:noFill/>
          <a:ln/>
        </p:spPr>
        <p:txBody>
          <a:bodyPr wrap="square" lIns="0" tIns="0" rIns="0" bIns="0" rtlCol="0" anchor="ctr"/>
          <a:lstStyle/>
          <a:p>
            <a:pPr algn="ctr" indent="0" marL="0">
              <a:buNone/>
            </a:pPr>
            <a:r>
              <a:rPr lang="en-US" sz="950" dirty="0">
                <a:solidFill>
                  <a:srgbClr val="9DB0D0"/>
                </a:solidFill>
                <a:latin typeface="Calibri" pitchFamily="34" charset="0"/>
                <a:ea typeface="Calibri" pitchFamily="34" charset="-122"/>
                <a:cs typeface="Calibri" pitchFamily="34" charset="-120"/>
              </a:rPr>
              <a:t>Spring Boot 3</a:t>
            </a:r>
            <a:endParaRPr lang="en-US" sz="950" dirty="0"/>
          </a:p>
          <a:p>
            <a:pPr algn="ctr" indent="0" marL="0">
              <a:buNone/>
            </a:pPr>
            <a:r>
              <a:rPr lang="en-US" sz="950" dirty="0">
                <a:solidFill>
                  <a:srgbClr val="9DB0D0"/>
                </a:solidFill>
                <a:latin typeface="Calibri" pitchFamily="34" charset="0"/>
                <a:ea typeface="Calibri" pitchFamily="34" charset="-122"/>
                <a:cs typeface="Calibri" pitchFamily="34" charset="-120"/>
              </a:rPr>
              <a:t>system of record</a:t>
            </a:r>
            <a:endParaRPr lang="en-US" sz="950" dirty="0"/>
          </a:p>
        </p:txBody>
      </p:sp>
      <p:sp>
        <p:nvSpPr>
          <p:cNvPr id="13" name="Shape 11"/>
          <p:cNvSpPr/>
          <p:nvPr/>
        </p:nvSpPr>
        <p:spPr>
          <a:xfrm>
            <a:off x="3044952" y="2999232"/>
            <a:ext cx="2103120" cy="566928"/>
          </a:xfrm>
          <a:prstGeom prst="roundRect">
            <a:avLst>
              <a:gd name="adj" fmla="val 11290"/>
            </a:avLst>
          </a:prstGeom>
          <a:solidFill>
            <a:srgbClr val="1C2A4A"/>
          </a:solidFill>
          <a:ln w="15875">
            <a:solidFill>
              <a:srgbClr val="3ECF8E"/>
            </a:solidFill>
            <a:prstDash val="solid"/>
          </a:ln>
        </p:spPr>
      </p:sp>
      <p:sp>
        <p:nvSpPr>
          <p:cNvPr id="14" name="Text 12"/>
          <p:cNvSpPr txBox="1"/>
          <p:nvPr/>
        </p:nvSpPr>
        <p:spPr>
          <a:xfrm>
            <a:off x="3154680" y="3108960"/>
            <a:ext cx="1883664" cy="237744"/>
          </a:xfrm>
          <a:prstGeom prst="rect">
            <a:avLst/>
          </a:prstGeom>
          <a:noFill/>
          <a:ln/>
        </p:spPr>
        <p:txBody>
          <a:bodyPr wrap="square" lIns="0" tIns="0" rIns="0" bIns="0" rtlCol="0" anchor="ctr"/>
          <a:lstStyle/>
          <a:p>
            <a:pPr algn="ctr" indent="0" marL="0">
              <a:buNone/>
            </a:pPr>
            <a:r>
              <a:rPr lang="en-US" sz="1150" b="1" dirty="0">
                <a:solidFill>
                  <a:srgbClr val="EAF0FA"/>
                </a:solidFill>
                <a:latin typeface="Arial" pitchFamily="34" charset="0"/>
                <a:ea typeface="Arial" pitchFamily="34" charset="-122"/>
                <a:cs typeface="Arial" pitchFamily="34" charset="-120"/>
              </a:rPr>
              <a:t>PostgreSQL · Redis</a:t>
            </a:r>
            <a:endParaRPr lang="en-US" sz="1150" dirty="0"/>
          </a:p>
        </p:txBody>
      </p:sp>
      <p:sp>
        <p:nvSpPr>
          <p:cNvPr id="15" name="Text 13"/>
          <p:cNvSpPr txBox="1"/>
          <p:nvPr/>
        </p:nvSpPr>
        <p:spPr>
          <a:xfrm>
            <a:off x="3154680" y="3346704"/>
            <a:ext cx="1883664" cy="384048"/>
          </a:xfrm>
          <a:prstGeom prst="rect">
            <a:avLst/>
          </a:prstGeom>
          <a:noFill/>
          <a:ln/>
        </p:spPr>
        <p:txBody>
          <a:bodyPr wrap="square" lIns="0" tIns="0" rIns="0" bIns="0" rtlCol="0" anchor="ctr"/>
          <a:lstStyle/>
          <a:p>
            <a:pPr algn="ctr" indent="0" marL="0">
              <a:buNone/>
            </a:pPr>
            <a:endParaRPr lang="en-US" sz="950" dirty="0"/>
          </a:p>
        </p:txBody>
      </p:sp>
      <p:sp>
        <p:nvSpPr>
          <p:cNvPr id="16" name="Shape 14"/>
          <p:cNvSpPr/>
          <p:nvPr/>
        </p:nvSpPr>
        <p:spPr>
          <a:xfrm>
            <a:off x="4096512" y="2880360"/>
            <a:ext cx="0" cy="100584"/>
          </a:xfrm>
          <a:prstGeom prst="line">
            <a:avLst/>
          </a:prstGeom>
          <a:noFill/>
          <a:ln w="19050">
            <a:solidFill>
              <a:srgbClr val="4E6390"/>
            </a:solidFill>
            <a:prstDash val="solid"/>
            <a:tailEnd type="triangle"/>
          </a:ln>
        </p:spPr>
      </p:sp>
      <p:sp>
        <p:nvSpPr>
          <p:cNvPr id="17" name="Shape 15"/>
          <p:cNvSpPr/>
          <p:nvPr/>
        </p:nvSpPr>
        <p:spPr>
          <a:xfrm flipV="1">
            <a:off x="5193792" y="1965960"/>
            <a:ext cx="411480" cy="182880"/>
          </a:xfrm>
          <a:prstGeom prst="line">
            <a:avLst/>
          </a:prstGeom>
          <a:noFill/>
          <a:ln w="19050">
            <a:solidFill>
              <a:srgbClr val="4E6390"/>
            </a:solidFill>
            <a:prstDash val="solid"/>
            <a:tailEnd type="triangle"/>
          </a:ln>
        </p:spPr>
      </p:sp>
      <p:sp>
        <p:nvSpPr>
          <p:cNvPr id="18" name="Shape 16"/>
          <p:cNvSpPr/>
          <p:nvPr/>
        </p:nvSpPr>
        <p:spPr>
          <a:xfrm>
            <a:off x="5193792" y="2514600"/>
            <a:ext cx="411480" cy="182880"/>
          </a:xfrm>
          <a:prstGeom prst="line">
            <a:avLst/>
          </a:prstGeom>
          <a:noFill/>
          <a:ln w="19050">
            <a:solidFill>
              <a:srgbClr val="4E6390"/>
            </a:solidFill>
            <a:prstDash val="solid"/>
            <a:tailEnd type="triangle"/>
          </a:ln>
        </p:spPr>
      </p:sp>
      <p:sp>
        <p:nvSpPr>
          <p:cNvPr id="19" name="Shape 17"/>
          <p:cNvSpPr/>
          <p:nvPr/>
        </p:nvSpPr>
        <p:spPr>
          <a:xfrm>
            <a:off x="5623560" y="1572768"/>
            <a:ext cx="1481328" cy="786384"/>
          </a:xfrm>
          <a:prstGeom prst="roundRect">
            <a:avLst>
              <a:gd name="adj" fmla="val 8140"/>
            </a:avLst>
          </a:prstGeom>
          <a:solidFill>
            <a:srgbClr val="1C2A4A"/>
          </a:solidFill>
          <a:ln w="15875">
            <a:solidFill>
              <a:srgbClr val="FFB020"/>
            </a:solidFill>
            <a:prstDash val="solid"/>
          </a:ln>
        </p:spPr>
      </p:sp>
      <p:sp>
        <p:nvSpPr>
          <p:cNvPr id="20" name="Text 18"/>
          <p:cNvSpPr txBox="1"/>
          <p:nvPr/>
        </p:nvSpPr>
        <p:spPr>
          <a:xfrm>
            <a:off x="5733288" y="1682496"/>
            <a:ext cx="1261872" cy="237744"/>
          </a:xfrm>
          <a:prstGeom prst="rect">
            <a:avLst/>
          </a:prstGeom>
          <a:noFill/>
          <a:ln/>
        </p:spPr>
        <p:txBody>
          <a:bodyPr wrap="square" lIns="0" tIns="0" rIns="0" bIns="0" rtlCol="0" anchor="ctr"/>
          <a:lstStyle/>
          <a:p>
            <a:pPr algn="ctr" indent="0" marL="0">
              <a:buNone/>
            </a:pPr>
            <a:r>
              <a:rPr lang="en-US" sz="1150" b="1" dirty="0">
                <a:solidFill>
                  <a:srgbClr val="EAF0FA"/>
                </a:solidFill>
                <a:latin typeface="Arial" pitchFamily="34" charset="0"/>
                <a:ea typeface="Arial" pitchFamily="34" charset="-122"/>
                <a:cs typeface="Arial" pitchFamily="34" charset="-120"/>
              </a:rPr>
              <a:t>Ai-ml-1</a:t>
            </a:r>
            <a:endParaRPr lang="en-US" sz="1150" dirty="0"/>
          </a:p>
        </p:txBody>
      </p:sp>
      <p:sp>
        <p:nvSpPr>
          <p:cNvPr id="21" name="Text 19"/>
          <p:cNvSpPr txBox="1"/>
          <p:nvPr/>
        </p:nvSpPr>
        <p:spPr>
          <a:xfrm>
            <a:off x="5733288" y="1920240"/>
            <a:ext cx="1261872" cy="384048"/>
          </a:xfrm>
          <a:prstGeom prst="rect">
            <a:avLst/>
          </a:prstGeom>
          <a:noFill/>
          <a:ln/>
        </p:spPr>
        <p:txBody>
          <a:bodyPr wrap="square" lIns="0" tIns="0" rIns="0" bIns="0" rtlCol="0" anchor="ctr"/>
          <a:lstStyle/>
          <a:p>
            <a:pPr algn="ctr" indent="0" marL="0">
              <a:buNone/>
            </a:pPr>
            <a:r>
              <a:rPr lang="en-US" sz="950" dirty="0">
                <a:solidFill>
                  <a:srgbClr val="9DB0D0"/>
                </a:solidFill>
                <a:latin typeface="Calibri" pitchFamily="34" charset="0"/>
                <a:ea typeface="Calibri" pitchFamily="34" charset="-122"/>
                <a:cs typeface="Calibri" pitchFamily="34" charset="-120"/>
              </a:rPr>
              <a:t>scan policy</a:t>
            </a:r>
            <a:endParaRPr lang="en-US" sz="950" dirty="0"/>
          </a:p>
          <a:p>
            <a:pPr algn="ctr" indent="0" marL="0">
              <a:buNone/>
            </a:pPr>
            <a:r>
              <a:rPr lang="en-US" sz="950" dirty="0">
                <a:solidFill>
                  <a:srgbClr val="9DB0D0"/>
                </a:solidFill>
                <a:latin typeface="Calibri" pitchFamily="34" charset="0"/>
                <a:ea typeface="Calibri" pitchFamily="34" charset="-122"/>
                <a:cs typeface="Calibri" pitchFamily="34" charset="-120"/>
              </a:rPr>
              <a:t>:8500</a:t>
            </a:r>
            <a:endParaRPr lang="en-US" sz="950" dirty="0"/>
          </a:p>
        </p:txBody>
      </p:sp>
      <p:sp>
        <p:nvSpPr>
          <p:cNvPr id="22" name="Shape 20"/>
          <p:cNvSpPr/>
          <p:nvPr/>
        </p:nvSpPr>
        <p:spPr>
          <a:xfrm>
            <a:off x="5623560" y="2487168"/>
            <a:ext cx="1481328" cy="786384"/>
          </a:xfrm>
          <a:prstGeom prst="roundRect">
            <a:avLst>
              <a:gd name="adj" fmla="val 8140"/>
            </a:avLst>
          </a:prstGeom>
          <a:solidFill>
            <a:srgbClr val="1C2A4A"/>
          </a:solidFill>
          <a:ln w="15875">
            <a:solidFill>
              <a:srgbClr val="FFB020"/>
            </a:solidFill>
            <a:prstDash val="solid"/>
          </a:ln>
        </p:spPr>
      </p:sp>
      <p:sp>
        <p:nvSpPr>
          <p:cNvPr id="23" name="Text 21"/>
          <p:cNvSpPr txBox="1"/>
          <p:nvPr/>
        </p:nvSpPr>
        <p:spPr>
          <a:xfrm>
            <a:off x="5733288" y="2596896"/>
            <a:ext cx="1261872" cy="237744"/>
          </a:xfrm>
          <a:prstGeom prst="rect">
            <a:avLst/>
          </a:prstGeom>
          <a:noFill/>
          <a:ln/>
        </p:spPr>
        <p:txBody>
          <a:bodyPr wrap="square" lIns="0" tIns="0" rIns="0" bIns="0" rtlCol="0" anchor="ctr"/>
          <a:lstStyle/>
          <a:p>
            <a:pPr algn="ctr" indent="0" marL="0">
              <a:buNone/>
            </a:pPr>
            <a:r>
              <a:rPr lang="en-US" sz="1150" b="1" dirty="0">
                <a:solidFill>
                  <a:srgbClr val="EAF0FA"/>
                </a:solidFill>
                <a:latin typeface="Arial" pitchFamily="34" charset="0"/>
                <a:ea typeface="Arial" pitchFamily="34" charset="-122"/>
                <a:cs typeface="Arial" pitchFamily="34" charset="-120"/>
              </a:rPr>
              <a:t>Ai-ml-2</a:t>
            </a:r>
            <a:endParaRPr lang="en-US" sz="1150" dirty="0"/>
          </a:p>
        </p:txBody>
      </p:sp>
      <p:sp>
        <p:nvSpPr>
          <p:cNvPr id="24" name="Text 22"/>
          <p:cNvSpPr txBox="1"/>
          <p:nvPr/>
        </p:nvSpPr>
        <p:spPr>
          <a:xfrm>
            <a:off x="5733288" y="2834640"/>
            <a:ext cx="1261872" cy="384048"/>
          </a:xfrm>
          <a:prstGeom prst="rect">
            <a:avLst/>
          </a:prstGeom>
          <a:noFill/>
          <a:ln/>
        </p:spPr>
        <p:txBody>
          <a:bodyPr wrap="square" lIns="0" tIns="0" rIns="0" bIns="0" rtlCol="0" anchor="ctr"/>
          <a:lstStyle/>
          <a:p>
            <a:pPr algn="ctr" indent="0" marL="0">
              <a:buNone/>
            </a:pPr>
            <a:r>
              <a:rPr lang="en-US" sz="950" dirty="0">
                <a:solidFill>
                  <a:srgbClr val="9DB0D0"/>
                </a:solidFill>
                <a:latin typeface="Calibri" pitchFamily="34" charset="0"/>
                <a:ea typeface="Calibri" pitchFamily="34" charset="-122"/>
                <a:cs typeface="Calibri" pitchFamily="34" charset="-120"/>
              </a:rPr>
              <a:t>periodicity</a:t>
            </a:r>
            <a:endParaRPr lang="en-US" sz="950" dirty="0"/>
          </a:p>
          <a:p>
            <a:pPr algn="ctr" indent="0" marL="0">
              <a:buNone/>
            </a:pPr>
            <a:r>
              <a:rPr lang="en-US" sz="950" dirty="0">
                <a:solidFill>
                  <a:srgbClr val="9DB0D0"/>
                </a:solidFill>
                <a:latin typeface="Calibri" pitchFamily="34" charset="0"/>
                <a:ea typeface="Calibri" pitchFamily="34" charset="-122"/>
                <a:cs typeface="Calibri" pitchFamily="34" charset="-120"/>
              </a:rPr>
              <a:t>:8600</a:t>
            </a:r>
            <a:endParaRPr lang="en-US" sz="950" dirty="0"/>
          </a:p>
        </p:txBody>
      </p:sp>
      <p:sp>
        <p:nvSpPr>
          <p:cNvPr id="25" name="Text 23"/>
          <p:cNvSpPr txBox="1"/>
          <p:nvPr/>
        </p:nvSpPr>
        <p:spPr>
          <a:xfrm>
            <a:off x="777240" y="3785616"/>
            <a:ext cx="6355080" cy="566928"/>
          </a:xfrm>
          <a:prstGeom prst="rect">
            <a:avLst/>
          </a:prstGeom>
          <a:noFill/>
          <a:ln/>
        </p:spPr>
        <p:txBody>
          <a:bodyPr wrap="square" lIns="0" tIns="0" rIns="0" bIns="0" rtlCol="0" anchor="ctr"/>
          <a:lstStyle/>
          <a:p>
            <a:pPr indent="0" marL="0">
              <a:lnSpc>
                <a:spcPct val="100000"/>
              </a:lnSpc>
              <a:buNone/>
            </a:pPr>
            <a:r>
              <a:rPr lang="en-US" sz="1050" dirty="0">
                <a:solidFill>
                  <a:srgbClr val="9DB0D0"/>
                </a:solidFill>
                <a:latin typeface="Calibri" pitchFamily="34" charset="0"/>
                <a:ea typeface="Calibri" pitchFamily="34" charset="-122"/>
                <a:cs typeface="Calibri" pitchFamily="34" charset="-120"/>
              </a:rPr>
              <a:t>The Frontend talks only to the Backend. The Backend is the only caller of either ML service, and assembles the state vector before it asks for a decision.</a:t>
            </a:r>
            <a:endParaRPr lang="en-US" sz="1050" dirty="0"/>
          </a:p>
        </p:txBody>
      </p:sp>
      <p:sp>
        <p:nvSpPr>
          <p:cNvPr id="26" name="Text 24"/>
          <p:cNvSpPr txBox="1"/>
          <p:nvPr/>
        </p:nvSpPr>
        <p:spPr>
          <a:xfrm>
            <a:off x="777240" y="4352544"/>
            <a:ext cx="6355080" cy="292608"/>
          </a:xfrm>
          <a:prstGeom prst="rect">
            <a:avLst/>
          </a:prstGeom>
          <a:noFill/>
          <a:ln/>
        </p:spPr>
        <p:txBody>
          <a:bodyPr wrap="square" lIns="0" tIns="0" rIns="0" bIns="0" rtlCol="0" anchor="ctr"/>
          <a:lstStyle/>
          <a:p>
            <a:pPr indent="0" marL="0">
              <a:buNone/>
            </a:pPr>
            <a:r>
              <a:rPr lang="en-US" sz="1050" i="1" dirty="0">
                <a:solidFill>
                  <a:srgbClr val="6A7DA0"/>
                </a:solidFill>
                <a:latin typeface="Calibri" pitchFamily="34" charset="0"/>
                <a:ea typeface="Calibri" pitchFamily="34" charset="-122"/>
                <a:cs typeface="Calibri" pitchFamily="34" charset="-120"/>
              </a:rPr>
              <a:t>API_CONTRACT.md is copied byte-identical into all four folders — one source of truth, four independently buildable teams.</a:t>
            </a:r>
            <a:endParaRPr lang="en-US" sz="1050" dirty="0"/>
          </a:p>
        </p:txBody>
      </p:sp>
      <p:sp>
        <p:nvSpPr>
          <p:cNvPr id="27" name="Shape 25"/>
          <p:cNvSpPr/>
          <p:nvPr/>
        </p:nvSpPr>
        <p:spPr>
          <a:xfrm>
            <a:off x="7726680" y="1280160"/>
            <a:ext cx="3968496" cy="3520440"/>
          </a:xfrm>
          <a:prstGeom prst="roundRect">
            <a:avLst>
              <a:gd name="adj" fmla="val 2078"/>
            </a:avLst>
          </a:prstGeom>
          <a:solidFill>
            <a:srgbClr val="1C2A4A"/>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28" name="Text 26"/>
          <p:cNvSpPr txBox="1"/>
          <p:nvPr/>
        </p:nvSpPr>
        <p:spPr>
          <a:xfrm>
            <a:off x="8001000" y="1481328"/>
            <a:ext cx="347472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PER-STEP DECISION LOOP</a:t>
            </a:r>
            <a:endParaRPr lang="en-US" sz="1050" dirty="0"/>
          </a:p>
        </p:txBody>
      </p:sp>
      <p:sp>
        <p:nvSpPr>
          <p:cNvPr id="29" name="Text 27"/>
          <p:cNvSpPr txBox="1"/>
          <p:nvPr/>
        </p:nvSpPr>
        <p:spPr>
          <a:xfrm>
            <a:off x="8001000" y="1865376"/>
            <a:ext cx="310896" cy="274320"/>
          </a:xfrm>
          <a:prstGeom prst="rect">
            <a:avLst/>
          </a:prstGeom>
          <a:noFill/>
          <a:ln/>
        </p:spPr>
        <p:txBody>
          <a:bodyPr wrap="square" lIns="0" tIns="0" rIns="0" bIns="0" rtlCol="0" anchor="ctr"/>
          <a:lstStyle/>
          <a:p>
            <a:pPr indent="0" marL="0">
              <a:buNone/>
            </a:pPr>
            <a:r>
              <a:rPr lang="en-US" sz="1100" b="1" dirty="0">
                <a:solidFill>
                  <a:srgbClr val="6A7DA0"/>
                </a:solidFill>
                <a:latin typeface="Arial" pitchFamily="34" charset="0"/>
                <a:ea typeface="Arial" pitchFamily="34" charset="-122"/>
                <a:cs typeface="Arial" pitchFamily="34" charset="-120"/>
              </a:rPr>
              <a:t>01</a:t>
            </a:r>
            <a:endParaRPr lang="en-US" sz="1100" dirty="0"/>
          </a:p>
        </p:txBody>
      </p:sp>
      <p:sp>
        <p:nvSpPr>
          <p:cNvPr id="30" name="Text 28"/>
          <p:cNvSpPr txBox="1"/>
          <p:nvPr/>
        </p:nvSpPr>
        <p:spPr>
          <a:xfrm>
            <a:off x="8357616" y="1865376"/>
            <a:ext cx="3154680" cy="310896"/>
          </a:xfrm>
          <a:prstGeom prst="rect">
            <a:avLst/>
          </a:prstGeom>
          <a:noFill/>
          <a:ln/>
        </p:spPr>
        <p:txBody>
          <a:bodyPr wrap="square" lIns="0" tIns="0" rIns="0" bIns="0" rtlCol="0" anchor="ctr"/>
          <a:lstStyle/>
          <a:p>
            <a:pPr indent="0" marL="0">
              <a:buNone/>
            </a:pPr>
            <a:r>
              <a:rPr lang="en-US" sz="1150" dirty="0">
                <a:solidFill>
                  <a:srgbClr val="9DB0D0"/>
                </a:solidFill>
                <a:latin typeface="Calibri" pitchFamily="34" charset="0"/>
                <a:ea typeface="Calibri" pitchFamily="34" charset="-122"/>
                <a:cs typeface="Calibri" pitchFamily="34" charset="-120"/>
              </a:rPr>
              <a:t>Advance the spectrum one step</a:t>
            </a:r>
            <a:endParaRPr lang="en-US" sz="1150" dirty="0"/>
          </a:p>
        </p:txBody>
      </p:sp>
      <p:sp>
        <p:nvSpPr>
          <p:cNvPr id="31" name="Text 29"/>
          <p:cNvSpPr txBox="1"/>
          <p:nvPr/>
        </p:nvSpPr>
        <p:spPr>
          <a:xfrm>
            <a:off x="8001000" y="2258568"/>
            <a:ext cx="310896" cy="274320"/>
          </a:xfrm>
          <a:prstGeom prst="rect">
            <a:avLst/>
          </a:prstGeom>
          <a:noFill/>
          <a:ln/>
        </p:spPr>
        <p:txBody>
          <a:bodyPr wrap="square" lIns="0" tIns="0" rIns="0" bIns="0" rtlCol="0" anchor="ctr"/>
          <a:lstStyle/>
          <a:p>
            <a:pPr indent="0" marL="0">
              <a:buNone/>
            </a:pPr>
            <a:r>
              <a:rPr lang="en-US" sz="1100" b="1" dirty="0">
                <a:solidFill>
                  <a:srgbClr val="6A7DA0"/>
                </a:solidFill>
                <a:latin typeface="Arial" pitchFamily="34" charset="0"/>
                <a:ea typeface="Arial" pitchFamily="34" charset="-122"/>
                <a:cs typeface="Arial" pitchFamily="34" charset="-120"/>
              </a:rPr>
              <a:t>02</a:t>
            </a:r>
            <a:endParaRPr lang="en-US" sz="1100" dirty="0"/>
          </a:p>
        </p:txBody>
      </p:sp>
      <p:sp>
        <p:nvSpPr>
          <p:cNvPr id="32" name="Text 30"/>
          <p:cNvSpPr txBox="1"/>
          <p:nvPr/>
        </p:nvSpPr>
        <p:spPr>
          <a:xfrm>
            <a:off x="8357616" y="2258568"/>
            <a:ext cx="3154680" cy="310896"/>
          </a:xfrm>
          <a:prstGeom prst="rect">
            <a:avLst/>
          </a:prstGeom>
          <a:noFill/>
          <a:ln/>
        </p:spPr>
        <p:txBody>
          <a:bodyPr wrap="square" lIns="0" tIns="0" rIns="0" bIns="0" rtlCol="0" anchor="ctr"/>
          <a:lstStyle/>
          <a:p>
            <a:pPr indent="0" marL="0">
              <a:buNone/>
            </a:pPr>
            <a:r>
              <a:rPr lang="en-US" sz="1150" dirty="0">
                <a:solidFill>
                  <a:srgbClr val="9DB0D0"/>
                </a:solidFill>
                <a:latin typeface="Calibri" pitchFamily="34" charset="0"/>
                <a:ea typeface="Calibri" pitchFamily="34" charset="-122"/>
                <a:cs typeface="Calibri" pitchFamily="34" charset="-120"/>
              </a:rPr>
              <a:t>Ai-ml-2 predicts each band's next window</a:t>
            </a:r>
            <a:endParaRPr lang="en-US" sz="1150" dirty="0"/>
          </a:p>
        </p:txBody>
      </p:sp>
      <p:sp>
        <p:nvSpPr>
          <p:cNvPr id="33" name="Text 31"/>
          <p:cNvSpPr txBox="1"/>
          <p:nvPr/>
        </p:nvSpPr>
        <p:spPr>
          <a:xfrm>
            <a:off x="8001000" y="2651760"/>
            <a:ext cx="310896" cy="274320"/>
          </a:xfrm>
          <a:prstGeom prst="rect">
            <a:avLst/>
          </a:prstGeom>
          <a:noFill/>
          <a:ln/>
        </p:spPr>
        <p:txBody>
          <a:bodyPr wrap="square" lIns="0" tIns="0" rIns="0" bIns="0" rtlCol="0" anchor="ctr"/>
          <a:lstStyle/>
          <a:p>
            <a:pPr indent="0" marL="0">
              <a:buNone/>
            </a:pPr>
            <a:r>
              <a:rPr lang="en-US" sz="1100" b="1" dirty="0">
                <a:solidFill>
                  <a:srgbClr val="6A7DA0"/>
                </a:solidFill>
                <a:latin typeface="Arial" pitchFamily="34" charset="0"/>
                <a:ea typeface="Arial" pitchFamily="34" charset="-122"/>
                <a:cs typeface="Arial" pitchFamily="34" charset="-120"/>
              </a:rPr>
              <a:t>03</a:t>
            </a:r>
            <a:endParaRPr lang="en-US" sz="1100" dirty="0"/>
          </a:p>
        </p:txBody>
      </p:sp>
      <p:sp>
        <p:nvSpPr>
          <p:cNvPr id="34" name="Text 32"/>
          <p:cNvSpPr txBox="1"/>
          <p:nvPr/>
        </p:nvSpPr>
        <p:spPr>
          <a:xfrm>
            <a:off x="8357616" y="2651760"/>
            <a:ext cx="3154680" cy="310896"/>
          </a:xfrm>
          <a:prstGeom prst="rect">
            <a:avLst/>
          </a:prstGeom>
          <a:noFill/>
          <a:ln/>
        </p:spPr>
        <p:txBody>
          <a:bodyPr wrap="square" lIns="0" tIns="0" rIns="0" bIns="0" rtlCol="0" anchor="ctr"/>
          <a:lstStyle/>
          <a:p>
            <a:pPr indent="0" marL="0">
              <a:buNone/>
            </a:pPr>
            <a:r>
              <a:rPr lang="en-US" sz="1150" dirty="0">
                <a:solidFill>
                  <a:srgbClr val="9DB0D0"/>
                </a:solidFill>
                <a:latin typeface="Calibri" pitchFamily="34" charset="0"/>
                <a:ea typeface="Calibri" pitchFamily="34" charset="-122"/>
                <a:cs typeface="Calibri" pitchFamily="34" charset="-120"/>
              </a:rPr>
              <a:t>Backend builds the state vector</a:t>
            </a:r>
            <a:endParaRPr lang="en-US" sz="1150" dirty="0"/>
          </a:p>
        </p:txBody>
      </p:sp>
      <p:sp>
        <p:nvSpPr>
          <p:cNvPr id="35" name="Text 33"/>
          <p:cNvSpPr txBox="1"/>
          <p:nvPr/>
        </p:nvSpPr>
        <p:spPr>
          <a:xfrm>
            <a:off x="8001000" y="3044952"/>
            <a:ext cx="310896" cy="274320"/>
          </a:xfrm>
          <a:prstGeom prst="rect">
            <a:avLst/>
          </a:prstGeom>
          <a:noFill/>
          <a:ln/>
        </p:spPr>
        <p:txBody>
          <a:bodyPr wrap="square" lIns="0" tIns="0" rIns="0" bIns="0" rtlCol="0" anchor="ctr"/>
          <a:lstStyle/>
          <a:p>
            <a:pPr indent="0" marL="0">
              <a:buNone/>
            </a:pPr>
            <a:r>
              <a:rPr lang="en-US" sz="1100" b="1" dirty="0">
                <a:solidFill>
                  <a:srgbClr val="FFB020"/>
                </a:solidFill>
                <a:latin typeface="Arial" pitchFamily="34" charset="0"/>
                <a:ea typeface="Arial" pitchFamily="34" charset="-122"/>
                <a:cs typeface="Arial" pitchFamily="34" charset="-120"/>
              </a:rPr>
              <a:t>04</a:t>
            </a:r>
            <a:endParaRPr lang="en-US" sz="1100" dirty="0"/>
          </a:p>
        </p:txBody>
      </p:sp>
      <p:sp>
        <p:nvSpPr>
          <p:cNvPr id="36" name="Text 34"/>
          <p:cNvSpPr txBox="1"/>
          <p:nvPr/>
        </p:nvSpPr>
        <p:spPr>
          <a:xfrm>
            <a:off x="8357616" y="3044952"/>
            <a:ext cx="3154680" cy="310896"/>
          </a:xfrm>
          <a:prstGeom prst="rect">
            <a:avLst/>
          </a:prstGeom>
          <a:noFill/>
          <a:ln/>
        </p:spPr>
        <p:txBody>
          <a:bodyPr wrap="square" lIns="0" tIns="0" rIns="0" bIns="0" rtlCol="0" anchor="ctr"/>
          <a:lstStyle/>
          <a:p>
            <a:pPr indent="0" marL="0">
              <a:buNone/>
            </a:pPr>
            <a:r>
              <a:rPr lang="en-US" sz="1150" dirty="0">
                <a:solidFill>
                  <a:srgbClr val="EAF0FA"/>
                </a:solidFill>
                <a:latin typeface="Calibri" pitchFamily="34" charset="0"/>
                <a:ea typeface="Calibri" pitchFamily="34" charset="-122"/>
                <a:cs typeface="Calibri" pitchFamily="34" charset="-120"/>
              </a:rPr>
              <a:t>Ai-ml-1 returns the next K bands</a:t>
            </a:r>
            <a:endParaRPr lang="en-US" sz="1150" dirty="0"/>
          </a:p>
        </p:txBody>
      </p:sp>
      <p:sp>
        <p:nvSpPr>
          <p:cNvPr id="37" name="Text 35"/>
          <p:cNvSpPr txBox="1"/>
          <p:nvPr/>
        </p:nvSpPr>
        <p:spPr>
          <a:xfrm>
            <a:off x="8001000" y="3438144"/>
            <a:ext cx="310896" cy="274320"/>
          </a:xfrm>
          <a:prstGeom prst="rect">
            <a:avLst/>
          </a:prstGeom>
          <a:noFill/>
          <a:ln/>
        </p:spPr>
        <p:txBody>
          <a:bodyPr wrap="square" lIns="0" tIns="0" rIns="0" bIns="0" rtlCol="0" anchor="ctr"/>
          <a:lstStyle/>
          <a:p>
            <a:pPr indent="0" marL="0">
              <a:buNone/>
            </a:pPr>
            <a:r>
              <a:rPr lang="en-US" sz="1100" b="1" dirty="0">
                <a:solidFill>
                  <a:srgbClr val="6A7DA0"/>
                </a:solidFill>
                <a:latin typeface="Arial" pitchFamily="34" charset="0"/>
                <a:ea typeface="Arial" pitchFamily="34" charset="-122"/>
                <a:cs typeface="Arial" pitchFamily="34" charset="-120"/>
              </a:rPr>
              <a:t>05</a:t>
            </a:r>
            <a:endParaRPr lang="en-US" sz="1100" dirty="0"/>
          </a:p>
        </p:txBody>
      </p:sp>
      <p:sp>
        <p:nvSpPr>
          <p:cNvPr id="38" name="Text 36"/>
          <p:cNvSpPr txBox="1"/>
          <p:nvPr/>
        </p:nvSpPr>
        <p:spPr>
          <a:xfrm>
            <a:off x="8357616" y="3438144"/>
            <a:ext cx="3154680" cy="310896"/>
          </a:xfrm>
          <a:prstGeom prst="rect">
            <a:avLst/>
          </a:prstGeom>
          <a:noFill/>
          <a:ln/>
        </p:spPr>
        <p:txBody>
          <a:bodyPr wrap="square" lIns="0" tIns="0" rIns="0" bIns="0" rtlCol="0" anchor="ctr"/>
          <a:lstStyle/>
          <a:p>
            <a:pPr indent="0" marL="0">
              <a:buNone/>
            </a:pPr>
            <a:r>
              <a:rPr lang="en-US" sz="1150" dirty="0">
                <a:solidFill>
                  <a:srgbClr val="9DB0D0"/>
                </a:solidFill>
                <a:latin typeface="Calibri" pitchFamily="34" charset="0"/>
                <a:ea typeface="Calibri" pitchFamily="34" charset="-122"/>
                <a:cs typeface="Calibri" pitchFamily="34" charset="-120"/>
              </a:rPr>
              <a:t>Scan, detect, score against ground truth</a:t>
            </a:r>
            <a:endParaRPr lang="en-US" sz="1150" dirty="0"/>
          </a:p>
        </p:txBody>
      </p:sp>
      <p:sp>
        <p:nvSpPr>
          <p:cNvPr id="39" name="Text 37"/>
          <p:cNvSpPr txBox="1"/>
          <p:nvPr/>
        </p:nvSpPr>
        <p:spPr>
          <a:xfrm>
            <a:off x="8001000" y="3831336"/>
            <a:ext cx="310896" cy="274320"/>
          </a:xfrm>
          <a:prstGeom prst="rect">
            <a:avLst/>
          </a:prstGeom>
          <a:noFill/>
          <a:ln/>
        </p:spPr>
        <p:txBody>
          <a:bodyPr wrap="square" lIns="0" tIns="0" rIns="0" bIns="0" rtlCol="0" anchor="ctr"/>
          <a:lstStyle/>
          <a:p>
            <a:pPr indent="0" marL="0">
              <a:buNone/>
            </a:pPr>
            <a:r>
              <a:rPr lang="en-US" sz="1100" b="1" dirty="0">
                <a:solidFill>
                  <a:srgbClr val="6A7DA0"/>
                </a:solidFill>
                <a:latin typeface="Arial" pitchFamily="34" charset="0"/>
                <a:ea typeface="Arial" pitchFamily="34" charset="-122"/>
                <a:cs typeface="Arial" pitchFamily="34" charset="-120"/>
              </a:rPr>
              <a:t>06</a:t>
            </a:r>
            <a:endParaRPr lang="en-US" sz="1100" dirty="0"/>
          </a:p>
        </p:txBody>
      </p:sp>
      <p:sp>
        <p:nvSpPr>
          <p:cNvPr id="40" name="Text 38"/>
          <p:cNvSpPr txBox="1"/>
          <p:nvPr/>
        </p:nvSpPr>
        <p:spPr>
          <a:xfrm>
            <a:off x="8357616" y="3831336"/>
            <a:ext cx="3154680" cy="310896"/>
          </a:xfrm>
          <a:prstGeom prst="rect">
            <a:avLst/>
          </a:prstGeom>
          <a:noFill/>
          <a:ln/>
        </p:spPr>
        <p:txBody>
          <a:bodyPr wrap="square" lIns="0" tIns="0" rIns="0" bIns="0" rtlCol="0" anchor="ctr"/>
          <a:lstStyle/>
          <a:p>
            <a:pPr indent="0" marL="0">
              <a:buNone/>
            </a:pPr>
            <a:r>
              <a:rPr lang="en-US" sz="1150" dirty="0">
                <a:solidFill>
                  <a:srgbClr val="9DB0D0"/>
                </a:solidFill>
                <a:latin typeface="Calibri" pitchFamily="34" charset="0"/>
                <a:ea typeface="Calibri" pitchFamily="34" charset="-122"/>
                <a:cs typeface="Calibri" pitchFamily="34" charset="-120"/>
              </a:rPr>
              <a:t>Reward goes back — the policy updates</a:t>
            </a:r>
            <a:endParaRPr lang="en-US" sz="1150" dirty="0"/>
          </a:p>
        </p:txBody>
      </p:sp>
      <p:sp>
        <p:nvSpPr>
          <p:cNvPr id="41" name="Text 39"/>
          <p:cNvSpPr txBox="1"/>
          <p:nvPr/>
        </p:nvSpPr>
        <p:spPr>
          <a:xfrm>
            <a:off x="8001000" y="4151376"/>
            <a:ext cx="3520440" cy="27432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6.6 ms</a:t>
            </a:r>
            <a:pPr indent="0" marL="0">
              <a:buNone/>
            </a:pPr>
            <a:r>
              <a:rPr lang="en-US" sz="1050" dirty="0">
                <a:solidFill>
                  <a:srgbClr val="9DB0D0"/>
                </a:solidFill>
                <a:latin typeface="Calibri" pitchFamily="34" charset="0"/>
                <a:ea typeface="Calibri" pitchFamily="34" charset="-122"/>
                <a:cs typeface="Calibri" pitchFamily="34" charset="-120"/>
              </a:rPr>
              <a:t>  p95 decide over HTTP, 50 ms budget</a:t>
            </a:r>
            <a:endParaRPr lang="en-US" sz="1500" dirty="0"/>
          </a:p>
        </p:txBody>
      </p:sp>
      <p:sp>
        <p:nvSpPr>
          <p:cNvPr id="42" name="Text 40"/>
          <p:cNvSpPr txBox="1"/>
          <p:nvPr/>
        </p:nvSpPr>
        <p:spPr>
          <a:xfrm>
            <a:off x="8001000" y="4480560"/>
            <a:ext cx="3520440" cy="274320"/>
          </a:xfrm>
          <a:prstGeom prst="rect">
            <a:avLst/>
          </a:prstGeom>
          <a:noFill/>
          <a:ln/>
        </p:spPr>
        <p:txBody>
          <a:bodyPr wrap="square" lIns="0" tIns="0" rIns="0" bIns="0" rtlCol="0" anchor="ctr"/>
          <a:lstStyle/>
          <a:p>
            <a:pPr indent="0" marL="0">
              <a:buNone/>
            </a:pPr>
            <a:r>
              <a:rPr lang="en-US" sz="1500" b="1" dirty="0">
                <a:solidFill>
                  <a:srgbClr val="FFB020"/>
                </a:solidFill>
                <a:latin typeface="Arial" pitchFamily="34" charset="0"/>
                <a:ea typeface="Arial" pitchFamily="34" charset="-122"/>
                <a:cs typeface="Arial" pitchFamily="34" charset="-120"/>
              </a:rPr>
              <a:t>3.0 ms</a:t>
            </a:r>
            <a:pPr indent="0" marL="0">
              <a:buNone/>
            </a:pPr>
            <a:r>
              <a:rPr lang="en-US" sz="1050" dirty="0">
                <a:solidFill>
                  <a:srgbClr val="9DB0D0"/>
                </a:solidFill>
                <a:latin typeface="Calibri" pitchFamily="34" charset="0"/>
                <a:ea typeface="Calibri" pitchFamily="34" charset="-122"/>
                <a:cs typeface="Calibri" pitchFamily="34" charset="-120"/>
              </a:rPr>
              <a:t>  p95 periodicity, 64 bands</a:t>
            </a:r>
            <a:endParaRPr lang="en-US" sz="1500" dirty="0"/>
          </a:p>
        </p:txBody>
      </p:sp>
      <p:sp>
        <p:nvSpPr>
          <p:cNvPr id="43" name="Text 41"/>
          <p:cNvSpPr txBox="1"/>
          <p:nvPr/>
        </p:nvSpPr>
        <p:spPr>
          <a:xfrm>
            <a:off x="502920" y="5010912"/>
            <a:ext cx="457200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TECHNOLOGY STACK</a:t>
            </a:r>
            <a:endParaRPr lang="en-US" sz="1050" dirty="0"/>
          </a:p>
        </p:txBody>
      </p:sp>
      <p:sp>
        <p:nvSpPr>
          <p:cNvPr id="44" name="Text 42"/>
          <p:cNvSpPr txBox="1"/>
          <p:nvPr/>
        </p:nvSpPr>
        <p:spPr>
          <a:xfrm>
            <a:off x="502920" y="5321808"/>
            <a:ext cx="1417320" cy="292608"/>
          </a:xfrm>
          <a:prstGeom prst="rect">
            <a:avLst/>
          </a:prstGeom>
          <a:noFill/>
          <a:ln/>
        </p:spPr>
        <p:txBody>
          <a:bodyPr wrap="square" lIns="0" tIns="0" rIns="0" bIns="0" rtlCol="0" anchor="ctr"/>
          <a:lstStyle/>
          <a:p>
            <a:pPr indent="0" marL="0">
              <a:buNone/>
            </a:pPr>
            <a:r>
              <a:rPr lang="en-US" sz="1050" b="1" dirty="0">
                <a:solidFill>
                  <a:srgbClr val="EAF0FA"/>
                </a:solidFill>
                <a:latin typeface="Arial" pitchFamily="34" charset="0"/>
                <a:ea typeface="Arial" pitchFamily="34" charset="-122"/>
                <a:cs typeface="Arial" pitchFamily="34" charset="-120"/>
              </a:rPr>
              <a:t>Backend</a:t>
            </a:r>
            <a:endParaRPr lang="en-US" sz="1050" dirty="0"/>
          </a:p>
        </p:txBody>
      </p:sp>
      <p:sp>
        <p:nvSpPr>
          <p:cNvPr id="45" name="Shape 43"/>
          <p:cNvSpPr/>
          <p:nvPr/>
        </p:nvSpPr>
        <p:spPr>
          <a:xfrm>
            <a:off x="1984248" y="5321808"/>
            <a:ext cx="659282" cy="292608"/>
          </a:xfrm>
          <a:prstGeom prst="roundRect">
            <a:avLst>
              <a:gd name="adj" fmla="val 50000"/>
            </a:avLst>
          </a:prstGeom>
          <a:solidFill>
            <a:srgbClr val="1C2A4A"/>
          </a:solidFill>
          <a:ln w="9525">
            <a:solidFill>
              <a:srgbClr val="27365A"/>
            </a:solidFill>
            <a:prstDash val="solid"/>
          </a:ln>
        </p:spPr>
      </p:sp>
      <p:sp>
        <p:nvSpPr>
          <p:cNvPr id="46" name="Text 44"/>
          <p:cNvSpPr txBox="1"/>
          <p:nvPr/>
        </p:nvSpPr>
        <p:spPr>
          <a:xfrm>
            <a:off x="1984248" y="5321808"/>
            <a:ext cx="659282"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Java 21</a:t>
            </a:r>
            <a:endParaRPr lang="en-US" sz="1050" dirty="0"/>
          </a:p>
        </p:txBody>
      </p:sp>
      <p:sp>
        <p:nvSpPr>
          <p:cNvPr id="47" name="Shape 45"/>
          <p:cNvSpPr/>
          <p:nvPr/>
        </p:nvSpPr>
        <p:spPr>
          <a:xfrm>
            <a:off x="2771546" y="5321808"/>
            <a:ext cx="1114654" cy="292608"/>
          </a:xfrm>
          <a:prstGeom prst="roundRect">
            <a:avLst>
              <a:gd name="adj" fmla="val 50000"/>
            </a:avLst>
          </a:prstGeom>
          <a:solidFill>
            <a:srgbClr val="1C2A4A"/>
          </a:solidFill>
          <a:ln w="9525">
            <a:solidFill>
              <a:srgbClr val="27365A"/>
            </a:solidFill>
            <a:prstDash val="solid"/>
          </a:ln>
        </p:spPr>
      </p:sp>
      <p:sp>
        <p:nvSpPr>
          <p:cNvPr id="48" name="Text 46"/>
          <p:cNvSpPr txBox="1"/>
          <p:nvPr/>
        </p:nvSpPr>
        <p:spPr>
          <a:xfrm>
            <a:off x="2771546" y="5321808"/>
            <a:ext cx="1114654"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Spring Boot 3</a:t>
            </a:r>
            <a:endParaRPr lang="en-US" sz="1050" dirty="0"/>
          </a:p>
        </p:txBody>
      </p:sp>
      <p:sp>
        <p:nvSpPr>
          <p:cNvPr id="49" name="Shape 47"/>
          <p:cNvSpPr/>
          <p:nvPr/>
        </p:nvSpPr>
        <p:spPr>
          <a:xfrm>
            <a:off x="4014216" y="5321808"/>
            <a:ext cx="886968" cy="292608"/>
          </a:xfrm>
          <a:prstGeom prst="roundRect">
            <a:avLst>
              <a:gd name="adj" fmla="val 50000"/>
            </a:avLst>
          </a:prstGeom>
          <a:solidFill>
            <a:srgbClr val="1C2A4A"/>
          </a:solidFill>
          <a:ln w="9525">
            <a:solidFill>
              <a:srgbClr val="27365A"/>
            </a:solidFill>
            <a:prstDash val="solid"/>
          </a:ln>
        </p:spPr>
      </p:sp>
      <p:sp>
        <p:nvSpPr>
          <p:cNvPr id="50" name="Text 48"/>
          <p:cNvSpPr txBox="1"/>
          <p:nvPr/>
        </p:nvSpPr>
        <p:spPr>
          <a:xfrm>
            <a:off x="4014216" y="5321808"/>
            <a:ext cx="886968"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PostgreSQL</a:t>
            </a:r>
            <a:endParaRPr lang="en-US" sz="1050" dirty="0"/>
          </a:p>
        </p:txBody>
      </p:sp>
      <p:sp>
        <p:nvSpPr>
          <p:cNvPr id="51" name="Shape 49"/>
          <p:cNvSpPr/>
          <p:nvPr/>
        </p:nvSpPr>
        <p:spPr>
          <a:xfrm>
            <a:off x="5029200" y="5321808"/>
            <a:ext cx="583387" cy="292608"/>
          </a:xfrm>
          <a:prstGeom prst="roundRect">
            <a:avLst>
              <a:gd name="adj" fmla="val 50000"/>
            </a:avLst>
          </a:prstGeom>
          <a:solidFill>
            <a:srgbClr val="1C2A4A"/>
          </a:solidFill>
          <a:ln w="9525">
            <a:solidFill>
              <a:srgbClr val="27365A"/>
            </a:solidFill>
            <a:prstDash val="solid"/>
          </a:ln>
        </p:spPr>
      </p:sp>
      <p:sp>
        <p:nvSpPr>
          <p:cNvPr id="52" name="Text 50"/>
          <p:cNvSpPr txBox="1"/>
          <p:nvPr/>
        </p:nvSpPr>
        <p:spPr>
          <a:xfrm>
            <a:off x="5029200" y="5321808"/>
            <a:ext cx="583387"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Flyway</a:t>
            </a:r>
            <a:endParaRPr lang="en-US" sz="1050" dirty="0"/>
          </a:p>
        </p:txBody>
      </p:sp>
      <p:sp>
        <p:nvSpPr>
          <p:cNvPr id="53" name="Shape 51"/>
          <p:cNvSpPr/>
          <p:nvPr/>
        </p:nvSpPr>
        <p:spPr>
          <a:xfrm>
            <a:off x="5740603" y="5321808"/>
            <a:ext cx="507492" cy="292608"/>
          </a:xfrm>
          <a:prstGeom prst="roundRect">
            <a:avLst>
              <a:gd name="adj" fmla="val 50000"/>
            </a:avLst>
          </a:prstGeom>
          <a:solidFill>
            <a:srgbClr val="1C2A4A"/>
          </a:solidFill>
          <a:ln w="9525">
            <a:solidFill>
              <a:srgbClr val="27365A"/>
            </a:solidFill>
            <a:prstDash val="solid"/>
          </a:ln>
        </p:spPr>
      </p:sp>
      <p:sp>
        <p:nvSpPr>
          <p:cNvPr id="54" name="Text 52"/>
          <p:cNvSpPr txBox="1"/>
          <p:nvPr/>
        </p:nvSpPr>
        <p:spPr>
          <a:xfrm>
            <a:off x="5740603" y="5321808"/>
            <a:ext cx="507492"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Redis</a:t>
            </a:r>
            <a:endParaRPr lang="en-US" sz="1050" dirty="0"/>
          </a:p>
        </p:txBody>
      </p:sp>
      <p:sp>
        <p:nvSpPr>
          <p:cNvPr id="55" name="Shape 53"/>
          <p:cNvSpPr/>
          <p:nvPr/>
        </p:nvSpPr>
        <p:spPr>
          <a:xfrm>
            <a:off x="6376111" y="5321808"/>
            <a:ext cx="811073" cy="292608"/>
          </a:xfrm>
          <a:prstGeom prst="roundRect">
            <a:avLst>
              <a:gd name="adj" fmla="val 50000"/>
            </a:avLst>
          </a:prstGeom>
          <a:solidFill>
            <a:srgbClr val="1C2A4A"/>
          </a:solidFill>
          <a:ln w="9525">
            <a:solidFill>
              <a:srgbClr val="27365A"/>
            </a:solidFill>
            <a:prstDash val="solid"/>
          </a:ln>
        </p:spPr>
      </p:sp>
      <p:sp>
        <p:nvSpPr>
          <p:cNvPr id="56" name="Text 54"/>
          <p:cNvSpPr txBox="1"/>
          <p:nvPr/>
        </p:nvSpPr>
        <p:spPr>
          <a:xfrm>
            <a:off x="6376111" y="5321808"/>
            <a:ext cx="811073"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WebSocket</a:t>
            </a:r>
            <a:endParaRPr lang="en-US" sz="1050" dirty="0"/>
          </a:p>
        </p:txBody>
      </p:sp>
      <p:sp>
        <p:nvSpPr>
          <p:cNvPr id="57" name="Text 55"/>
          <p:cNvSpPr txBox="1"/>
          <p:nvPr/>
        </p:nvSpPr>
        <p:spPr>
          <a:xfrm>
            <a:off x="502920" y="5696712"/>
            <a:ext cx="1417320" cy="292608"/>
          </a:xfrm>
          <a:prstGeom prst="rect">
            <a:avLst/>
          </a:prstGeom>
          <a:noFill/>
          <a:ln/>
        </p:spPr>
        <p:txBody>
          <a:bodyPr wrap="square" lIns="0" tIns="0" rIns="0" bIns="0" rtlCol="0" anchor="ctr"/>
          <a:lstStyle/>
          <a:p>
            <a:pPr indent="0" marL="0">
              <a:buNone/>
            </a:pPr>
            <a:r>
              <a:rPr lang="en-US" sz="1050" b="1" dirty="0">
                <a:solidFill>
                  <a:srgbClr val="EAF0FA"/>
                </a:solidFill>
                <a:latin typeface="Arial" pitchFamily="34" charset="0"/>
                <a:ea typeface="Arial" pitchFamily="34" charset="-122"/>
                <a:cs typeface="Arial" pitchFamily="34" charset="-120"/>
              </a:rPr>
              <a:t>Machine learning</a:t>
            </a:r>
            <a:endParaRPr lang="en-US" sz="1050" dirty="0"/>
          </a:p>
        </p:txBody>
      </p:sp>
      <p:sp>
        <p:nvSpPr>
          <p:cNvPr id="58" name="Shape 56"/>
          <p:cNvSpPr/>
          <p:nvPr/>
        </p:nvSpPr>
        <p:spPr>
          <a:xfrm>
            <a:off x="1984248" y="5696712"/>
            <a:ext cx="962863" cy="292608"/>
          </a:xfrm>
          <a:prstGeom prst="roundRect">
            <a:avLst>
              <a:gd name="adj" fmla="val 50000"/>
            </a:avLst>
          </a:prstGeom>
          <a:solidFill>
            <a:srgbClr val="1C2A4A"/>
          </a:solidFill>
          <a:ln w="9525">
            <a:solidFill>
              <a:srgbClr val="27365A"/>
            </a:solidFill>
            <a:prstDash val="solid"/>
          </a:ln>
        </p:spPr>
      </p:sp>
      <p:sp>
        <p:nvSpPr>
          <p:cNvPr id="59" name="Text 57"/>
          <p:cNvSpPr txBox="1"/>
          <p:nvPr/>
        </p:nvSpPr>
        <p:spPr>
          <a:xfrm>
            <a:off x="1984248" y="5696712"/>
            <a:ext cx="962863"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Python 3.12</a:t>
            </a:r>
            <a:endParaRPr lang="en-US" sz="1050" dirty="0"/>
          </a:p>
        </p:txBody>
      </p:sp>
      <p:sp>
        <p:nvSpPr>
          <p:cNvPr id="60" name="Shape 58"/>
          <p:cNvSpPr/>
          <p:nvPr/>
        </p:nvSpPr>
        <p:spPr>
          <a:xfrm>
            <a:off x="3075127" y="5696712"/>
            <a:ext cx="659282" cy="292608"/>
          </a:xfrm>
          <a:prstGeom prst="roundRect">
            <a:avLst>
              <a:gd name="adj" fmla="val 50000"/>
            </a:avLst>
          </a:prstGeom>
          <a:solidFill>
            <a:srgbClr val="1C2A4A"/>
          </a:solidFill>
          <a:ln w="9525">
            <a:solidFill>
              <a:srgbClr val="27365A"/>
            </a:solidFill>
            <a:prstDash val="solid"/>
          </a:ln>
        </p:spPr>
      </p:sp>
      <p:sp>
        <p:nvSpPr>
          <p:cNvPr id="61" name="Text 59"/>
          <p:cNvSpPr txBox="1"/>
          <p:nvPr/>
        </p:nvSpPr>
        <p:spPr>
          <a:xfrm>
            <a:off x="3075127" y="5696712"/>
            <a:ext cx="659282"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FastAPI</a:t>
            </a:r>
            <a:endParaRPr lang="en-US" sz="1050" dirty="0"/>
          </a:p>
        </p:txBody>
      </p:sp>
      <p:sp>
        <p:nvSpPr>
          <p:cNvPr id="62" name="Shape 60"/>
          <p:cNvSpPr/>
          <p:nvPr/>
        </p:nvSpPr>
        <p:spPr>
          <a:xfrm>
            <a:off x="3862426" y="5696712"/>
            <a:ext cx="811073" cy="292608"/>
          </a:xfrm>
          <a:prstGeom prst="roundRect">
            <a:avLst>
              <a:gd name="adj" fmla="val 50000"/>
            </a:avLst>
          </a:prstGeom>
          <a:solidFill>
            <a:srgbClr val="1C2A4A"/>
          </a:solidFill>
          <a:ln w="9525">
            <a:solidFill>
              <a:srgbClr val="27365A"/>
            </a:solidFill>
            <a:prstDash val="solid"/>
          </a:ln>
        </p:spPr>
      </p:sp>
      <p:sp>
        <p:nvSpPr>
          <p:cNvPr id="63" name="Text 61"/>
          <p:cNvSpPr txBox="1"/>
          <p:nvPr/>
        </p:nvSpPr>
        <p:spPr>
          <a:xfrm>
            <a:off x="3862426" y="5696712"/>
            <a:ext cx="811073"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Gymnasium</a:t>
            </a:r>
            <a:endParaRPr lang="en-US" sz="1050" dirty="0"/>
          </a:p>
        </p:txBody>
      </p:sp>
      <p:sp>
        <p:nvSpPr>
          <p:cNvPr id="64" name="Shape 62"/>
          <p:cNvSpPr/>
          <p:nvPr/>
        </p:nvSpPr>
        <p:spPr>
          <a:xfrm>
            <a:off x="4801514" y="5696712"/>
            <a:ext cx="1114654" cy="292608"/>
          </a:xfrm>
          <a:prstGeom prst="roundRect">
            <a:avLst>
              <a:gd name="adj" fmla="val 50000"/>
            </a:avLst>
          </a:prstGeom>
          <a:solidFill>
            <a:srgbClr val="1C2A4A"/>
          </a:solidFill>
          <a:ln w="9525">
            <a:solidFill>
              <a:srgbClr val="27365A"/>
            </a:solidFill>
            <a:prstDash val="solid"/>
          </a:ln>
        </p:spPr>
      </p:sp>
      <p:sp>
        <p:nvSpPr>
          <p:cNvPr id="65" name="Text 63"/>
          <p:cNvSpPr txBox="1"/>
          <p:nvPr/>
        </p:nvSpPr>
        <p:spPr>
          <a:xfrm>
            <a:off x="4801514" y="5696712"/>
            <a:ext cx="1114654"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NumPy / SciPy</a:t>
            </a:r>
            <a:endParaRPr lang="en-US" sz="1050" dirty="0"/>
          </a:p>
        </p:txBody>
      </p:sp>
      <p:sp>
        <p:nvSpPr>
          <p:cNvPr id="66" name="Shape 64"/>
          <p:cNvSpPr/>
          <p:nvPr/>
        </p:nvSpPr>
        <p:spPr>
          <a:xfrm>
            <a:off x="6044184" y="5696712"/>
            <a:ext cx="1418234" cy="292608"/>
          </a:xfrm>
          <a:prstGeom prst="roundRect">
            <a:avLst>
              <a:gd name="adj" fmla="val 50000"/>
            </a:avLst>
          </a:prstGeom>
          <a:solidFill>
            <a:srgbClr val="1C2A4A"/>
          </a:solidFill>
          <a:ln w="9525">
            <a:solidFill>
              <a:srgbClr val="27365A"/>
            </a:solidFill>
            <a:prstDash val="solid"/>
          </a:ln>
        </p:spPr>
      </p:sp>
      <p:sp>
        <p:nvSpPr>
          <p:cNvPr id="67" name="Text 65"/>
          <p:cNvSpPr txBox="1"/>
          <p:nvPr/>
        </p:nvSpPr>
        <p:spPr>
          <a:xfrm>
            <a:off x="6044184" y="5696712"/>
            <a:ext cx="1418234"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Stable-Baselines3</a:t>
            </a:r>
            <a:endParaRPr lang="en-US" sz="1050" dirty="0"/>
          </a:p>
        </p:txBody>
      </p:sp>
      <p:sp>
        <p:nvSpPr>
          <p:cNvPr id="68" name="Text 66"/>
          <p:cNvSpPr txBox="1"/>
          <p:nvPr/>
        </p:nvSpPr>
        <p:spPr>
          <a:xfrm>
            <a:off x="502920" y="6071616"/>
            <a:ext cx="1417320" cy="292608"/>
          </a:xfrm>
          <a:prstGeom prst="rect">
            <a:avLst/>
          </a:prstGeom>
          <a:noFill/>
          <a:ln/>
        </p:spPr>
        <p:txBody>
          <a:bodyPr wrap="square" lIns="0" tIns="0" rIns="0" bIns="0" rtlCol="0" anchor="ctr"/>
          <a:lstStyle/>
          <a:p>
            <a:pPr indent="0" marL="0">
              <a:buNone/>
            </a:pPr>
            <a:r>
              <a:rPr lang="en-US" sz="1050" b="1" dirty="0">
                <a:solidFill>
                  <a:srgbClr val="EAF0FA"/>
                </a:solidFill>
                <a:latin typeface="Arial" pitchFamily="34" charset="0"/>
                <a:ea typeface="Arial" pitchFamily="34" charset="-122"/>
                <a:cs typeface="Arial" pitchFamily="34" charset="-120"/>
              </a:rPr>
              <a:t>Frontend and ops</a:t>
            </a:r>
            <a:endParaRPr lang="en-US" sz="1050" dirty="0"/>
          </a:p>
        </p:txBody>
      </p:sp>
      <p:sp>
        <p:nvSpPr>
          <p:cNvPr id="69" name="Shape 67"/>
          <p:cNvSpPr/>
          <p:nvPr/>
        </p:nvSpPr>
        <p:spPr>
          <a:xfrm>
            <a:off x="1984248" y="6071616"/>
            <a:ext cx="735178" cy="292608"/>
          </a:xfrm>
          <a:prstGeom prst="roundRect">
            <a:avLst>
              <a:gd name="adj" fmla="val 50000"/>
            </a:avLst>
          </a:prstGeom>
          <a:solidFill>
            <a:srgbClr val="1C2A4A"/>
          </a:solidFill>
          <a:ln w="9525">
            <a:solidFill>
              <a:srgbClr val="27365A"/>
            </a:solidFill>
            <a:prstDash val="solid"/>
          </a:ln>
        </p:spPr>
      </p:sp>
      <p:sp>
        <p:nvSpPr>
          <p:cNvPr id="70" name="Text 68"/>
          <p:cNvSpPr txBox="1"/>
          <p:nvPr/>
        </p:nvSpPr>
        <p:spPr>
          <a:xfrm>
            <a:off x="1984248" y="6071616"/>
            <a:ext cx="735178"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React 18</a:t>
            </a:r>
            <a:endParaRPr lang="en-US" sz="1050" dirty="0"/>
          </a:p>
        </p:txBody>
      </p:sp>
      <p:sp>
        <p:nvSpPr>
          <p:cNvPr id="71" name="Shape 69"/>
          <p:cNvSpPr/>
          <p:nvPr/>
        </p:nvSpPr>
        <p:spPr>
          <a:xfrm>
            <a:off x="2847442" y="6071616"/>
            <a:ext cx="886968" cy="292608"/>
          </a:xfrm>
          <a:prstGeom prst="roundRect">
            <a:avLst>
              <a:gd name="adj" fmla="val 50000"/>
            </a:avLst>
          </a:prstGeom>
          <a:solidFill>
            <a:srgbClr val="1C2A4A"/>
          </a:solidFill>
          <a:ln w="9525">
            <a:solidFill>
              <a:srgbClr val="27365A"/>
            </a:solidFill>
            <a:prstDash val="solid"/>
          </a:ln>
        </p:spPr>
      </p:sp>
      <p:sp>
        <p:nvSpPr>
          <p:cNvPr id="72" name="Text 70"/>
          <p:cNvSpPr txBox="1"/>
          <p:nvPr/>
        </p:nvSpPr>
        <p:spPr>
          <a:xfrm>
            <a:off x="2847442" y="6071616"/>
            <a:ext cx="886968"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TypeScript</a:t>
            </a:r>
            <a:endParaRPr lang="en-US" sz="1050" dirty="0"/>
          </a:p>
        </p:txBody>
      </p:sp>
      <p:sp>
        <p:nvSpPr>
          <p:cNvPr id="73" name="Shape 71"/>
          <p:cNvSpPr/>
          <p:nvPr/>
        </p:nvSpPr>
        <p:spPr>
          <a:xfrm>
            <a:off x="3862426" y="6071616"/>
            <a:ext cx="431597" cy="292608"/>
          </a:xfrm>
          <a:prstGeom prst="roundRect">
            <a:avLst>
              <a:gd name="adj" fmla="val 50000"/>
            </a:avLst>
          </a:prstGeom>
          <a:solidFill>
            <a:srgbClr val="1C2A4A"/>
          </a:solidFill>
          <a:ln w="9525">
            <a:solidFill>
              <a:srgbClr val="27365A"/>
            </a:solidFill>
            <a:prstDash val="solid"/>
          </a:ln>
        </p:spPr>
      </p:sp>
      <p:sp>
        <p:nvSpPr>
          <p:cNvPr id="74" name="Text 72"/>
          <p:cNvSpPr txBox="1"/>
          <p:nvPr/>
        </p:nvSpPr>
        <p:spPr>
          <a:xfrm>
            <a:off x="3862426" y="6071616"/>
            <a:ext cx="431597"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Vite</a:t>
            </a:r>
            <a:endParaRPr lang="en-US" sz="1050" dirty="0"/>
          </a:p>
        </p:txBody>
      </p:sp>
      <p:sp>
        <p:nvSpPr>
          <p:cNvPr id="75" name="Shape 73"/>
          <p:cNvSpPr/>
          <p:nvPr/>
        </p:nvSpPr>
        <p:spPr>
          <a:xfrm>
            <a:off x="4422038" y="6071616"/>
            <a:ext cx="583387" cy="292608"/>
          </a:xfrm>
          <a:prstGeom prst="roundRect">
            <a:avLst>
              <a:gd name="adj" fmla="val 50000"/>
            </a:avLst>
          </a:prstGeom>
          <a:solidFill>
            <a:srgbClr val="1C2A4A"/>
          </a:solidFill>
          <a:ln w="9525">
            <a:solidFill>
              <a:srgbClr val="27365A"/>
            </a:solidFill>
            <a:prstDash val="solid"/>
          </a:ln>
        </p:spPr>
      </p:sp>
      <p:sp>
        <p:nvSpPr>
          <p:cNvPr id="76" name="Text 74"/>
          <p:cNvSpPr txBox="1"/>
          <p:nvPr/>
        </p:nvSpPr>
        <p:spPr>
          <a:xfrm>
            <a:off x="4422038" y="6071616"/>
            <a:ext cx="583387"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Docker</a:t>
            </a:r>
            <a:endParaRPr lang="en-US" sz="1050" dirty="0"/>
          </a:p>
        </p:txBody>
      </p:sp>
      <p:sp>
        <p:nvSpPr>
          <p:cNvPr id="77" name="Shape 75"/>
          <p:cNvSpPr/>
          <p:nvPr/>
        </p:nvSpPr>
        <p:spPr>
          <a:xfrm>
            <a:off x="5133442" y="6071616"/>
            <a:ext cx="886968" cy="292608"/>
          </a:xfrm>
          <a:prstGeom prst="roundRect">
            <a:avLst>
              <a:gd name="adj" fmla="val 50000"/>
            </a:avLst>
          </a:prstGeom>
          <a:solidFill>
            <a:srgbClr val="1C2A4A"/>
          </a:solidFill>
          <a:ln w="9525">
            <a:solidFill>
              <a:srgbClr val="27365A"/>
            </a:solidFill>
            <a:prstDash val="solid"/>
          </a:ln>
        </p:spPr>
      </p:sp>
      <p:sp>
        <p:nvSpPr>
          <p:cNvPr id="78" name="Text 76"/>
          <p:cNvSpPr txBox="1"/>
          <p:nvPr/>
        </p:nvSpPr>
        <p:spPr>
          <a:xfrm>
            <a:off x="5133442" y="6071616"/>
            <a:ext cx="886968"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Prometheus</a:t>
            </a:r>
            <a:endParaRPr lang="en-US" sz="1050" dirty="0"/>
          </a:p>
        </p:txBody>
      </p:sp>
      <p:sp>
        <p:nvSpPr>
          <p:cNvPr id="79" name="Shape 77"/>
          <p:cNvSpPr/>
          <p:nvPr/>
        </p:nvSpPr>
        <p:spPr>
          <a:xfrm>
            <a:off x="6148426" y="6071616"/>
            <a:ext cx="1190549" cy="292608"/>
          </a:xfrm>
          <a:prstGeom prst="roundRect">
            <a:avLst>
              <a:gd name="adj" fmla="val 50000"/>
            </a:avLst>
          </a:prstGeom>
          <a:solidFill>
            <a:srgbClr val="1C2A4A"/>
          </a:solidFill>
          <a:ln w="9525">
            <a:solidFill>
              <a:srgbClr val="27365A"/>
            </a:solidFill>
            <a:prstDash val="solid"/>
          </a:ln>
        </p:spPr>
      </p:sp>
      <p:sp>
        <p:nvSpPr>
          <p:cNvPr id="80" name="Text 78"/>
          <p:cNvSpPr txBox="1"/>
          <p:nvPr/>
        </p:nvSpPr>
        <p:spPr>
          <a:xfrm>
            <a:off x="6148426" y="6071616"/>
            <a:ext cx="1190549" cy="292608"/>
          </a:xfrm>
          <a:prstGeom prst="rect">
            <a:avLst/>
          </a:prstGeom>
          <a:noFill/>
          <a:ln/>
        </p:spPr>
        <p:txBody>
          <a:bodyPr wrap="square" lIns="0" tIns="0" rIns="0" bIns="0" rtlCol="0" anchor="ctr"/>
          <a:lstStyle/>
          <a:p>
            <a:pPr algn="ctr" indent="0" marL="0">
              <a:buNone/>
            </a:pPr>
            <a:r>
              <a:rPr lang="en-US" sz="1050" dirty="0">
                <a:solidFill>
                  <a:srgbClr val="9DB0D0"/>
                </a:solidFill>
                <a:latin typeface="Calibri" pitchFamily="34" charset="0"/>
                <a:ea typeface="Calibri" pitchFamily="34" charset="-122"/>
                <a:cs typeface="Calibri" pitchFamily="34" charset="-120"/>
              </a:rPr>
              <a:t>pytest / JUnit</a:t>
            </a:r>
            <a:endParaRPr lang="en-US" sz="1050" dirty="0"/>
          </a:p>
        </p:txBody>
      </p:sp>
      <p:sp>
        <p:nvSpPr>
          <p:cNvPr id="82" name="Text 79"/>
          <p:cNvSpPr txBox="1"/>
          <p:nvPr/>
        </p:nvSpPr>
        <p:spPr>
          <a:xfrm>
            <a:off x="11140135" y="6355080"/>
            <a:ext cx="548640" cy="274320"/>
          </a:xfrm>
          <a:prstGeom prst="rect">
            <a:avLst/>
          </a:prstGeom>
          <a:noFill/>
          <a:ln/>
        </p:spPr>
        <p:txBody>
          <a:bodyPr wrap="square" lIns="0" tIns="0" rIns="0" bIns="0" rtlCol="0" anchor="ctr"/>
          <a:lstStyle/>
          <a:p>
            <a:pPr algn="r" indent="0" marL="0">
              <a:buNone/>
            </a:pPr>
            <a:r>
              <a:rPr lang="en-US" sz="1000" dirty="0">
                <a:solidFill>
                  <a:srgbClr val="6A7DA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100" b="1" spc="240" kern="0" dirty="0">
                <a:solidFill>
                  <a:srgbClr val="FFB020"/>
                </a:solidFill>
                <a:latin typeface="Calibri" pitchFamily="34" charset="0"/>
                <a:ea typeface="Calibri" pitchFamily="34" charset="-122"/>
                <a:cs typeface="Calibri" pitchFamily="34" charset="-120"/>
              </a:rPr>
              <a:t>FEASIBILITY AND VIABILITY</a:t>
            </a:r>
            <a:endParaRPr lang="en-US" sz="1100" dirty="0"/>
          </a:p>
        </p:txBody>
      </p:sp>
      <p:sp>
        <p:nvSpPr>
          <p:cNvPr id="3" name="Text 1"/>
          <p:cNvSpPr txBox="1"/>
          <p:nvPr/>
        </p:nvSpPr>
        <p:spPr>
          <a:xfrm>
            <a:off x="502920" y="603504"/>
            <a:ext cx="11185855" cy="658368"/>
          </a:xfrm>
          <a:prstGeom prst="rect">
            <a:avLst/>
          </a:prstGeom>
          <a:noFill/>
          <a:ln/>
        </p:spPr>
        <p:txBody>
          <a:bodyPr wrap="square" lIns="0" tIns="0" rIns="0" bIns="0" rtlCol="0" anchor="ctr"/>
          <a:lstStyle/>
          <a:p>
            <a:pPr indent="0" marL="0">
              <a:buNone/>
            </a:pPr>
            <a:r>
              <a:rPr lang="en-US" sz="3400" b="1" dirty="0">
                <a:solidFill>
                  <a:srgbClr val="EAF0FA"/>
                </a:solidFill>
                <a:latin typeface="Arial" pitchFamily="34" charset="0"/>
                <a:ea typeface="Arial" pitchFamily="34" charset="-122"/>
                <a:cs typeface="Arial" pitchFamily="34" charset="-120"/>
              </a:rPr>
              <a:t>It runs today, and we know where it loses</a:t>
            </a:r>
            <a:endParaRPr lang="en-US" sz="3400" dirty="0"/>
          </a:p>
        </p:txBody>
      </p:sp>
      <p:sp>
        <p:nvSpPr>
          <p:cNvPr id="4" name="Shape 2"/>
          <p:cNvSpPr/>
          <p:nvPr/>
        </p:nvSpPr>
        <p:spPr>
          <a:xfrm>
            <a:off x="502920" y="1280160"/>
            <a:ext cx="4892040" cy="4773168"/>
          </a:xfrm>
          <a:prstGeom prst="roundRect">
            <a:avLst>
              <a:gd name="adj" fmla="val 1533"/>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5" name="Text 3"/>
          <p:cNvSpPr txBox="1"/>
          <p:nvPr/>
        </p:nvSpPr>
        <p:spPr>
          <a:xfrm>
            <a:off x="777240" y="1481328"/>
            <a:ext cx="411480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WHAT ALREADY RUNS</a:t>
            </a:r>
            <a:endParaRPr lang="en-US" sz="1050" dirty="0"/>
          </a:p>
        </p:txBody>
      </p:sp>
      <p:sp>
        <p:nvSpPr>
          <p:cNvPr id="6" name="Text 4"/>
          <p:cNvSpPr txBox="1"/>
          <p:nvPr/>
        </p:nvSpPr>
        <p:spPr>
          <a:xfrm>
            <a:off x="777240" y="1810512"/>
            <a:ext cx="4370832" cy="1874520"/>
          </a:xfrm>
          <a:prstGeom prst="rect">
            <a:avLst/>
          </a:prstGeom>
          <a:noFill/>
          <a:ln/>
        </p:spPr>
        <p:txBody>
          <a:bodyPr wrap="square" lIns="0" tIns="0" rIns="0" bIns="0" rtlCol="0" anchor="ctr"/>
          <a:lstStyle/>
          <a:p>
            <a:pPr marL="342900" indent="-342900">
              <a:lnSpc>
                <a:spcPct val="100000"/>
              </a:lnSpc>
              <a:spcAft>
                <a:spcPts val="700"/>
              </a:spcAft>
              <a:buSzPct val="100000"/>
              <a:buChar char="•"/>
            </a:pPr>
            <a:r>
              <a:rPr lang="en-US" sz="1200" dirty="0">
                <a:solidFill>
                  <a:srgbClr val="9DB0D0"/>
                </a:solidFill>
                <a:latin typeface="Calibri" pitchFamily="34" charset="0"/>
                <a:ea typeface="Calibri" pitchFamily="34" charset="-122"/>
                <a:cs typeface="Calibri" pitchFamily="34" charset="-120"/>
              </a:rPr>
              <a:t>Four services, one command each, Dockerised, booting on H2 or Postgres with no other setup.</a:t>
            </a:r>
            <a:endParaRPr lang="en-US" sz="1200" dirty="0"/>
          </a:p>
          <a:p>
            <a:pPr marL="342900" indent="-342900">
              <a:lnSpc>
                <a:spcPct val="100000"/>
              </a:lnSpc>
              <a:spcAft>
                <a:spcPts val="700"/>
              </a:spcAft>
              <a:buSzPct val="100000"/>
              <a:buChar char="•"/>
            </a:pPr>
            <a:r>
              <a:rPr lang="en-US" sz="1200" dirty="0">
                <a:solidFill>
                  <a:srgbClr val="9DB0D0"/>
                </a:solidFill>
                <a:latin typeface="Calibri" pitchFamily="34" charset="0"/>
                <a:ea typeface="Calibri" pitchFamily="34" charset="-122"/>
                <a:cs typeface="Calibri" pitchFamily="34" charset="-120"/>
              </a:rPr>
              <a:t>Deterministic by seed — the same seed gives every policy an identical spectrum, so comparisons are like for like.</a:t>
            </a:r>
            <a:endParaRPr lang="en-US" sz="1200" dirty="0"/>
          </a:p>
          <a:p>
            <a:pPr marL="342900" indent="-342900">
              <a:lnSpc>
                <a:spcPct val="100000"/>
              </a:lnSpc>
              <a:spcAft>
                <a:spcPts val="700"/>
              </a:spcAft>
              <a:buSzPct val="100000"/>
              <a:buChar char="•"/>
            </a:pPr>
            <a:r>
              <a:rPr lang="en-US" sz="1200" dirty="0">
                <a:solidFill>
                  <a:srgbClr val="9DB0D0"/>
                </a:solidFill>
                <a:latin typeface="Calibri" pitchFamily="34" charset="0"/>
                <a:ea typeface="Calibri" pitchFamily="34" charset="-122"/>
                <a:cs typeface="Calibri" pitchFamily="34" charset="-120"/>
              </a:rPr>
              <a:t>A one-button scripted demo: live waterfall, running metrics, then the baseline-versus-learned comparison.</a:t>
            </a:r>
            <a:endParaRPr lang="en-US" sz="1200" dirty="0"/>
          </a:p>
          <a:p>
            <a:pPr marL="342900" indent="-342900">
              <a:lnSpc>
                <a:spcPct val="100000"/>
              </a:lnSpc>
              <a:spcAft>
                <a:spcPts val="700"/>
              </a:spcAft>
              <a:buSzPct val="100000"/>
              <a:buChar char="•"/>
            </a:pPr>
            <a:r>
              <a:rPr lang="en-US" sz="1200" dirty="0">
                <a:solidFill>
                  <a:srgbClr val="9DB0D0"/>
                </a:solidFill>
                <a:latin typeface="Calibri" pitchFamily="34" charset="0"/>
                <a:ea typeface="Calibri" pitchFamily="34" charset="-122"/>
                <a:cs typeface="Calibri" pitchFamily="34" charset="-120"/>
              </a:rPr>
              <a:t>DQN and PPO are built and verified behind a flag; the bandit is the default because it needs no pre-training.</a:t>
            </a:r>
            <a:endParaRPr lang="en-US" sz="1200" dirty="0"/>
          </a:p>
        </p:txBody>
      </p:sp>
      <p:sp>
        <p:nvSpPr>
          <p:cNvPr id="7" name="Text 5"/>
          <p:cNvSpPr txBox="1"/>
          <p:nvPr/>
        </p:nvSpPr>
        <p:spPr>
          <a:xfrm>
            <a:off x="777240" y="3794760"/>
            <a:ext cx="2011680" cy="347472"/>
          </a:xfrm>
          <a:prstGeom prst="rect">
            <a:avLst/>
          </a:prstGeom>
          <a:noFill/>
          <a:ln/>
        </p:spPr>
        <p:txBody>
          <a:bodyPr wrap="square" lIns="0" tIns="0" rIns="0" bIns="0" rtlCol="0" anchor="ctr"/>
          <a:lstStyle/>
          <a:p>
            <a:pPr indent="0" marL="0">
              <a:buNone/>
            </a:pPr>
            <a:r>
              <a:rPr lang="en-US" sz="2100" b="1" dirty="0">
                <a:solidFill>
                  <a:srgbClr val="3ECF8E"/>
                </a:solidFill>
                <a:latin typeface="Arial" pitchFamily="34" charset="0"/>
                <a:ea typeface="Arial" pitchFamily="34" charset="-122"/>
                <a:cs typeface="Arial" pitchFamily="34" charset="-120"/>
              </a:rPr>
              <a:t>167</a:t>
            </a:r>
            <a:endParaRPr lang="en-US" sz="2100" dirty="0"/>
          </a:p>
        </p:txBody>
      </p:sp>
      <p:sp>
        <p:nvSpPr>
          <p:cNvPr id="8" name="Text 6"/>
          <p:cNvSpPr txBox="1"/>
          <p:nvPr/>
        </p:nvSpPr>
        <p:spPr>
          <a:xfrm>
            <a:off x="777240" y="4142232"/>
            <a:ext cx="2011680" cy="237744"/>
          </a:xfrm>
          <a:prstGeom prst="rect">
            <a:avLst/>
          </a:prstGeom>
          <a:noFill/>
          <a:ln/>
        </p:spPr>
        <p:txBody>
          <a:bodyPr wrap="square" lIns="0" tIns="0" rIns="0" bIns="0" rtlCol="0" anchor="ctr"/>
          <a:lstStyle/>
          <a:p>
            <a:pPr indent="0" marL="0">
              <a:buNone/>
            </a:pPr>
            <a:r>
              <a:rPr lang="en-US" sz="1050" dirty="0">
                <a:solidFill>
                  <a:srgbClr val="6A7DA0"/>
                </a:solidFill>
                <a:latin typeface="Calibri" pitchFamily="34" charset="0"/>
                <a:ea typeface="Calibri" pitchFamily="34" charset="-122"/>
                <a:cs typeface="Calibri" pitchFamily="34" charset="-120"/>
              </a:rPr>
              <a:t>tests, scheduler</a:t>
            </a:r>
            <a:endParaRPr lang="en-US" sz="1050" dirty="0"/>
          </a:p>
        </p:txBody>
      </p:sp>
      <p:sp>
        <p:nvSpPr>
          <p:cNvPr id="9" name="Text 7"/>
          <p:cNvSpPr txBox="1"/>
          <p:nvPr/>
        </p:nvSpPr>
        <p:spPr>
          <a:xfrm>
            <a:off x="2990088" y="3794760"/>
            <a:ext cx="2011680" cy="347472"/>
          </a:xfrm>
          <a:prstGeom prst="rect">
            <a:avLst/>
          </a:prstGeom>
          <a:noFill/>
          <a:ln/>
        </p:spPr>
        <p:txBody>
          <a:bodyPr wrap="square" lIns="0" tIns="0" rIns="0" bIns="0" rtlCol="0" anchor="ctr"/>
          <a:lstStyle/>
          <a:p>
            <a:pPr indent="0" marL="0">
              <a:buNone/>
            </a:pPr>
            <a:r>
              <a:rPr lang="en-US" sz="2100" b="1" dirty="0">
                <a:solidFill>
                  <a:srgbClr val="3ECF8E"/>
                </a:solidFill>
                <a:latin typeface="Arial" pitchFamily="34" charset="0"/>
                <a:ea typeface="Arial" pitchFamily="34" charset="-122"/>
                <a:cs typeface="Arial" pitchFamily="34" charset="-120"/>
              </a:rPr>
              <a:t>77</a:t>
            </a:r>
            <a:endParaRPr lang="en-US" sz="2100" dirty="0"/>
          </a:p>
        </p:txBody>
      </p:sp>
      <p:sp>
        <p:nvSpPr>
          <p:cNvPr id="10" name="Text 8"/>
          <p:cNvSpPr txBox="1"/>
          <p:nvPr/>
        </p:nvSpPr>
        <p:spPr>
          <a:xfrm>
            <a:off x="2990088" y="4142232"/>
            <a:ext cx="2011680" cy="237744"/>
          </a:xfrm>
          <a:prstGeom prst="rect">
            <a:avLst/>
          </a:prstGeom>
          <a:noFill/>
          <a:ln/>
        </p:spPr>
        <p:txBody>
          <a:bodyPr wrap="square" lIns="0" tIns="0" rIns="0" bIns="0" rtlCol="0" anchor="ctr"/>
          <a:lstStyle/>
          <a:p>
            <a:pPr indent="0" marL="0">
              <a:buNone/>
            </a:pPr>
            <a:r>
              <a:rPr lang="en-US" sz="1050" dirty="0">
                <a:solidFill>
                  <a:srgbClr val="6A7DA0"/>
                </a:solidFill>
                <a:latin typeface="Calibri" pitchFamily="34" charset="0"/>
                <a:ea typeface="Calibri" pitchFamily="34" charset="-122"/>
                <a:cs typeface="Calibri" pitchFamily="34" charset="-120"/>
              </a:rPr>
              <a:t>tests, estimator</a:t>
            </a:r>
            <a:endParaRPr lang="en-US" sz="1050" dirty="0"/>
          </a:p>
        </p:txBody>
      </p:sp>
      <p:sp>
        <p:nvSpPr>
          <p:cNvPr id="11" name="Text 9"/>
          <p:cNvSpPr txBox="1"/>
          <p:nvPr/>
        </p:nvSpPr>
        <p:spPr>
          <a:xfrm>
            <a:off x="777240" y="4507992"/>
            <a:ext cx="2011680" cy="347472"/>
          </a:xfrm>
          <a:prstGeom prst="rect">
            <a:avLst/>
          </a:prstGeom>
          <a:noFill/>
          <a:ln/>
        </p:spPr>
        <p:txBody>
          <a:bodyPr wrap="square" lIns="0" tIns="0" rIns="0" bIns="0" rtlCol="0" anchor="ctr"/>
          <a:lstStyle/>
          <a:p>
            <a:pPr indent="0" marL="0">
              <a:buNone/>
            </a:pPr>
            <a:r>
              <a:rPr lang="en-US" sz="2100" b="1" dirty="0">
                <a:solidFill>
                  <a:srgbClr val="3ECF8E"/>
                </a:solidFill>
                <a:latin typeface="Arial" pitchFamily="34" charset="0"/>
                <a:ea typeface="Arial" pitchFamily="34" charset="-122"/>
                <a:cs typeface="Arial" pitchFamily="34" charset="-120"/>
              </a:rPr>
              <a:t>96%</a:t>
            </a:r>
            <a:endParaRPr lang="en-US" sz="2100" dirty="0"/>
          </a:p>
        </p:txBody>
      </p:sp>
      <p:sp>
        <p:nvSpPr>
          <p:cNvPr id="12" name="Text 10"/>
          <p:cNvSpPr txBox="1"/>
          <p:nvPr/>
        </p:nvSpPr>
        <p:spPr>
          <a:xfrm>
            <a:off x="777240" y="4855464"/>
            <a:ext cx="2011680" cy="237744"/>
          </a:xfrm>
          <a:prstGeom prst="rect">
            <a:avLst/>
          </a:prstGeom>
          <a:noFill/>
          <a:ln/>
        </p:spPr>
        <p:txBody>
          <a:bodyPr wrap="square" lIns="0" tIns="0" rIns="0" bIns="0" rtlCol="0" anchor="ctr"/>
          <a:lstStyle/>
          <a:p>
            <a:pPr indent="0" marL="0">
              <a:buNone/>
            </a:pPr>
            <a:r>
              <a:rPr lang="en-US" sz="1050" dirty="0">
                <a:solidFill>
                  <a:srgbClr val="6A7DA0"/>
                </a:solidFill>
                <a:latin typeface="Calibri" pitchFamily="34" charset="0"/>
                <a:ea typeface="Calibri" pitchFamily="34" charset="-122"/>
                <a:cs typeface="Calibri" pitchFamily="34" charset="-120"/>
              </a:rPr>
              <a:t>coverage, Ai-ml-2</a:t>
            </a:r>
            <a:endParaRPr lang="en-US" sz="1050" dirty="0"/>
          </a:p>
        </p:txBody>
      </p:sp>
      <p:sp>
        <p:nvSpPr>
          <p:cNvPr id="13" name="Text 11"/>
          <p:cNvSpPr txBox="1"/>
          <p:nvPr/>
        </p:nvSpPr>
        <p:spPr>
          <a:xfrm>
            <a:off x="2990088" y="4507992"/>
            <a:ext cx="2011680" cy="347472"/>
          </a:xfrm>
          <a:prstGeom prst="rect">
            <a:avLst/>
          </a:prstGeom>
          <a:noFill/>
          <a:ln/>
        </p:spPr>
        <p:txBody>
          <a:bodyPr wrap="square" lIns="0" tIns="0" rIns="0" bIns="0" rtlCol="0" anchor="ctr"/>
          <a:lstStyle/>
          <a:p>
            <a:pPr indent="0" marL="0">
              <a:buNone/>
            </a:pPr>
            <a:r>
              <a:rPr lang="en-US" sz="2100" b="1" dirty="0">
                <a:solidFill>
                  <a:srgbClr val="3ECF8E"/>
                </a:solidFill>
                <a:latin typeface="Arial" pitchFamily="34" charset="0"/>
                <a:ea typeface="Arial" pitchFamily="34" charset="-122"/>
                <a:cs typeface="Arial" pitchFamily="34" charset="-120"/>
              </a:rPr>
              <a:t>87%</a:t>
            </a:r>
            <a:endParaRPr lang="en-US" sz="2100" dirty="0"/>
          </a:p>
        </p:txBody>
      </p:sp>
      <p:sp>
        <p:nvSpPr>
          <p:cNvPr id="14" name="Text 12"/>
          <p:cNvSpPr txBox="1"/>
          <p:nvPr/>
        </p:nvSpPr>
        <p:spPr>
          <a:xfrm>
            <a:off x="2990088" y="4855464"/>
            <a:ext cx="2011680" cy="237744"/>
          </a:xfrm>
          <a:prstGeom prst="rect">
            <a:avLst/>
          </a:prstGeom>
          <a:noFill/>
          <a:ln/>
        </p:spPr>
        <p:txBody>
          <a:bodyPr wrap="square" lIns="0" tIns="0" rIns="0" bIns="0" rtlCol="0" anchor="ctr"/>
          <a:lstStyle/>
          <a:p>
            <a:pPr indent="0" marL="0">
              <a:buNone/>
            </a:pPr>
            <a:r>
              <a:rPr lang="en-US" sz="1050" dirty="0">
                <a:solidFill>
                  <a:srgbClr val="6A7DA0"/>
                </a:solidFill>
                <a:latin typeface="Calibri" pitchFamily="34" charset="0"/>
                <a:ea typeface="Calibri" pitchFamily="34" charset="-122"/>
                <a:cs typeface="Calibri" pitchFamily="34" charset="-120"/>
              </a:rPr>
              <a:t>coverage, Ai-ml-1</a:t>
            </a:r>
            <a:endParaRPr lang="en-US" sz="1050" dirty="0"/>
          </a:p>
        </p:txBody>
      </p:sp>
      <p:sp>
        <p:nvSpPr>
          <p:cNvPr id="15" name="Text 13"/>
          <p:cNvSpPr txBox="1"/>
          <p:nvPr/>
        </p:nvSpPr>
        <p:spPr>
          <a:xfrm>
            <a:off x="777240" y="5285232"/>
            <a:ext cx="4370832" cy="530352"/>
          </a:xfrm>
          <a:prstGeom prst="rect">
            <a:avLst/>
          </a:prstGeom>
          <a:noFill/>
          <a:ln/>
        </p:spPr>
        <p:txBody>
          <a:bodyPr wrap="square" lIns="0" tIns="0" rIns="0" bIns="0" rtlCol="0" anchor="ctr"/>
          <a:lstStyle/>
          <a:p>
            <a:pPr indent="0" marL="0">
              <a:lnSpc>
                <a:spcPct val="100000"/>
              </a:lnSpc>
              <a:buNone/>
            </a:pPr>
            <a:r>
              <a:rPr lang="en-US" sz="1050" i="1" dirty="0">
                <a:solidFill>
                  <a:srgbClr val="6A7DA0"/>
                </a:solidFill>
                <a:latin typeface="Calibri" pitchFamily="34" charset="0"/>
                <a:ea typeface="Calibri" pitchFamily="34" charset="-122"/>
                <a:cs typeface="Calibri" pitchFamily="34" charset="-120"/>
              </a:rPr>
              <a:t>Simulation-only by design. The policy consumes an abstract per-band state vector, so no code path touches a radio.</a:t>
            </a:r>
            <a:endParaRPr lang="en-US" sz="1050" dirty="0"/>
          </a:p>
        </p:txBody>
      </p:sp>
      <p:sp>
        <p:nvSpPr>
          <p:cNvPr id="16" name="Text 14"/>
          <p:cNvSpPr txBox="1"/>
          <p:nvPr/>
        </p:nvSpPr>
        <p:spPr>
          <a:xfrm>
            <a:off x="5715000" y="1481328"/>
            <a:ext cx="594360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CHALLENGES, AND HOW WE HANDLE THEM</a:t>
            </a:r>
            <a:endParaRPr lang="en-US" sz="1050" dirty="0"/>
          </a:p>
        </p:txBody>
      </p:sp>
      <p:sp>
        <p:nvSpPr>
          <p:cNvPr id="17" name="Shape 15"/>
          <p:cNvSpPr/>
          <p:nvPr/>
        </p:nvSpPr>
        <p:spPr>
          <a:xfrm>
            <a:off x="5715000" y="1810512"/>
            <a:ext cx="5971032" cy="1316736"/>
          </a:xfrm>
          <a:prstGeom prst="roundRect">
            <a:avLst>
              <a:gd name="adj" fmla="val 5556"/>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18" name="Shape 16"/>
          <p:cNvSpPr/>
          <p:nvPr/>
        </p:nvSpPr>
        <p:spPr>
          <a:xfrm>
            <a:off x="5961888" y="2048256"/>
            <a:ext cx="118872" cy="118872"/>
          </a:xfrm>
          <a:prstGeom prst="ellipse">
            <a:avLst/>
          </a:prstGeom>
          <a:solidFill>
            <a:srgbClr val="F2545B"/>
          </a:solidFill>
          <a:ln w="12700">
            <a:solidFill>
              <a:srgbClr val="F2545B"/>
            </a:solidFill>
            <a:prstDash val="solid"/>
          </a:ln>
        </p:spPr>
      </p:sp>
      <p:sp>
        <p:nvSpPr>
          <p:cNvPr id="19" name="Text 17"/>
          <p:cNvSpPr txBox="1"/>
          <p:nvPr/>
        </p:nvSpPr>
        <p:spPr>
          <a:xfrm>
            <a:off x="6181344" y="1956816"/>
            <a:ext cx="5349240" cy="256032"/>
          </a:xfrm>
          <a:prstGeom prst="rect">
            <a:avLst/>
          </a:prstGeom>
          <a:noFill/>
          <a:ln/>
        </p:spPr>
        <p:txBody>
          <a:bodyPr wrap="square" lIns="0" tIns="0" rIns="0" bIns="0" rtlCol="0" anchor="ctr"/>
          <a:lstStyle/>
          <a:p>
            <a:pPr indent="0" marL="0">
              <a:buNone/>
            </a:pPr>
            <a:r>
              <a:rPr lang="en-US" sz="1250" b="1" dirty="0">
                <a:solidFill>
                  <a:srgbClr val="EAF0FA"/>
                </a:solidFill>
                <a:latin typeface="Arial" pitchFamily="34" charset="0"/>
                <a:ea typeface="Arial" pitchFamily="34" charset="-122"/>
                <a:cs typeface="Arial" pitchFamily="34" charset="-120"/>
              </a:rPr>
              <a:t>The learned policy does not win everything.</a:t>
            </a:r>
            <a:endParaRPr lang="en-US" sz="1250" dirty="0"/>
          </a:p>
        </p:txBody>
      </p:sp>
      <p:sp>
        <p:nvSpPr>
          <p:cNvPr id="20" name="Text 18"/>
          <p:cNvSpPr txBox="1"/>
          <p:nvPr/>
        </p:nvSpPr>
        <p:spPr>
          <a:xfrm>
            <a:off x="6181344" y="2212848"/>
            <a:ext cx="5349240" cy="237744"/>
          </a:xfrm>
          <a:prstGeom prst="rect">
            <a:avLst/>
          </a:prstGeom>
          <a:noFill/>
          <a:ln/>
        </p:spPr>
        <p:txBody>
          <a:bodyPr wrap="square" lIns="0" tIns="0" rIns="0" bIns="0" rtlCol="0" anchor="ctr"/>
          <a:lstStyle/>
          <a:p>
            <a:pPr indent="0" marL="0">
              <a:buNone/>
            </a:pPr>
            <a:r>
              <a:rPr lang="en-US" sz="1100" dirty="0">
                <a:solidFill>
                  <a:srgbClr val="F2545B"/>
                </a:solidFill>
                <a:latin typeface="Calibri" pitchFamily="34" charset="0"/>
                <a:ea typeface="Calibri" pitchFamily="34" charset="-122"/>
                <a:cs typeface="Calibri" pitchFamily="34" charset="-120"/>
              </a:rPr>
              <a:t>It catches fewer distinct bursts than the sweep — 0.174 against 0.413.</a:t>
            </a:r>
            <a:endParaRPr lang="en-US" sz="1100" dirty="0"/>
          </a:p>
        </p:txBody>
      </p:sp>
      <p:sp>
        <p:nvSpPr>
          <p:cNvPr id="21" name="Shape 19"/>
          <p:cNvSpPr/>
          <p:nvPr/>
        </p:nvSpPr>
        <p:spPr>
          <a:xfrm>
            <a:off x="5961888" y="2560320"/>
            <a:ext cx="118872" cy="118872"/>
          </a:xfrm>
          <a:prstGeom prst="ellipse">
            <a:avLst/>
          </a:prstGeom>
          <a:solidFill>
            <a:srgbClr val="3ECF8E"/>
          </a:solidFill>
          <a:ln w="12700">
            <a:solidFill>
              <a:srgbClr val="3ECF8E"/>
            </a:solidFill>
            <a:prstDash val="solid"/>
          </a:ln>
        </p:spPr>
      </p:sp>
      <p:sp>
        <p:nvSpPr>
          <p:cNvPr id="22" name="Text 20"/>
          <p:cNvSpPr txBox="1"/>
          <p:nvPr/>
        </p:nvSpPr>
        <p:spPr>
          <a:xfrm>
            <a:off x="6181344" y="2468880"/>
            <a:ext cx="5349240" cy="566928"/>
          </a:xfrm>
          <a:prstGeom prst="rect">
            <a:avLst/>
          </a:prstGeom>
          <a:noFill/>
          <a:ln/>
        </p:spPr>
        <p:txBody>
          <a:bodyPr wrap="square" lIns="0" tIns="0" rIns="0" bIns="0" rtlCol="0" anchor="ctr"/>
          <a:lstStyle/>
          <a:p>
            <a:pPr indent="0" marL="0">
              <a:lnSpc>
                <a:spcPct val="98000"/>
              </a:lnSpc>
              <a:buNone/>
            </a:pPr>
            <a:r>
              <a:rPr lang="en-US" sz="1100" dirty="0">
                <a:solidFill>
                  <a:srgbClr val="9DB0D0"/>
                </a:solidFill>
                <a:latin typeface="Calibri" pitchFamily="34" charset="0"/>
                <a:ea typeface="Calibri" pitchFamily="34" charset="-122"/>
                <a:cs typeface="Calibri" pitchFamily="34" charset="-120"/>
              </a:rPr>
              <a:t>A real resource frontier, not a defect. With K = 2 of 16 you either spread thin and clip the start of many bursts, or concentrate and hear far more air. One reward weight moves along it monotonically, and is retuned per mission.</a:t>
            </a:r>
            <a:endParaRPr lang="en-US" sz="1100" dirty="0"/>
          </a:p>
        </p:txBody>
      </p:sp>
      <p:sp>
        <p:nvSpPr>
          <p:cNvPr id="23" name="Shape 21"/>
          <p:cNvSpPr/>
          <p:nvPr/>
        </p:nvSpPr>
        <p:spPr>
          <a:xfrm>
            <a:off x="5715000" y="3273552"/>
            <a:ext cx="5971032" cy="1316736"/>
          </a:xfrm>
          <a:prstGeom prst="roundRect">
            <a:avLst>
              <a:gd name="adj" fmla="val 5556"/>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24" name="Shape 22"/>
          <p:cNvSpPr/>
          <p:nvPr/>
        </p:nvSpPr>
        <p:spPr>
          <a:xfrm>
            <a:off x="5961888" y="3511296"/>
            <a:ext cx="118872" cy="118872"/>
          </a:xfrm>
          <a:prstGeom prst="ellipse">
            <a:avLst/>
          </a:prstGeom>
          <a:solidFill>
            <a:srgbClr val="F2545B"/>
          </a:solidFill>
          <a:ln w="12700">
            <a:solidFill>
              <a:srgbClr val="F2545B"/>
            </a:solidFill>
            <a:prstDash val="solid"/>
          </a:ln>
        </p:spPr>
      </p:sp>
      <p:sp>
        <p:nvSpPr>
          <p:cNvPr id="25" name="Text 23"/>
          <p:cNvSpPr txBox="1"/>
          <p:nvPr/>
        </p:nvSpPr>
        <p:spPr>
          <a:xfrm>
            <a:off x="6181344" y="3419856"/>
            <a:ext cx="5349240" cy="256032"/>
          </a:xfrm>
          <a:prstGeom prst="rect">
            <a:avLst/>
          </a:prstGeom>
          <a:noFill/>
          <a:ln/>
        </p:spPr>
        <p:txBody>
          <a:bodyPr wrap="square" lIns="0" tIns="0" rIns="0" bIns="0" rtlCol="0" anchor="ctr"/>
          <a:lstStyle/>
          <a:p>
            <a:pPr indent="0" marL="0">
              <a:buNone/>
            </a:pPr>
            <a:r>
              <a:rPr lang="en-US" sz="1250" b="1" dirty="0">
                <a:solidFill>
                  <a:srgbClr val="EAF0FA"/>
                </a:solidFill>
                <a:latin typeface="Arial" pitchFamily="34" charset="0"/>
                <a:ea typeface="Arial" pitchFamily="34" charset="-122"/>
                <a:cs typeface="Arial" pitchFamily="34" charset="-120"/>
              </a:rPr>
              <a:t>Raw intercept time ranks the better policy worse.</a:t>
            </a:r>
            <a:endParaRPr lang="en-US" sz="1250" dirty="0"/>
          </a:p>
        </p:txBody>
      </p:sp>
      <p:sp>
        <p:nvSpPr>
          <p:cNvPr id="26" name="Text 24"/>
          <p:cNvSpPr txBox="1"/>
          <p:nvPr/>
        </p:nvSpPr>
        <p:spPr>
          <a:xfrm>
            <a:off x="6181344" y="3675888"/>
            <a:ext cx="5349240" cy="237744"/>
          </a:xfrm>
          <a:prstGeom prst="rect">
            <a:avLst/>
          </a:prstGeom>
          <a:noFill/>
          <a:ln/>
        </p:spPr>
        <p:txBody>
          <a:bodyPr wrap="square" lIns="0" tIns="0" rIns="0" bIns="0" rtlCol="0" anchor="ctr"/>
          <a:lstStyle/>
          <a:p>
            <a:pPr indent="0" marL="0">
              <a:buNone/>
            </a:pPr>
            <a:r>
              <a:rPr lang="en-US" sz="1100" dirty="0">
                <a:solidFill>
                  <a:srgbClr val="F2545B"/>
                </a:solidFill>
                <a:latin typeface="Calibri" pitchFamily="34" charset="0"/>
                <a:ea typeface="Calibri" pitchFamily="34" charset="-122"/>
                <a:cs typeface="Calibri" pitchFamily="34" charset="-120"/>
              </a:rPr>
              <a:t>It averages only the bursts a policy actually caught.</a:t>
            </a:r>
            <a:endParaRPr lang="en-US" sz="1100" dirty="0"/>
          </a:p>
        </p:txBody>
      </p:sp>
      <p:sp>
        <p:nvSpPr>
          <p:cNvPr id="27" name="Shape 25"/>
          <p:cNvSpPr/>
          <p:nvPr/>
        </p:nvSpPr>
        <p:spPr>
          <a:xfrm>
            <a:off x="5961888" y="4023360"/>
            <a:ext cx="118872" cy="118872"/>
          </a:xfrm>
          <a:prstGeom prst="ellipse">
            <a:avLst/>
          </a:prstGeom>
          <a:solidFill>
            <a:srgbClr val="3ECF8E"/>
          </a:solidFill>
          <a:ln w="12700">
            <a:solidFill>
              <a:srgbClr val="3ECF8E"/>
            </a:solidFill>
            <a:prstDash val="solid"/>
          </a:ln>
        </p:spPr>
      </p:sp>
      <p:sp>
        <p:nvSpPr>
          <p:cNvPr id="28" name="Text 26"/>
          <p:cNvSpPr txBox="1"/>
          <p:nvPr/>
        </p:nvSpPr>
        <p:spPr>
          <a:xfrm>
            <a:off x="6181344" y="3931920"/>
            <a:ext cx="5349240" cy="566928"/>
          </a:xfrm>
          <a:prstGeom prst="rect">
            <a:avLst/>
          </a:prstGeom>
          <a:noFill/>
          <a:ln/>
        </p:spPr>
        <p:txBody>
          <a:bodyPr wrap="square" lIns="0" tIns="0" rIns="0" bIns="0" rtlCol="0" anchor="ctr"/>
          <a:lstStyle/>
          <a:p>
            <a:pPr indent="0" marL="0">
              <a:lnSpc>
                <a:spcPct val="98000"/>
              </a:lnSpc>
              <a:buNone/>
            </a:pPr>
            <a:r>
              <a:rPr lang="en-US" sz="1100" dirty="0">
                <a:solidFill>
                  <a:srgbClr val="9DB0D0"/>
                </a:solidFill>
                <a:latin typeface="Calibri" pitchFamily="34" charset="0"/>
                <a:ea typeface="Calibri" pitchFamily="34" charset="-122"/>
                <a:cs typeface="Calibri" pitchFamily="34" charset="-120"/>
              </a:rPr>
              <a:t>We report censored intercept time beside it, charging every undetected burst the full episode, so the average is defined over all bursts rather than the easy ones.</a:t>
            </a:r>
            <a:endParaRPr lang="en-US" sz="1100" dirty="0"/>
          </a:p>
        </p:txBody>
      </p:sp>
      <p:sp>
        <p:nvSpPr>
          <p:cNvPr id="29" name="Shape 27"/>
          <p:cNvSpPr/>
          <p:nvPr/>
        </p:nvSpPr>
        <p:spPr>
          <a:xfrm>
            <a:off x="5715000" y="4736592"/>
            <a:ext cx="5971032" cy="1316736"/>
          </a:xfrm>
          <a:prstGeom prst="roundRect">
            <a:avLst>
              <a:gd name="adj" fmla="val 5556"/>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30" name="Shape 28"/>
          <p:cNvSpPr/>
          <p:nvPr/>
        </p:nvSpPr>
        <p:spPr>
          <a:xfrm>
            <a:off x="5961888" y="4974336"/>
            <a:ext cx="118872" cy="118872"/>
          </a:xfrm>
          <a:prstGeom prst="ellipse">
            <a:avLst/>
          </a:prstGeom>
          <a:solidFill>
            <a:srgbClr val="F2545B"/>
          </a:solidFill>
          <a:ln w="12700">
            <a:solidFill>
              <a:srgbClr val="F2545B"/>
            </a:solidFill>
            <a:prstDash val="solid"/>
          </a:ln>
        </p:spPr>
      </p:sp>
      <p:sp>
        <p:nvSpPr>
          <p:cNvPr id="31" name="Text 29"/>
          <p:cNvSpPr txBox="1"/>
          <p:nvPr/>
        </p:nvSpPr>
        <p:spPr>
          <a:xfrm>
            <a:off x="6181344" y="4882896"/>
            <a:ext cx="5349240" cy="256032"/>
          </a:xfrm>
          <a:prstGeom prst="rect">
            <a:avLst/>
          </a:prstGeom>
          <a:noFill/>
          <a:ln/>
        </p:spPr>
        <p:txBody>
          <a:bodyPr wrap="square" lIns="0" tIns="0" rIns="0" bIns="0" rtlCol="0" anchor="ctr"/>
          <a:lstStyle/>
          <a:p>
            <a:pPr indent="0" marL="0">
              <a:buNone/>
            </a:pPr>
            <a:r>
              <a:rPr lang="en-US" sz="1250" b="1" dirty="0">
                <a:solidFill>
                  <a:srgbClr val="EAF0FA"/>
                </a:solidFill>
                <a:latin typeface="Arial" pitchFamily="34" charset="0"/>
                <a:ea typeface="Arial" pitchFamily="34" charset="-122"/>
                <a:cs typeface="Arial" pitchFamily="34" charset="-120"/>
              </a:rPr>
              <a:t>The periodicity service cannot help end to end yet.</a:t>
            </a:r>
            <a:endParaRPr lang="en-US" sz="1250" dirty="0"/>
          </a:p>
        </p:txBody>
      </p:sp>
      <p:sp>
        <p:nvSpPr>
          <p:cNvPr id="32" name="Text 30"/>
          <p:cNvSpPr txBox="1"/>
          <p:nvPr/>
        </p:nvSpPr>
        <p:spPr>
          <a:xfrm>
            <a:off x="6181344" y="5138928"/>
            <a:ext cx="5349240" cy="237744"/>
          </a:xfrm>
          <a:prstGeom prst="rect">
            <a:avLst/>
          </a:prstGeom>
          <a:noFill/>
          <a:ln/>
        </p:spPr>
        <p:txBody>
          <a:bodyPr wrap="square" lIns="0" tIns="0" rIns="0" bIns="0" rtlCol="0" anchor="ctr"/>
          <a:lstStyle/>
          <a:p>
            <a:pPr indent="0" marL="0">
              <a:buNone/>
            </a:pPr>
            <a:r>
              <a:rPr lang="en-US" sz="1100" dirty="0">
                <a:solidFill>
                  <a:srgbClr val="F2545B"/>
                </a:solidFill>
                <a:latin typeface="Calibri" pitchFamily="34" charset="0"/>
                <a:ea typeface="Calibri" pitchFamily="34" charset="-122"/>
                <a:cs typeface="Calibri" pitchFamily="34" charset="-120"/>
              </a:rPr>
              <a:t>It is told when a detection happened, never when a band was heard and found silent.</a:t>
            </a:r>
            <a:endParaRPr lang="en-US" sz="1100" dirty="0"/>
          </a:p>
        </p:txBody>
      </p:sp>
      <p:sp>
        <p:nvSpPr>
          <p:cNvPr id="33" name="Shape 31"/>
          <p:cNvSpPr/>
          <p:nvPr/>
        </p:nvSpPr>
        <p:spPr>
          <a:xfrm>
            <a:off x="5961888" y="5486400"/>
            <a:ext cx="118872" cy="118872"/>
          </a:xfrm>
          <a:prstGeom prst="ellipse">
            <a:avLst/>
          </a:prstGeom>
          <a:solidFill>
            <a:srgbClr val="3ECF8E"/>
          </a:solidFill>
          <a:ln w="12700">
            <a:solidFill>
              <a:srgbClr val="3ECF8E"/>
            </a:solidFill>
            <a:prstDash val="solid"/>
          </a:ln>
        </p:spPr>
      </p:sp>
      <p:sp>
        <p:nvSpPr>
          <p:cNvPr id="34" name="Text 32"/>
          <p:cNvSpPr txBox="1"/>
          <p:nvPr/>
        </p:nvSpPr>
        <p:spPr>
          <a:xfrm>
            <a:off x="6181344" y="5394960"/>
            <a:ext cx="5349240" cy="566928"/>
          </a:xfrm>
          <a:prstGeom prst="rect">
            <a:avLst/>
          </a:prstGeom>
          <a:noFill/>
          <a:ln/>
        </p:spPr>
        <p:txBody>
          <a:bodyPr wrap="square" lIns="0" tIns="0" rIns="0" bIns="0" rtlCol="0" anchor="ctr"/>
          <a:lstStyle/>
          <a:p>
            <a:pPr indent="0" marL="0">
              <a:lnSpc>
                <a:spcPct val="98000"/>
              </a:lnSpc>
              <a:buNone/>
            </a:pPr>
            <a:r>
              <a:rPr lang="en-US" sz="1100" dirty="0">
                <a:solidFill>
                  <a:srgbClr val="9DB0D0"/>
                </a:solidFill>
                <a:latin typeface="Calibri" pitchFamily="34" charset="0"/>
                <a:ea typeface="Calibri" pitchFamily="34" charset="-122"/>
                <a:cs typeface="Calibri" pitchFamily="34" charset="-120"/>
              </a:rPr>
              <a:t>Diagnosed, with a named fix: carry scanned-but-empty observations in the contract. The acceptance test stays in the suite, disabled with this reason, so the gap cannot quietly go stale.</a:t>
            </a:r>
            <a:endParaRPr lang="en-US" sz="1100" dirty="0"/>
          </a:p>
        </p:txBody>
      </p:sp>
      <p:sp>
        <p:nvSpPr>
          <p:cNvPr id="36" name="Text 33"/>
          <p:cNvSpPr txBox="1"/>
          <p:nvPr/>
        </p:nvSpPr>
        <p:spPr>
          <a:xfrm>
            <a:off x="11140135" y="6355080"/>
            <a:ext cx="548640" cy="274320"/>
          </a:xfrm>
          <a:prstGeom prst="rect">
            <a:avLst/>
          </a:prstGeom>
          <a:noFill/>
          <a:ln/>
        </p:spPr>
        <p:txBody>
          <a:bodyPr wrap="square" lIns="0" tIns="0" rIns="0" bIns="0" rtlCol="0" anchor="ctr"/>
          <a:lstStyle/>
          <a:p>
            <a:pPr algn="r" indent="0" marL="0">
              <a:buNone/>
            </a:pPr>
            <a:r>
              <a:rPr lang="en-US" sz="1000" dirty="0">
                <a:solidFill>
                  <a:srgbClr val="6A7DA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100" b="1" spc="240" kern="0" dirty="0">
                <a:solidFill>
                  <a:srgbClr val="FFB020"/>
                </a:solidFill>
                <a:latin typeface="Calibri" pitchFamily="34" charset="0"/>
                <a:ea typeface="Calibri" pitchFamily="34" charset="-122"/>
                <a:cs typeface="Calibri" pitchFamily="34" charset="-120"/>
              </a:rPr>
              <a:t>IMPACT AND BENEFITS</a:t>
            </a:r>
            <a:endParaRPr lang="en-US" sz="1100" dirty="0"/>
          </a:p>
        </p:txBody>
      </p:sp>
      <p:sp>
        <p:nvSpPr>
          <p:cNvPr id="3" name="Text 1"/>
          <p:cNvSpPr txBox="1"/>
          <p:nvPr/>
        </p:nvSpPr>
        <p:spPr>
          <a:xfrm>
            <a:off x="502920" y="603504"/>
            <a:ext cx="11185855" cy="658368"/>
          </a:xfrm>
          <a:prstGeom prst="rect">
            <a:avLst/>
          </a:prstGeom>
          <a:noFill/>
          <a:ln/>
        </p:spPr>
        <p:txBody>
          <a:bodyPr wrap="square" lIns="0" tIns="0" rIns="0" bIns="0" rtlCol="0" anchor="ctr"/>
          <a:lstStyle/>
          <a:p>
            <a:pPr indent="0" marL="0">
              <a:buNone/>
            </a:pPr>
            <a:r>
              <a:rPr lang="en-US" sz="3400" b="1" dirty="0">
                <a:solidFill>
                  <a:srgbClr val="EAF0FA"/>
                </a:solidFill>
                <a:latin typeface="Arial" pitchFamily="34" charset="0"/>
                <a:ea typeface="Arial" pitchFamily="34" charset="-122"/>
                <a:cs typeface="Arial" pitchFamily="34" charset="-120"/>
              </a:rPr>
              <a:t>Three times the detection rate, from the same receiver</a:t>
            </a:r>
            <a:endParaRPr lang="en-US" sz="3400" dirty="0"/>
          </a:p>
        </p:txBody>
      </p:sp>
      <p:sp>
        <p:nvSpPr>
          <p:cNvPr id="4" name="Shape 2"/>
          <p:cNvSpPr/>
          <p:nvPr/>
        </p:nvSpPr>
        <p:spPr>
          <a:xfrm>
            <a:off x="502920" y="1243584"/>
            <a:ext cx="2651760" cy="1298448"/>
          </a:xfrm>
          <a:prstGeom prst="roundRect">
            <a:avLst>
              <a:gd name="adj" fmla="val 5634"/>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5" name="Text 3"/>
          <p:cNvSpPr txBox="1"/>
          <p:nvPr/>
        </p:nvSpPr>
        <p:spPr>
          <a:xfrm>
            <a:off x="704088" y="1371600"/>
            <a:ext cx="2249424" cy="566928"/>
          </a:xfrm>
          <a:prstGeom prst="rect">
            <a:avLst/>
          </a:prstGeom>
          <a:noFill/>
          <a:ln/>
        </p:spPr>
        <p:txBody>
          <a:bodyPr wrap="square" lIns="0" tIns="0" rIns="0" bIns="0" rtlCol="0" anchor="ctr"/>
          <a:lstStyle/>
          <a:p>
            <a:pPr indent="0" marL="0">
              <a:buNone/>
            </a:pPr>
            <a:r>
              <a:rPr lang="en-US" sz="3300" b="1" dirty="0">
                <a:solidFill>
                  <a:srgbClr val="FFB020"/>
                </a:solidFill>
                <a:latin typeface="Arial" pitchFamily="34" charset="0"/>
                <a:ea typeface="Arial" pitchFamily="34" charset="-122"/>
                <a:cs typeface="Arial" pitchFamily="34" charset="-120"/>
              </a:rPr>
              <a:t>3.2×</a:t>
            </a:r>
            <a:endParaRPr lang="en-US" sz="3300" dirty="0"/>
          </a:p>
        </p:txBody>
      </p:sp>
      <p:sp>
        <p:nvSpPr>
          <p:cNvPr id="6" name="Text 4"/>
          <p:cNvSpPr txBox="1"/>
          <p:nvPr/>
        </p:nvSpPr>
        <p:spPr>
          <a:xfrm>
            <a:off x="704088" y="1938528"/>
            <a:ext cx="2249424" cy="256032"/>
          </a:xfrm>
          <a:prstGeom prst="rect">
            <a:avLst/>
          </a:prstGeom>
          <a:noFill/>
          <a:ln/>
        </p:spPr>
        <p:txBody>
          <a:bodyPr wrap="square" lIns="0" tIns="0" rIns="0" bIns="0" rtlCol="0" anchor="ctr"/>
          <a:lstStyle/>
          <a:p>
            <a:pPr indent="0" marL="0">
              <a:buNone/>
            </a:pPr>
            <a:r>
              <a:rPr lang="en-US" sz="1200" b="1" dirty="0">
                <a:solidFill>
                  <a:srgbClr val="EAF0FA"/>
                </a:solidFill>
                <a:latin typeface="Arial" pitchFamily="34" charset="0"/>
                <a:ea typeface="Arial" pitchFamily="34" charset="-122"/>
                <a:cs typeface="Arial" pitchFamily="34" charset="-120"/>
              </a:rPr>
              <a:t>Detection rate</a:t>
            </a:r>
            <a:endParaRPr lang="en-US" sz="1200" dirty="0"/>
          </a:p>
        </p:txBody>
      </p:sp>
      <p:sp>
        <p:nvSpPr>
          <p:cNvPr id="7" name="Text 5"/>
          <p:cNvSpPr txBox="1"/>
          <p:nvPr/>
        </p:nvSpPr>
        <p:spPr>
          <a:xfrm>
            <a:off x="704088" y="2185416"/>
            <a:ext cx="2249424" cy="256032"/>
          </a:xfrm>
          <a:prstGeom prst="rect">
            <a:avLst/>
          </a:prstGeom>
          <a:noFill/>
          <a:ln/>
        </p:spPr>
        <p:txBody>
          <a:bodyPr wrap="square" lIns="0" tIns="0" rIns="0" bIns="0" rtlCol="0" anchor="ctr"/>
          <a:lstStyle/>
          <a:p>
            <a:pPr indent="0" marL="0">
              <a:buNone/>
            </a:pPr>
            <a:r>
              <a:rPr lang="en-US" sz="1050" dirty="0">
                <a:solidFill>
                  <a:srgbClr val="6A7DA0"/>
                </a:solidFill>
                <a:latin typeface="Calibri" pitchFamily="34" charset="0"/>
                <a:ea typeface="Calibri" pitchFamily="34" charset="-122"/>
                <a:cs typeface="Calibri" pitchFamily="34" charset="-120"/>
              </a:rPr>
              <a:t>Pd 0.107 → 0.345</a:t>
            </a:r>
            <a:endParaRPr lang="en-US" sz="1050" dirty="0"/>
          </a:p>
        </p:txBody>
      </p:sp>
      <p:sp>
        <p:nvSpPr>
          <p:cNvPr id="8" name="Shape 6"/>
          <p:cNvSpPr/>
          <p:nvPr/>
        </p:nvSpPr>
        <p:spPr>
          <a:xfrm>
            <a:off x="3346704" y="1243584"/>
            <a:ext cx="2651760" cy="1298448"/>
          </a:xfrm>
          <a:prstGeom prst="roundRect">
            <a:avLst>
              <a:gd name="adj" fmla="val 5634"/>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9" name="Text 7"/>
          <p:cNvSpPr txBox="1"/>
          <p:nvPr/>
        </p:nvSpPr>
        <p:spPr>
          <a:xfrm>
            <a:off x="3547872" y="1371600"/>
            <a:ext cx="2249424" cy="566928"/>
          </a:xfrm>
          <a:prstGeom prst="rect">
            <a:avLst/>
          </a:prstGeom>
          <a:noFill/>
          <a:ln/>
        </p:spPr>
        <p:txBody>
          <a:bodyPr wrap="square" lIns="0" tIns="0" rIns="0" bIns="0" rtlCol="0" anchor="ctr"/>
          <a:lstStyle/>
          <a:p>
            <a:pPr indent="0" marL="0">
              <a:buNone/>
            </a:pPr>
            <a:r>
              <a:rPr lang="en-US" sz="3300" b="1" dirty="0">
                <a:solidFill>
                  <a:srgbClr val="FFB020"/>
                </a:solidFill>
                <a:latin typeface="Arial" pitchFamily="34" charset="0"/>
                <a:ea typeface="Arial" pitchFamily="34" charset="-122"/>
                <a:cs typeface="Arial" pitchFamily="34" charset="-120"/>
              </a:rPr>
              <a:t>3.7×</a:t>
            </a:r>
            <a:endParaRPr lang="en-US" sz="3300" dirty="0"/>
          </a:p>
        </p:txBody>
      </p:sp>
      <p:sp>
        <p:nvSpPr>
          <p:cNvPr id="10" name="Text 8"/>
          <p:cNvSpPr txBox="1"/>
          <p:nvPr/>
        </p:nvSpPr>
        <p:spPr>
          <a:xfrm>
            <a:off x="3547872" y="1938528"/>
            <a:ext cx="2249424" cy="256032"/>
          </a:xfrm>
          <a:prstGeom prst="rect">
            <a:avLst/>
          </a:prstGeom>
          <a:noFill/>
          <a:ln/>
        </p:spPr>
        <p:txBody>
          <a:bodyPr wrap="square" lIns="0" tIns="0" rIns="0" bIns="0" rtlCol="0" anchor="ctr"/>
          <a:lstStyle/>
          <a:p>
            <a:pPr indent="0" marL="0">
              <a:buNone/>
            </a:pPr>
            <a:r>
              <a:rPr lang="en-US" sz="1200" b="1" dirty="0">
                <a:solidFill>
                  <a:srgbClr val="EAF0FA"/>
                </a:solidFill>
                <a:latin typeface="Arial" pitchFamily="34" charset="0"/>
                <a:ea typeface="Arial" pitchFamily="34" charset="-122"/>
                <a:cs typeface="Arial" pitchFamily="34" charset="-120"/>
              </a:rPr>
              <a:t>High-priority detection</a:t>
            </a:r>
            <a:endParaRPr lang="en-US" sz="1200" dirty="0"/>
          </a:p>
        </p:txBody>
      </p:sp>
      <p:sp>
        <p:nvSpPr>
          <p:cNvPr id="11" name="Text 9"/>
          <p:cNvSpPr txBox="1"/>
          <p:nvPr/>
        </p:nvSpPr>
        <p:spPr>
          <a:xfrm>
            <a:off x="3547872" y="2185416"/>
            <a:ext cx="2249424" cy="256032"/>
          </a:xfrm>
          <a:prstGeom prst="rect">
            <a:avLst/>
          </a:prstGeom>
          <a:noFill/>
          <a:ln/>
        </p:spPr>
        <p:txBody>
          <a:bodyPr wrap="square" lIns="0" tIns="0" rIns="0" bIns="0" rtlCol="0" anchor="ctr"/>
          <a:lstStyle/>
          <a:p>
            <a:pPr indent="0" marL="0">
              <a:buNone/>
            </a:pPr>
            <a:r>
              <a:rPr lang="en-US" sz="1050" dirty="0">
                <a:solidFill>
                  <a:srgbClr val="6A7DA0"/>
                </a:solidFill>
                <a:latin typeface="Calibri" pitchFamily="34" charset="0"/>
                <a:ea typeface="Calibri" pitchFamily="34" charset="-122"/>
                <a:cs typeface="Calibri" pitchFamily="34" charset="-120"/>
              </a:rPr>
              <a:t>HPDR 0.101 → 0.375</a:t>
            </a:r>
            <a:endParaRPr lang="en-US" sz="1050" dirty="0"/>
          </a:p>
        </p:txBody>
      </p:sp>
      <p:sp>
        <p:nvSpPr>
          <p:cNvPr id="12" name="Shape 10"/>
          <p:cNvSpPr/>
          <p:nvPr/>
        </p:nvSpPr>
        <p:spPr>
          <a:xfrm>
            <a:off x="6190488" y="1243584"/>
            <a:ext cx="2651760" cy="1298448"/>
          </a:xfrm>
          <a:prstGeom prst="roundRect">
            <a:avLst>
              <a:gd name="adj" fmla="val 5634"/>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13" name="Text 11"/>
          <p:cNvSpPr txBox="1"/>
          <p:nvPr/>
        </p:nvSpPr>
        <p:spPr>
          <a:xfrm>
            <a:off x="6391656" y="1371600"/>
            <a:ext cx="2249424" cy="566928"/>
          </a:xfrm>
          <a:prstGeom prst="rect">
            <a:avLst/>
          </a:prstGeom>
          <a:noFill/>
          <a:ln/>
        </p:spPr>
        <p:txBody>
          <a:bodyPr wrap="square" lIns="0" tIns="0" rIns="0" bIns="0" rtlCol="0" anchor="ctr"/>
          <a:lstStyle/>
          <a:p>
            <a:pPr indent="0" marL="0">
              <a:buNone/>
            </a:pPr>
            <a:r>
              <a:rPr lang="en-US" sz="3300" b="1" dirty="0">
                <a:solidFill>
                  <a:srgbClr val="FFB020"/>
                </a:solidFill>
                <a:latin typeface="Arial" pitchFamily="34" charset="0"/>
                <a:ea typeface="Arial" pitchFamily="34" charset="-122"/>
                <a:cs typeface="Arial" pitchFamily="34" charset="-120"/>
              </a:rPr>
              <a:t>2.9×</a:t>
            </a:r>
            <a:endParaRPr lang="en-US" sz="3300" dirty="0"/>
          </a:p>
        </p:txBody>
      </p:sp>
      <p:sp>
        <p:nvSpPr>
          <p:cNvPr id="14" name="Text 12"/>
          <p:cNvSpPr txBox="1"/>
          <p:nvPr/>
        </p:nvSpPr>
        <p:spPr>
          <a:xfrm>
            <a:off x="6391656" y="1938528"/>
            <a:ext cx="2249424" cy="256032"/>
          </a:xfrm>
          <a:prstGeom prst="rect">
            <a:avLst/>
          </a:prstGeom>
          <a:noFill/>
          <a:ln/>
        </p:spPr>
        <p:txBody>
          <a:bodyPr wrap="square" lIns="0" tIns="0" rIns="0" bIns="0" rtlCol="0" anchor="ctr"/>
          <a:lstStyle/>
          <a:p>
            <a:pPr indent="0" marL="0">
              <a:buNone/>
            </a:pPr>
            <a:r>
              <a:rPr lang="en-US" sz="1200" b="1" dirty="0">
                <a:solidFill>
                  <a:srgbClr val="EAF0FA"/>
                </a:solidFill>
                <a:latin typeface="Arial" pitchFamily="34" charset="0"/>
                <a:ea typeface="Arial" pitchFamily="34" charset="-122"/>
                <a:cs typeface="Arial" pitchFamily="34" charset="-120"/>
              </a:rPr>
              <a:t>Listening efficiency</a:t>
            </a:r>
            <a:endParaRPr lang="en-US" sz="1200" dirty="0"/>
          </a:p>
        </p:txBody>
      </p:sp>
      <p:sp>
        <p:nvSpPr>
          <p:cNvPr id="15" name="Text 13"/>
          <p:cNvSpPr txBox="1"/>
          <p:nvPr/>
        </p:nvSpPr>
        <p:spPr>
          <a:xfrm>
            <a:off x="6391656" y="2185416"/>
            <a:ext cx="2249424" cy="256032"/>
          </a:xfrm>
          <a:prstGeom prst="rect">
            <a:avLst/>
          </a:prstGeom>
          <a:noFill/>
          <a:ln/>
        </p:spPr>
        <p:txBody>
          <a:bodyPr wrap="square" lIns="0" tIns="0" rIns="0" bIns="0" rtlCol="0" anchor="ctr"/>
          <a:lstStyle/>
          <a:p>
            <a:pPr indent="0" marL="0">
              <a:buNone/>
            </a:pPr>
            <a:r>
              <a:rPr lang="en-US" sz="1050" dirty="0">
                <a:solidFill>
                  <a:srgbClr val="6A7DA0"/>
                </a:solidFill>
                <a:latin typeface="Calibri" pitchFamily="34" charset="0"/>
                <a:ea typeface="Calibri" pitchFamily="34" charset="-122"/>
                <a:cs typeface="Calibri" pitchFamily="34" charset="-120"/>
              </a:rPr>
              <a:t>0.198 → 0.573 of dwell on live air</a:t>
            </a:r>
            <a:endParaRPr lang="en-US" sz="1050" dirty="0"/>
          </a:p>
        </p:txBody>
      </p:sp>
      <p:sp>
        <p:nvSpPr>
          <p:cNvPr id="16" name="Shape 14"/>
          <p:cNvSpPr/>
          <p:nvPr/>
        </p:nvSpPr>
        <p:spPr>
          <a:xfrm>
            <a:off x="9034272" y="1243584"/>
            <a:ext cx="2651760" cy="1298448"/>
          </a:xfrm>
          <a:prstGeom prst="roundRect">
            <a:avLst>
              <a:gd name="adj" fmla="val 5634"/>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17" name="Text 15"/>
          <p:cNvSpPr txBox="1"/>
          <p:nvPr/>
        </p:nvSpPr>
        <p:spPr>
          <a:xfrm>
            <a:off x="9235440" y="1371600"/>
            <a:ext cx="2249424" cy="566928"/>
          </a:xfrm>
          <a:prstGeom prst="rect">
            <a:avLst/>
          </a:prstGeom>
          <a:noFill/>
          <a:ln/>
        </p:spPr>
        <p:txBody>
          <a:bodyPr wrap="square" lIns="0" tIns="0" rIns="0" bIns="0" rtlCol="0" anchor="ctr"/>
          <a:lstStyle/>
          <a:p>
            <a:pPr indent="0" marL="0">
              <a:buNone/>
            </a:pPr>
            <a:r>
              <a:rPr lang="en-US" sz="3300" b="1" dirty="0">
                <a:solidFill>
                  <a:srgbClr val="5B8DEF"/>
                </a:solidFill>
                <a:latin typeface="Arial" pitchFamily="34" charset="0"/>
                <a:ea typeface="Arial" pitchFamily="34" charset="-122"/>
                <a:cs typeface="Arial" pitchFamily="34" charset="-120"/>
              </a:rPr>
              <a:t>6.6 ms</a:t>
            </a:r>
            <a:endParaRPr lang="en-US" sz="3300" dirty="0"/>
          </a:p>
        </p:txBody>
      </p:sp>
      <p:sp>
        <p:nvSpPr>
          <p:cNvPr id="18" name="Text 16"/>
          <p:cNvSpPr txBox="1"/>
          <p:nvPr/>
        </p:nvSpPr>
        <p:spPr>
          <a:xfrm>
            <a:off x="9235440" y="1938528"/>
            <a:ext cx="2249424" cy="256032"/>
          </a:xfrm>
          <a:prstGeom prst="rect">
            <a:avLst/>
          </a:prstGeom>
          <a:noFill/>
          <a:ln/>
        </p:spPr>
        <p:txBody>
          <a:bodyPr wrap="square" lIns="0" tIns="0" rIns="0" bIns="0" rtlCol="0" anchor="ctr"/>
          <a:lstStyle/>
          <a:p>
            <a:pPr indent="0" marL="0">
              <a:buNone/>
            </a:pPr>
            <a:r>
              <a:rPr lang="en-US" sz="1200" b="1" dirty="0">
                <a:solidFill>
                  <a:srgbClr val="EAF0FA"/>
                </a:solidFill>
                <a:latin typeface="Arial" pitchFamily="34" charset="0"/>
                <a:ea typeface="Arial" pitchFamily="34" charset="-122"/>
                <a:cs typeface="Arial" pitchFamily="34" charset="-120"/>
              </a:rPr>
              <a:t>Decision latency</a:t>
            </a:r>
            <a:endParaRPr lang="en-US" sz="1200" dirty="0"/>
          </a:p>
        </p:txBody>
      </p:sp>
      <p:sp>
        <p:nvSpPr>
          <p:cNvPr id="19" name="Text 17"/>
          <p:cNvSpPr txBox="1"/>
          <p:nvPr/>
        </p:nvSpPr>
        <p:spPr>
          <a:xfrm>
            <a:off x="9235440" y="2185416"/>
            <a:ext cx="2249424" cy="256032"/>
          </a:xfrm>
          <a:prstGeom prst="rect">
            <a:avLst/>
          </a:prstGeom>
          <a:noFill/>
          <a:ln/>
        </p:spPr>
        <p:txBody>
          <a:bodyPr wrap="square" lIns="0" tIns="0" rIns="0" bIns="0" rtlCol="0" anchor="ctr"/>
          <a:lstStyle/>
          <a:p>
            <a:pPr indent="0" marL="0">
              <a:buNone/>
            </a:pPr>
            <a:r>
              <a:rPr lang="en-US" sz="1050" dirty="0">
                <a:solidFill>
                  <a:srgbClr val="6A7DA0"/>
                </a:solidFill>
                <a:latin typeface="Calibri" pitchFamily="34" charset="0"/>
                <a:ea typeface="Calibri" pitchFamily="34" charset="-122"/>
                <a:cs typeface="Calibri" pitchFamily="34" charset="-120"/>
              </a:rPr>
              <a:t>p95 over HTTP, 50 ms budget</a:t>
            </a:r>
            <a:endParaRPr lang="en-US" sz="1050" dirty="0"/>
          </a:p>
        </p:txBody>
      </p:sp>
      <p:sp>
        <p:nvSpPr>
          <p:cNvPr id="20" name="Shape 18"/>
          <p:cNvSpPr/>
          <p:nvPr/>
        </p:nvSpPr>
        <p:spPr>
          <a:xfrm>
            <a:off x="502920" y="2761488"/>
            <a:ext cx="6446520" cy="3291840"/>
          </a:xfrm>
          <a:prstGeom prst="roundRect">
            <a:avLst>
              <a:gd name="adj" fmla="val 2222"/>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21" name="Text 19"/>
          <p:cNvSpPr txBox="1"/>
          <p:nvPr/>
        </p:nvSpPr>
        <p:spPr>
          <a:xfrm>
            <a:off x="777240" y="2962656"/>
            <a:ext cx="594360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ROUND-ROBIN SWEEP VERSUS THE LEARNED POLICY</a:t>
            </a:r>
            <a:endParaRPr lang="en-US" sz="1050" dirty="0"/>
          </a:p>
        </p:txBody>
      </p:sp>
      <p:graphicFrame>
        <p:nvGraphicFramePr>
          <p:cNvPr id="22" name="Chart 0" descr=""/>
          <p:cNvGraphicFramePr/>
          <p:nvPr/>
        </p:nvGraphicFramePr>
        <p:xfrm>
          <a:off x="667512" y="3255264"/>
          <a:ext cx="6144768" cy="2542032"/>
        </p:xfrm>
        <a:graphic xmlns:a="http://schemas.openxmlformats.org/drawingml/2006/main">
          <a:graphicData uri="http://schemas.openxmlformats.org/drawingml/2006/chart">
            <c:chart xmlns:c="http://schemas.openxmlformats.org/drawingml/2006/chart" r:id="rId1"/>
          </a:graphicData>
        </a:graphic>
      </p:graphicFrame>
      <p:sp>
        <p:nvSpPr>
          <p:cNvPr id="23" name="Shape 20"/>
          <p:cNvSpPr/>
          <p:nvPr/>
        </p:nvSpPr>
        <p:spPr>
          <a:xfrm>
            <a:off x="7269480" y="2761488"/>
            <a:ext cx="4425696" cy="3291840"/>
          </a:xfrm>
          <a:prstGeom prst="roundRect">
            <a:avLst>
              <a:gd name="adj" fmla="val 2222"/>
            </a:avLst>
          </a:prstGeom>
          <a:solidFill>
            <a:srgbClr val="1C2A4A"/>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24" name="Text 21"/>
          <p:cNvSpPr txBox="1"/>
          <p:nvPr/>
        </p:nvSpPr>
        <p:spPr>
          <a:xfrm>
            <a:off x="7543800" y="2962656"/>
            <a:ext cx="393192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WHO IT SERVES</a:t>
            </a:r>
            <a:endParaRPr lang="en-US" sz="1050" dirty="0"/>
          </a:p>
        </p:txBody>
      </p:sp>
      <p:sp>
        <p:nvSpPr>
          <p:cNvPr id="25" name="Shape 22"/>
          <p:cNvSpPr/>
          <p:nvPr/>
        </p:nvSpPr>
        <p:spPr>
          <a:xfrm>
            <a:off x="7543800" y="3346704"/>
            <a:ext cx="91440" cy="91440"/>
          </a:xfrm>
          <a:prstGeom prst="rect">
            <a:avLst/>
          </a:prstGeom>
          <a:solidFill>
            <a:srgbClr val="FFB020"/>
          </a:solidFill>
          <a:ln w="12700">
            <a:solidFill>
              <a:srgbClr val="FFB020"/>
            </a:solidFill>
            <a:prstDash val="solid"/>
          </a:ln>
        </p:spPr>
      </p:sp>
      <p:sp>
        <p:nvSpPr>
          <p:cNvPr id="26" name="Text 23"/>
          <p:cNvSpPr txBox="1"/>
          <p:nvPr/>
        </p:nvSpPr>
        <p:spPr>
          <a:xfrm>
            <a:off x="7744968" y="3291840"/>
            <a:ext cx="3749040" cy="237744"/>
          </a:xfrm>
          <a:prstGeom prst="rect">
            <a:avLst/>
          </a:prstGeom>
          <a:noFill/>
          <a:ln/>
        </p:spPr>
        <p:txBody>
          <a:bodyPr wrap="square" lIns="0" tIns="0" rIns="0" bIns="0" rtlCol="0" anchor="ctr"/>
          <a:lstStyle/>
          <a:p>
            <a:pPr indent="0" marL="0">
              <a:buNone/>
            </a:pPr>
            <a:r>
              <a:rPr lang="en-US" sz="1250" b="1" dirty="0">
                <a:solidFill>
                  <a:srgbClr val="FFB020"/>
                </a:solidFill>
                <a:latin typeface="Arial" pitchFamily="34" charset="0"/>
                <a:ea typeface="Arial" pitchFamily="34" charset="-122"/>
                <a:cs typeface="Arial" pitchFamily="34" charset="-120"/>
              </a:rPr>
              <a:t>Operational</a:t>
            </a:r>
            <a:endParaRPr lang="en-US" sz="1250" dirty="0"/>
          </a:p>
        </p:txBody>
      </p:sp>
      <p:sp>
        <p:nvSpPr>
          <p:cNvPr id="27" name="Text 24"/>
          <p:cNvSpPr txBox="1"/>
          <p:nvPr/>
        </p:nvSpPr>
        <p:spPr>
          <a:xfrm>
            <a:off x="7744968" y="3538728"/>
            <a:ext cx="3749040" cy="621792"/>
          </a:xfrm>
          <a:prstGeom prst="rect">
            <a:avLst/>
          </a:prstGeom>
          <a:noFill/>
          <a:ln/>
        </p:spPr>
        <p:txBody>
          <a:bodyPr wrap="square" lIns="0" tIns="0" rIns="0" bIns="0" rtlCol="0" anchor="ctr"/>
          <a:lstStyle/>
          <a:p>
            <a:pPr indent="0" marL="0">
              <a:lnSpc>
                <a:spcPct val="98000"/>
              </a:lnSpc>
              <a:buNone/>
            </a:pPr>
            <a:r>
              <a:rPr lang="en-US" sz="1100" dirty="0">
                <a:solidFill>
                  <a:srgbClr val="9DB0D0"/>
                </a:solidFill>
                <a:latin typeface="Calibri" pitchFamily="34" charset="0"/>
                <a:ea typeface="Calibri" pitchFamily="34" charset="-122"/>
                <a:cs typeface="Calibri" pitchFamily="34" charset="-120"/>
              </a:rPr>
              <a:t>Spectrum-monitoring and EW operators hear more of the band plan from the receiver they already own — a capability gain in software, with no extra RF front-ends.</a:t>
            </a:r>
            <a:endParaRPr lang="en-US" sz="1100" dirty="0"/>
          </a:p>
        </p:txBody>
      </p:sp>
      <p:sp>
        <p:nvSpPr>
          <p:cNvPr id="28" name="Shape 25"/>
          <p:cNvSpPr/>
          <p:nvPr/>
        </p:nvSpPr>
        <p:spPr>
          <a:xfrm>
            <a:off x="7543800" y="4242816"/>
            <a:ext cx="91440" cy="91440"/>
          </a:xfrm>
          <a:prstGeom prst="rect">
            <a:avLst/>
          </a:prstGeom>
          <a:solidFill>
            <a:srgbClr val="5B8DEF"/>
          </a:solidFill>
          <a:ln w="12700">
            <a:solidFill>
              <a:srgbClr val="5B8DEF"/>
            </a:solidFill>
            <a:prstDash val="solid"/>
          </a:ln>
        </p:spPr>
      </p:sp>
      <p:sp>
        <p:nvSpPr>
          <p:cNvPr id="29" name="Text 26"/>
          <p:cNvSpPr txBox="1"/>
          <p:nvPr/>
        </p:nvSpPr>
        <p:spPr>
          <a:xfrm>
            <a:off x="7744968" y="4187952"/>
            <a:ext cx="3749040" cy="237744"/>
          </a:xfrm>
          <a:prstGeom prst="rect">
            <a:avLst/>
          </a:prstGeom>
          <a:noFill/>
          <a:ln/>
        </p:spPr>
        <p:txBody>
          <a:bodyPr wrap="square" lIns="0" tIns="0" rIns="0" bIns="0" rtlCol="0" anchor="ctr"/>
          <a:lstStyle/>
          <a:p>
            <a:pPr indent="0" marL="0">
              <a:buNone/>
            </a:pPr>
            <a:r>
              <a:rPr lang="en-US" sz="1250" b="1" dirty="0">
                <a:solidFill>
                  <a:srgbClr val="5B8DEF"/>
                </a:solidFill>
                <a:latin typeface="Arial" pitchFamily="34" charset="0"/>
                <a:ea typeface="Arial" pitchFamily="34" charset="-122"/>
                <a:cs typeface="Arial" pitchFamily="34" charset="-120"/>
              </a:rPr>
              <a:t>Economic</a:t>
            </a:r>
            <a:endParaRPr lang="en-US" sz="1250" dirty="0"/>
          </a:p>
        </p:txBody>
      </p:sp>
      <p:sp>
        <p:nvSpPr>
          <p:cNvPr id="30" name="Text 27"/>
          <p:cNvSpPr txBox="1"/>
          <p:nvPr/>
        </p:nvSpPr>
        <p:spPr>
          <a:xfrm>
            <a:off x="7744968" y="4434840"/>
            <a:ext cx="3749040" cy="621792"/>
          </a:xfrm>
          <a:prstGeom prst="rect">
            <a:avLst/>
          </a:prstGeom>
          <a:noFill/>
          <a:ln/>
        </p:spPr>
        <p:txBody>
          <a:bodyPr wrap="square" lIns="0" tIns="0" rIns="0" bIns="0" rtlCol="0" anchor="ctr"/>
          <a:lstStyle/>
          <a:p>
            <a:pPr indent="0" marL="0">
              <a:lnSpc>
                <a:spcPct val="98000"/>
              </a:lnSpc>
              <a:buNone/>
            </a:pPr>
            <a:r>
              <a:rPr lang="en-US" sz="1100" dirty="0">
                <a:solidFill>
                  <a:srgbClr val="9DB0D0"/>
                </a:solidFill>
                <a:latin typeface="Calibri" pitchFamily="34" charset="0"/>
                <a:ea typeface="Calibri" pitchFamily="34" charset="-122"/>
                <a:cs typeface="Calibri" pitchFamily="34" charset="-120"/>
              </a:rPr>
              <a:t>A reproducible testbed lets scan strategies be compared, and rejected, before any hardware is committed to a programme.</a:t>
            </a:r>
            <a:endParaRPr lang="en-US" sz="1100" dirty="0"/>
          </a:p>
        </p:txBody>
      </p:sp>
      <p:sp>
        <p:nvSpPr>
          <p:cNvPr id="31" name="Shape 28"/>
          <p:cNvSpPr/>
          <p:nvPr/>
        </p:nvSpPr>
        <p:spPr>
          <a:xfrm>
            <a:off x="7543800" y="5138928"/>
            <a:ext cx="91440" cy="91440"/>
          </a:xfrm>
          <a:prstGeom prst="rect">
            <a:avLst/>
          </a:prstGeom>
          <a:solidFill>
            <a:srgbClr val="3ECF8E"/>
          </a:solidFill>
          <a:ln w="12700">
            <a:solidFill>
              <a:srgbClr val="3ECF8E"/>
            </a:solidFill>
            <a:prstDash val="solid"/>
          </a:ln>
        </p:spPr>
      </p:sp>
      <p:sp>
        <p:nvSpPr>
          <p:cNvPr id="32" name="Text 29"/>
          <p:cNvSpPr txBox="1"/>
          <p:nvPr/>
        </p:nvSpPr>
        <p:spPr>
          <a:xfrm>
            <a:off x="7744968" y="5084064"/>
            <a:ext cx="3749040" cy="237744"/>
          </a:xfrm>
          <a:prstGeom prst="rect">
            <a:avLst/>
          </a:prstGeom>
          <a:noFill/>
          <a:ln/>
        </p:spPr>
        <p:txBody>
          <a:bodyPr wrap="square" lIns="0" tIns="0" rIns="0" bIns="0" rtlCol="0" anchor="ctr"/>
          <a:lstStyle/>
          <a:p>
            <a:pPr indent="0" marL="0">
              <a:buNone/>
            </a:pPr>
            <a:r>
              <a:rPr lang="en-US" sz="1250" b="1" dirty="0">
                <a:solidFill>
                  <a:srgbClr val="3ECF8E"/>
                </a:solidFill>
                <a:latin typeface="Arial" pitchFamily="34" charset="0"/>
                <a:ea typeface="Arial" pitchFamily="34" charset="-122"/>
                <a:cs typeface="Arial" pitchFamily="34" charset="-120"/>
              </a:rPr>
              <a:t>Scientific</a:t>
            </a:r>
            <a:endParaRPr lang="en-US" sz="1250" dirty="0"/>
          </a:p>
        </p:txBody>
      </p:sp>
      <p:sp>
        <p:nvSpPr>
          <p:cNvPr id="33" name="Text 30"/>
          <p:cNvSpPr txBox="1"/>
          <p:nvPr/>
        </p:nvSpPr>
        <p:spPr>
          <a:xfrm>
            <a:off x="7744968" y="5330952"/>
            <a:ext cx="3749040" cy="621792"/>
          </a:xfrm>
          <a:prstGeom prst="rect">
            <a:avLst/>
          </a:prstGeom>
          <a:noFill/>
          <a:ln/>
        </p:spPr>
        <p:txBody>
          <a:bodyPr wrap="square" lIns="0" tIns="0" rIns="0" bIns="0" rtlCol="0" anchor="ctr"/>
          <a:lstStyle/>
          <a:p>
            <a:pPr indent="0" marL="0">
              <a:lnSpc>
                <a:spcPct val="98000"/>
              </a:lnSpc>
              <a:buNone/>
            </a:pPr>
            <a:r>
              <a:rPr lang="en-US" sz="1100" dirty="0">
                <a:solidFill>
                  <a:srgbClr val="9DB0D0"/>
                </a:solidFill>
                <a:latin typeface="Calibri" pitchFamily="34" charset="0"/>
                <a:ea typeface="Calibri" pitchFamily="34" charset="-122"/>
                <a:cs typeface="Calibri" pitchFamily="34" charset="-120"/>
              </a:rPr>
              <a:t>The phase-folding estimator and the censored-average metric generalise to any sparse, irregularly sampled event series.</a:t>
            </a:r>
            <a:endParaRPr lang="en-US" sz="1100" dirty="0"/>
          </a:p>
        </p:txBody>
      </p:sp>
      <p:sp>
        <p:nvSpPr>
          <p:cNvPr id="34" name="Text 31"/>
          <p:cNvSpPr txBox="1"/>
          <p:nvPr/>
        </p:nvSpPr>
        <p:spPr>
          <a:xfrm>
            <a:off x="502920" y="6126480"/>
            <a:ext cx="8686800" cy="274320"/>
          </a:xfrm>
          <a:prstGeom prst="rect">
            <a:avLst/>
          </a:prstGeom>
          <a:noFill/>
          <a:ln/>
        </p:spPr>
        <p:txBody>
          <a:bodyPr wrap="square" lIns="0" tIns="0" rIns="0" bIns="0" rtlCol="0" anchor="ctr"/>
          <a:lstStyle/>
          <a:p>
            <a:pPr indent="0" marL="0">
              <a:buNone/>
            </a:pPr>
            <a:r>
              <a:rPr lang="en-US" sz="950" i="1" dirty="0">
                <a:solidFill>
                  <a:srgbClr val="6A7DA0"/>
                </a:solidFill>
                <a:latin typeface="Calibri" pitchFamily="34" charset="0"/>
                <a:ea typeface="Calibri" pitchFamily="34" charset="-122"/>
                <a:cs typeface="Calibri" pitchFamily="34" charset="-120"/>
              </a:rPr>
              <a:t>Scenario B · 16 bands · 10 emitters · 5 seeds · 1000 steps · every policy on an identical spectrum per seed</a:t>
            </a:r>
            <a:endParaRPr lang="en-US" sz="950" dirty="0"/>
          </a:p>
        </p:txBody>
      </p:sp>
      <p:sp>
        <p:nvSpPr>
          <p:cNvPr id="36" name="Text 32"/>
          <p:cNvSpPr txBox="1"/>
          <p:nvPr/>
        </p:nvSpPr>
        <p:spPr>
          <a:xfrm>
            <a:off x="11140135" y="6355080"/>
            <a:ext cx="548640" cy="274320"/>
          </a:xfrm>
          <a:prstGeom prst="rect">
            <a:avLst/>
          </a:prstGeom>
          <a:noFill/>
          <a:ln/>
        </p:spPr>
        <p:txBody>
          <a:bodyPr wrap="square" lIns="0" tIns="0" rIns="0" bIns="0" rtlCol="0" anchor="ctr"/>
          <a:lstStyle/>
          <a:p>
            <a:pPr algn="r" indent="0" marL="0">
              <a:buNone/>
            </a:pPr>
            <a:r>
              <a:rPr lang="en-US" sz="1000" dirty="0">
                <a:solidFill>
                  <a:srgbClr val="6A7DA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Text 0"/>
          <p:cNvSpPr txBox="1"/>
          <p:nvPr/>
        </p:nvSpPr>
        <p:spPr>
          <a:xfrm>
            <a:off x="502920" y="310896"/>
            <a:ext cx="7315200" cy="237744"/>
          </a:xfrm>
          <a:prstGeom prst="rect">
            <a:avLst/>
          </a:prstGeom>
          <a:noFill/>
          <a:ln/>
        </p:spPr>
        <p:txBody>
          <a:bodyPr wrap="square" lIns="0" tIns="0" rIns="0" bIns="0" rtlCol="0" anchor="ctr"/>
          <a:lstStyle/>
          <a:p>
            <a:pPr indent="0" marL="0">
              <a:buNone/>
            </a:pPr>
            <a:r>
              <a:rPr lang="en-US" sz="1100" b="1" spc="240" kern="0" dirty="0">
                <a:solidFill>
                  <a:srgbClr val="FFB020"/>
                </a:solidFill>
                <a:latin typeface="Calibri" pitchFamily="34" charset="0"/>
                <a:ea typeface="Calibri" pitchFamily="34" charset="-122"/>
                <a:cs typeface="Calibri" pitchFamily="34" charset="-120"/>
              </a:rPr>
              <a:t>RESEARCH AND REFERENCES</a:t>
            </a:r>
            <a:endParaRPr lang="en-US" sz="1100" dirty="0"/>
          </a:p>
        </p:txBody>
      </p:sp>
      <p:sp>
        <p:nvSpPr>
          <p:cNvPr id="3" name="Text 1"/>
          <p:cNvSpPr txBox="1"/>
          <p:nvPr/>
        </p:nvSpPr>
        <p:spPr>
          <a:xfrm>
            <a:off x="502920" y="603504"/>
            <a:ext cx="11185855" cy="658368"/>
          </a:xfrm>
          <a:prstGeom prst="rect">
            <a:avLst/>
          </a:prstGeom>
          <a:noFill/>
          <a:ln/>
        </p:spPr>
        <p:txBody>
          <a:bodyPr wrap="square" lIns="0" tIns="0" rIns="0" bIns="0" rtlCol="0" anchor="ctr"/>
          <a:lstStyle/>
          <a:p>
            <a:pPr indent="0" marL="0">
              <a:buNone/>
            </a:pPr>
            <a:r>
              <a:rPr lang="en-US" sz="3400" b="1" dirty="0">
                <a:solidFill>
                  <a:srgbClr val="EAF0FA"/>
                </a:solidFill>
                <a:latin typeface="Arial" pitchFamily="34" charset="0"/>
                <a:ea typeface="Arial" pitchFamily="34" charset="-122"/>
                <a:cs typeface="Arial" pitchFamily="34" charset="-120"/>
              </a:rPr>
              <a:t>Measured against the baselines it replaces</a:t>
            </a:r>
            <a:endParaRPr lang="en-US" sz="3400" dirty="0"/>
          </a:p>
        </p:txBody>
      </p:sp>
      <p:sp>
        <p:nvSpPr>
          <p:cNvPr id="4" name="Shape 2"/>
          <p:cNvSpPr/>
          <p:nvPr/>
        </p:nvSpPr>
        <p:spPr>
          <a:xfrm>
            <a:off x="502920" y="1280160"/>
            <a:ext cx="5577840" cy="3246120"/>
          </a:xfrm>
          <a:prstGeom prst="roundRect">
            <a:avLst>
              <a:gd name="adj" fmla="val 2254"/>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5" name="Text 3"/>
          <p:cNvSpPr txBox="1"/>
          <p:nvPr/>
        </p:nvSpPr>
        <p:spPr>
          <a:xfrm>
            <a:off x="777240" y="1481328"/>
            <a:ext cx="502920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SCENARIO B RESULTS — 5 SEEDS, 1000 STEPS</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58952" y="1792224"/>
          <a:ext cx="5065776" cy="914400"/>
        </p:xfrm>
        <a:graphic>
          <a:graphicData uri="http://schemas.openxmlformats.org/drawingml/2006/table">
            <a:tbl>
              <a:tblPr/>
              <a:tblGrid>
                <a:gridCol w="2048256"/>
                <a:gridCol w="932688"/>
                <a:gridCol w="1133856"/>
                <a:gridCol w="950976"/>
              </a:tblGrid>
              <a:tr h="329184">
                <a:tc>
                  <a:txBody>
                    <a:bodyPr/>
                    <a:lstStyle/>
                    <a:p>
                      <a:pPr indent="0" marL="0">
                        <a:buNone/>
                      </a:pPr>
                      <a:r>
                        <a:rPr lang="en-US" sz="1050" b="1" dirty="0">
                          <a:solidFill>
                            <a:srgbClr val="EAF0FA"/>
                          </a:solidFill>
                          <a:latin typeface="Arial" pitchFamily="34" charset="0"/>
                          <a:ea typeface="Arial" pitchFamily="34" charset="-122"/>
                          <a:cs typeface="Arial" pitchFamily="34" charset="-120"/>
                        </a:rPr>
                        <a:t>Metric</a:t>
                      </a:r>
                      <a:endParaRPr lang="en-US" sz="1050" dirty="0">
                        <a:latin typeface="Arial" charset="0"/>
                        <a:ea typeface="Arial" charset="0"/>
                        <a:cs typeface="Arial"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C2A4A"/>
                    </a:solidFill>
                  </a:tcPr>
                </a:tc>
                <a:tc>
                  <a:txBody>
                    <a:bodyPr/>
                    <a:lstStyle/>
                    <a:p>
                      <a:pPr algn="ctr" indent="0" marL="0">
                        <a:buNone/>
                      </a:pPr>
                      <a:r>
                        <a:rPr lang="en-US" sz="1050" b="1" dirty="0">
                          <a:solidFill>
                            <a:srgbClr val="EAF0FA"/>
                          </a:solidFill>
                          <a:latin typeface="Arial" pitchFamily="34" charset="0"/>
                          <a:ea typeface="Arial" pitchFamily="34" charset="-122"/>
                          <a:cs typeface="Arial" pitchFamily="34" charset="-120"/>
                        </a:rPr>
                        <a:t>Random</a:t>
                      </a:r>
                      <a:endParaRPr lang="en-US" sz="1050" dirty="0">
                        <a:latin typeface="Arial" charset="0"/>
                        <a:ea typeface="Arial" charset="0"/>
                        <a:cs typeface="Arial"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C2A4A"/>
                    </a:solidFill>
                  </a:tcPr>
                </a:tc>
                <a:tc>
                  <a:txBody>
                    <a:bodyPr/>
                    <a:lstStyle/>
                    <a:p>
                      <a:pPr algn="ctr" indent="0" marL="0">
                        <a:buNone/>
                      </a:pPr>
                      <a:r>
                        <a:rPr lang="en-US" sz="1050" b="1" dirty="0">
                          <a:solidFill>
                            <a:srgbClr val="EAF0FA"/>
                          </a:solidFill>
                          <a:latin typeface="Arial" pitchFamily="34" charset="0"/>
                          <a:ea typeface="Arial" pitchFamily="34" charset="-122"/>
                          <a:cs typeface="Arial" pitchFamily="34" charset="-120"/>
                        </a:rPr>
                        <a:t>Round-robin</a:t>
                      </a:r>
                      <a:endParaRPr lang="en-US" sz="1050" dirty="0">
                        <a:latin typeface="Arial" charset="0"/>
                        <a:ea typeface="Arial" charset="0"/>
                        <a:cs typeface="Arial"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C2A4A"/>
                    </a:solidFill>
                  </a:tcPr>
                </a:tc>
                <a:tc>
                  <a:txBody>
                    <a:bodyPr/>
                    <a:lstStyle/>
                    <a:p>
                      <a:pPr algn="ctr" indent="0" marL="0">
                        <a:buNone/>
                      </a:pPr>
                      <a:r>
                        <a:rPr lang="en-US" sz="1050" b="1" dirty="0">
                          <a:solidFill>
                            <a:srgbClr val="EAF0FA"/>
                          </a:solidFill>
                          <a:latin typeface="Arial" pitchFamily="34" charset="0"/>
                          <a:ea typeface="Arial" pitchFamily="34" charset="-122"/>
                          <a:cs typeface="Arial" pitchFamily="34" charset="-120"/>
                        </a:rPr>
                        <a:t>SHRUTI</a:t>
                      </a:r>
                      <a:endParaRPr lang="en-US" sz="1050" dirty="0">
                        <a:latin typeface="Arial" charset="0"/>
                        <a:ea typeface="Arial" charset="0"/>
                        <a:cs typeface="Arial"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C2A4A"/>
                    </a:solidFill>
                  </a:tcPr>
                </a:tc>
              </a:tr>
              <a:tr h="329184">
                <a:tc>
                  <a:txBody>
                    <a:bodyPr/>
                    <a:lstStyle/>
                    <a:p>
                      <a:pPr indent="0" marL="0">
                        <a:buNone/>
                      </a:pPr>
                      <a:r>
                        <a:rPr lang="en-US" sz="1100" dirty="0">
                          <a:solidFill>
                            <a:srgbClr val="9DB0D0"/>
                          </a:solidFill>
                          <a:latin typeface="Calibri" pitchFamily="34" charset="0"/>
                          <a:ea typeface="Calibri" pitchFamily="34" charset="-122"/>
                          <a:cs typeface="Calibri" pitchFamily="34" charset="-120"/>
                        </a:rPr>
                        <a:t>Detection rate (Pd)</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dirty="0">
                          <a:solidFill>
                            <a:srgbClr val="9DB0D0"/>
                          </a:solidFill>
                          <a:latin typeface="Calibri" pitchFamily="34" charset="0"/>
                          <a:ea typeface="Calibri" pitchFamily="34" charset="-122"/>
                          <a:cs typeface="Calibri" pitchFamily="34" charset="-120"/>
                        </a:rPr>
                        <a:t>0.104</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dirty="0">
                          <a:solidFill>
                            <a:srgbClr val="9DB0D0"/>
                          </a:solidFill>
                          <a:latin typeface="Calibri" pitchFamily="34" charset="0"/>
                          <a:ea typeface="Calibri" pitchFamily="34" charset="-122"/>
                          <a:cs typeface="Calibri" pitchFamily="34" charset="-120"/>
                        </a:rPr>
                        <a:t>0.107</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b="1" dirty="0">
                          <a:solidFill>
                            <a:srgbClr val="FFB020"/>
                          </a:solidFill>
                          <a:latin typeface="Arial" pitchFamily="34" charset="0"/>
                          <a:ea typeface="Arial" pitchFamily="34" charset="-122"/>
                          <a:cs typeface="Arial" pitchFamily="34" charset="-120"/>
                        </a:rPr>
                        <a:t>0.345</a:t>
                      </a:r>
                      <a:endParaRPr lang="en-US" sz="1100" dirty="0">
                        <a:latin typeface="Arial" charset="0"/>
                        <a:ea typeface="Arial" charset="0"/>
                        <a:cs typeface="Arial"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r>
              <a:tr h="329184">
                <a:tc>
                  <a:txBody>
                    <a:bodyPr/>
                    <a:lstStyle/>
                    <a:p>
                      <a:pPr indent="0" marL="0">
                        <a:buNone/>
                      </a:pPr>
                      <a:r>
                        <a:rPr lang="en-US" sz="1100" dirty="0">
                          <a:solidFill>
                            <a:srgbClr val="9DB0D0"/>
                          </a:solidFill>
                          <a:latin typeface="Calibri" pitchFamily="34" charset="0"/>
                          <a:ea typeface="Calibri" pitchFamily="34" charset="-122"/>
                          <a:cs typeface="Calibri" pitchFamily="34" charset="-120"/>
                        </a:rPr>
                        <a:t>High-priority detection</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dirty="0">
                          <a:solidFill>
                            <a:srgbClr val="9DB0D0"/>
                          </a:solidFill>
                          <a:latin typeface="Calibri" pitchFamily="34" charset="0"/>
                          <a:ea typeface="Calibri" pitchFamily="34" charset="-122"/>
                          <a:cs typeface="Calibri" pitchFamily="34" charset="-120"/>
                        </a:rPr>
                        <a:t>0.109</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dirty="0">
                          <a:solidFill>
                            <a:srgbClr val="9DB0D0"/>
                          </a:solidFill>
                          <a:latin typeface="Calibri" pitchFamily="34" charset="0"/>
                          <a:ea typeface="Calibri" pitchFamily="34" charset="-122"/>
                          <a:cs typeface="Calibri" pitchFamily="34" charset="-120"/>
                        </a:rPr>
                        <a:t>0.101</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b="1" dirty="0">
                          <a:solidFill>
                            <a:srgbClr val="FFB020"/>
                          </a:solidFill>
                          <a:latin typeface="Arial" pitchFamily="34" charset="0"/>
                          <a:ea typeface="Arial" pitchFamily="34" charset="-122"/>
                          <a:cs typeface="Arial" pitchFamily="34" charset="-120"/>
                        </a:rPr>
                        <a:t>0.375</a:t>
                      </a:r>
                      <a:endParaRPr lang="en-US" sz="1100" dirty="0">
                        <a:latin typeface="Arial" charset="0"/>
                        <a:ea typeface="Arial" charset="0"/>
                        <a:cs typeface="Arial"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r>
              <a:tr h="329184">
                <a:tc>
                  <a:txBody>
                    <a:bodyPr/>
                    <a:lstStyle/>
                    <a:p>
                      <a:pPr indent="0" marL="0">
                        <a:buNone/>
                      </a:pPr>
                      <a:r>
                        <a:rPr lang="en-US" sz="1100" dirty="0">
                          <a:solidFill>
                            <a:srgbClr val="9DB0D0"/>
                          </a:solidFill>
                          <a:latin typeface="Calibri" pitchFamily="34" charset="0"/>
                          <a:ea typeface="Calibri" pitchFamily="34" charset="-122"/>
                          <a:cs typeface="Calibri" pitchFamily="34" charset="-120"/>
                        </a:rPr>
                        <a:t>Listening efficiency</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dirty="0">
                          <a:solidFill>
                            <a:srgbClr val="9DB0D0"/>
                          </a:solidFill>
                          <a:latin typeface="Calibri" pitchFamily="34" charset="0"/>
                          <a:ea typeface="Calibri" pitchFamily="34" charset="-122"/>
                          <a:cs typeface="Calibri" pitchFamily="34" charset="-120"/>
                        </a:rPr>
                        <a:t>0.190</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dirty="0">
                          <a:solidFill>
                            <a:srgbClr val="9DB0D0"/>
                          </a:solidFill>
                          <a:latin typeface="Calibri" pitchFamily="34" charset="0"/>
                          <a:ea typeface="Calibri" pitchFamily="34" charset="-122"/>
                          <a:cs typeface="Calibri" pitchFamily="34" charset="-120"/>
                        </a:rPr>
                        <a:t>0.198</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b="1" dirty="0">
                          <a:solidFill>
                            <a:srgbClr val="FFB020"/>
                          </a:solidFill>
                          <a:latin typeface="Arial" pitchFamily="34" charset="0"/>
                          <a:ea typeface="Arial" pitchFamily="34" charset="-122"/>
                          <a:cs typeface="Arial" pitchFamily="34" charset="-120"/>
                        </a:rPr>
                        <a:t>0.573</a:t>
                      </a:r>
                      <a:endParaRPr lang="en-US" sz="1100" dirty="0">
                        <a:latin typeface="Arial" charset="0"/>
                        <a:ea typeface="Arial" charset="0"/>
                        <a:cs typeface="Arial"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r>
              <a:tr h="329184">
                <a:tc>
                  <a:txBody>
                    <a:bodyPr/>
                    <a:lstStyle/>
                    <a:p>
                      <a:pPr indent="0" marL="0">
                        <a:buNone/>
                      </a:pPr>
                      <a:r>
                        <a:rPr lang="en-US" sz="1100" dirty="0">
                          <a:solidFill>
                            <a:srgbClr val="9DB0D0"/>
                          </a:solidFill>
                          <a:latin typeface="Calibri" pitchFamily="34" charset="0"/>
                          <a:ea typeface="Calibri" pitchFamily="34" charset="-122"/>
                          <a:cs typeface="Calibri" pitchFamily="34" charset="-120"/>
                        </a:rPr>
                        <a:t>False-alarm rate (Pfa)</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dirty="0">
                          <a:solidFill>
                            <a:srgbClr val="9DB0D0"/>
                          </a:solidFill>
                          <a:latin typeface="Calibri" pitchFamily="34" charset="0"/>
                          <a:ea typeface="Calibri" pitchFamily="34" charset="-122"/>
                          <a:cs typeface="Calibri" pitchFamily="34" charset="-120"/>
                        </a:rPr>
                        <a:t>0.069</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b="1" dirty="0">
                          <a:solidFill>
                            <a:srgbClr val="3ECF8E"/>
                          </a:solidFill>
                          <a:latin typeface="Calibri" pitchFamily="34" charset="0"/>
                          <a:ea typeface="Calibri" pitchFamily="34" charset="-122"/>
                          <a:cs typeface="Calibri" pitchFamily="34" charset="-120"/>
                        </a:rPr>
                        <a:t>0.068</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dirty="0">
                          <a:solidFill>
                            <a:srgbClr val="9DB0D0"/>
                          </a:solidFill>
                          <a:latin typeface="Calibri" pitchFamily="34" charset="0"/>
                          <a:ea typeface="Calibri" pitchFamily="34" charset="-122"/>
                          <a:cs typeface="Calibri" pitchFamily="34" charset="-120"/>
                        </a:rPr>
                        <a:t>0.070</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r>
              <a:tr h="329184">
                <a:tc>
                  <a:txBody>
                    <a:bodyPr/>
                    <a:lstStyle/>
                    <a:p>
                      <a:pPr indent="0" marL="0">
                        <a:buNone/>
                      </a:pPr>
                      <a:r>
                        <a:rPr lang="en-US" sz="1100" dirty="0">
                          <a:solidFill>
                            <a:srgbClr val="9DB0D0"/>
                          </a:solidFill>
                          <a:latin typeface="Calibri" pitchFamily="34" charset="0"/>
                          <a:ea typeface="Calibri" pitchFamily="34" charset="-122"/>
                          <a:cs typeface="Calibri" pitchFamily="34" charset="-120"/>
                        </a:rPr>
                        <a:t>Distinct bursts caught</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dirty="0">
                          <a:solidFill>
                            <a:srgbClr val="9DB0D0"/>
                          </a:solidFill>
                          <a:latin typeface="Calibri" pitchFamily="34" charset="0"/>
                          <a:ea typeface="Calibri" pitchFamily="34" charset="-122"/>
                          <a:cs typeface="Calibri" pitchFamily="34" charset="-120"/>
                        </a:rPr>
                        <a:t>0.340</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b="1" dirty="0">
                          <a:solidFill>
                            <a:srgbClr val="3ECF8E"/>
                          </a:solidFill>
                          <a:latin typeface="Calibri" pitchFamily="34" charset="0"/>
                          <a:ea typeface="Calibri" pitchFamily="34" charset="-122"/>
                          <a:cs typeface="Calibri" pitchFamily="34" charset="-120"/>
                        </a:rPr>
                        <a:t>0.413</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c>
                  <a:txBody>
                    <a:bodyPr/>
                    <a:lstStyle/>
                    <a:p>
                      <a:pPr algn="ctr" indent="0" marL="0">
                        <a:buNone/>
                      </a:pPr>
                      <a:r>
                        <a:rPr lang="en-US" sz="1100" dirty="0">
                          <a:solidFill>
                            <a:srgbClr val="9DB0D0"/>
                          </a:solidFill>
                          <a:latin typeface="Calibri" pitchFamily="34" charset="0"/>
                          <a:ea typeface="Calibri" pitchFamily="34" charset="-122"/>
                          <a:cs typeface="Calibri" pitchFamily="34" charset="-120"/>
                        </a:rPr>
                        <a:t>0.174</a:t>
                      </a:r>
                      <a:endParaRPr lang="en-US" sz="1100" dirty="0">
                        <a:latin typeface="Calibri" charset="0"/>
                        <a:ea typeface="Calibri" charset="0"/>
                        <a:cs typeface="Calibri" charset="0"/>
                      </a:endParaRPr>
                    </a:p>
                  </a:txBody>
                  <a:tcPr marL="76200" marR="76200" marT="38100" marB="38100" anchor="ctr">
                    <a:lnL w="6350" cap="flat" cmpd="sng" algn="ctr">
                      <a:solidFill>
                        <a:srgbClr val="27365A"/>
                      </a:solidFill>
                      <a:prstDash val="solid"/>
                      <a:round/>
                      <a:headEnd type="none" w="med" len="med"/>
                      <a:tailEnd type="none" w="med" len="med"/>
                    </a:lnL>
                    <a:lnR w="6350" cap="flat" cmpd="sng" algn="ctr">
                      <a:solidFill>
                        <a:srgbClr val="27365A"/>
                      </a:solidFill>
                      <a:prstDash val="solid"/>
                      <a:round/>
                      <a:headEnd type="none" w="med" len="med"/>
                      <a:tailEnd type="none" w="med" len="med"/>
                    </a:lnR>
                    <a:lnT w="6350" cap="flat" cmpd="sng" algn="ctr">
                      <a:solidFill>
                        <a:srgbClr val="27365A"/>
                      </a:solidFill>
                      <a:prstDash val="solid"/>
                      <a:round/>
                      <a:headEnd type="none" w="med" len="med"/>
                      <a:tailEnd type="none" w="med" len="med"/>
                    </a:lnT>
                    <a:lnB w="6350" cap="flat" cmpd="sng" algn="ctr">
                      <a:solidFill>
                        <a:srgbClr val="27365A"/>
                      </a:solidFill>
                      <a:prstDash val="solid"/>
                      <a:round/>
                      <a:headEnd type="none" w="med" len="med"/>
                      <a:tailEnd type="none" w="med" len="med"/>
                    </a:lnB>
                    <a:solidFill>
                      <a:srgbClr val="151F38"/>
                    </a:solidFill>
                  </a:tcPr>
                </a:tc>
              </a:tr>
            </a:tbl>
          </a:graphicData>
        </a:graphic>
      </p:graphicFrame>
      <p:sp>
        <p:nvSpPr>
          <p:cNvPr id="7" name="Text 4"/>
          <p:cNvSpPr txBox="1"/>
          <p:nvPr/>
        </p:nvSpPr>
        <p:spPr>
          <a:xfrm>
            <a:off x="777240" y="4059936"/>
            <a:ext cx="5029200" cy="274320"/>
          </a:xfrm>
          <a:prstGeom prst="rect">
            <a:avLst/>
          </a:prstGeom>
          <a:noFill/>
          <a:ln/>
        </p:spPr>
        <p:txBody>
          <a:bodyPr wrap="square" lIns="0" tIns="0" rIns="0" bIns="0" rtlCol="0" anchor="ctr"/>
          <a:lstStyle/>
          <a:p>
            <a:pPr indent="0" marL="0">
              <a:buNone/>
            </a:pPr>
            <a:r>
              <a:rPr lang="en-US" sz="1000" i="1" dirty="0">
                <a:solidFill>
                  <a:srgbClr val="6A7DA0"/>
                </a:solidFill>
                <a:latin typeface="Calibri" pitchFamily="34" charset="0"/>
                <a:ea typeface="Calibri" pitchFamily="34" charset="-122"/>
                <a:cs typeface="Calibri" pitchFamily="34" charset="-120"/>
              </a:rPr>
              <a:t>Green marks where the sweep still wins. We report it rather than dropping the row.</a:t>
            </a:r>
            <a:endParaRPr lang="en-US" sz="1000" dirty="0"/>
          </a:p>
        </p:txBody>
      </p:sp>
      <p:sp>
        <p:nvSpPr>
          <p:cNvPr id="8" name="Shape 5"/>
          <p:cNvSpPr/>
          <p:nvPr/>
        </p:nvSpPr>
        <p:spPr>
          <a:xfrm>
            <a:off x="502920" y="4700016"/>
            <a:ext cx="5577840" cy="1353312"/>
          </a:xfrm>
          <a:prstGeom prst="roundRect">
            <a:avLst>
              <a:gd name="adj" fmla="val 5405"/>
            </a:avLst>
          </a:prstGeom>
          <a:solidFill>
            <a:srgbClr val="1C2A4A"/>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9" name="Text 6"/>
          <p:cNvSpPr txBox="1"/>
          <p:nvPr/>
        </p:nvSpPr>
        <p:spPr>
          <a:xfrm>
            <a:off x="777240" y="4864608"/>
            <a:ext cx="5029200" cy="256032"/>
          </a:xfrm>
          <a:prstGeom prst="rect">
            <a:avLst/>
          </a:prstGeom>
          <a:noFill/>
          <a:ln/>
        </p:spPr>
        <p:txBody>
          <a:bodyPr wrap="square" lIns="0" tIns="0" rIns="0" bIns="0" rtlCol="0" anchor="ctr"/>
          <a:lstStyle/>
          <a:p>
            <a:pPr indent="0" marL="0">
              <a:buNone/>
            </a:pPr>
            <a:r>
              <a:rPr lang="en-US" sz="1250" b="1" dirty="0">
                <a:solidFill>
                  <a:srgbClr val="EAF0FA"/>
                </a:solidFill>
                <a:latin typeface="Arial" pitchFamily="34" charset="0"/>
                <a:ea typeface="Arial" pitchFamily="34" charset="-122"/>
                <a:cs typeface="Arial" pitchFamily="34" charset="-120"/>
              </a:rPr>
              <a:t>Prototype and source</a:t>
            </a:r>
            <a:endParaRPr lang="en-US" sz="1250" dirty="0"/>
          </a:p>
        </p:txBody>
      </p:sp>
      <p:sp>
        <p:nvSpPr>
          <p:cNvPr id="10" name="Text 7"/>
          <p:cNvSpPr txBox="1"/>
          <p:nvPr/>
        </p:nvSpPr>
        <p:spPr>
          <a:xfrm>
            <a:off x="777240" y="5157216"/>
            <a:ext cx="5029200" cy="256032"/>
          </a:xfrm>
          <a:prstGeom prst="rect">
            <a:avLst/>
          </a:prstGeom>
          <a:noFill/>
          <a:ln/>
        </p:spPr>
        <p:txBody>
          <a:bodyPr wrap="square" lIns="0" tIns="0" rIns="0" bIns="0" rtlCol="0" anchor="ctr"/>
          <a:lstStyle/>
          <a:p>
            <a:pPr indent="0" marL="0">
              <a:buNone/>
            </a:pPr>
            <a:r>
              <a:rPr lang="en-US" sz="1100" dirty="0">
                <a:solidFill>
                  <a:srgbClr val="FFB020"/>
                </a:solidFill>
                <a:latin typeface="Calibri" pitchFamily="34" charset="0"/>
                <a:ea typeface="Calibri" pitchFamily="34" charset="-122"/>
                <a:cs typeface="Calibri" pitchFamily="34" charset="-120"/>
              </a:rPr>
              <a:t>Repository:  [ add your GitHub link ]        Demo video:  [ add your link ]</a:t>
            </a:r>
            <a:endParaRPr lang="en-US" sz="1100" dirty="0"/>
          </a:p>
        </p:txBody>
      </p:sp>
      <p:sp>
        <p:nvSpPr>
          <p:cNvPr id="11" name="Text 8"/>
          <p:cNvSpPr txBox="1"/>
          <p:nvPr/>
        </p:nvSpPr>
        <p:spPr>
          <a:xfrm>
            <a:off x="777240" y="5431536"/>
            <a:ext cx="5029200" cy="274320"/>
          </a:xfrm>
          <a:prstGeom prst="rect">
            <a:avLst/>
          </a:prstGeom>
          <a:noFill/>
          <a:ln/>
        </p:spPr>
        <p:txBody>
          <a:bodyPr wrap="square" lIns="0" tIns="0" rIns="0" bIns="0" rtlCol="0" anchor="ctr"/>
          <a:lstStyle/>
          <a:p>
            <a:pPr indent="0" marL="0">
              <a:buNone/>
            </a:pPr>
            <a:r>
              <a:rPr lang="en-US" sz="1050" dirty="0">
                <a:solidFill>
                  <a:srgbClr val="9DB0D0"/>
                </a:solidFill>
                <a:latin typeface="Calibri" pitchFamily="34" charset="0"/>
                <a:ea typeface="Calibri" pitchFamily="34" charset="-122"/>
                <a:cs typeface="Calibri" pitchFamily="34" charset="-120"/>
              </a:rPr>
              <a:t>scripts/compare.py reproduces every number on this slide from a clean checkout.</a:t>
            </a:r>
            <a:endParaRPr lang="en-US" sz="1050" dirty="0"/>
          </a:p>
        </p:txBody>
      </p:sp>
      <p:sp>
        <p:nvSpPr>
          <p:cNvPr id="12" name="Shape 9"/>
          <p:cNvSpPr/>
          <p:nvPr/>
        </p:nvSpPr>
        <p:spPr>
          <a:xfrm>
            <a:off x="6355080" y="1280160"/>
            <a:ext cx="5340096" cy="4773168"/>
          </a:xfrm>
          <a:prstGeom prst="roundRect">
            <a:avLst>
              <a:gd name="adj" fmla="val 1533"/>
            </a:avLst>
          </a:prstGeom>
          <a:solidFill>
            <a:srgbClr val="151F38"/>
          </a:solidFill>
          <a:ln w="9525">
            <a:solidFill>
              <a:srgbClr val="27365A"/>
            </a:solidFill>
            <a:prstDash val="solid"/>
          </a:ln>
          <a:effectLst>
            <a:outerShdw sx="100000" sy="100000" kx="0" ky="0" algn="bl" rotWithShape="0" blurRad="177800" dist="38100" dir="5400000">
              <a:srgbClr val="000000">
                <a:alpha val="45000"/>
              </a:srgbClr>
            </a:outerShdw>
          </a:effectLst>
        </p:spPr>
      </p:sp>
      <p:sp>
        <p:nvSpPr>
          <p:cNvPr id="13" name="Text 10"/>
          <p:cNvSpPr txBox="1"/>
          <p:nvPr/>
        </p:nvSpPr>
        <p:spPr>
          <a:xfrm>
            <a:off x="6629400" y="1481328"/>
            <a:ext cx="475488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PRIOR ART</a:t>
            </a:r>
            <a:endParaRPr lang="en-US" sz="1050" dirty="0"/>
          </a:p>
        </p:txBody>
      </p:sp>
      <p:sp>
        <p:nvSpPr>
          <p:cNvPr id="14" name="Text 11"/>
          <p:cNvSpPr txBox="1"/>
          <p:nvPr/>
        </p:nvSpPr>
        <p:spPr>
          <a:xfrm>
            <a:off x="6629400" y="1755648"/>
            <a:ext cx="4791456" cy="402336"/>
          </a:xfrm>
          <a:prstGeom prst="rect">
            <a:avLst/>
          </a:prstGeom>
          <a:noFill/>
          <a:ln/>
        </p:spPr>
        <p:txBody>
          <a:bodyPr wrap="square" lIns="0" tIns="0" rIns="0" bIns="0" rtlCol="0" anchor="ctr"/>
          <a:lstStyle/>
          <a:p>
            <a:pPr marL="342900" indent="-342900">
              <a:lnSpc>
                <a:spcPct val="95000"/>
              </a:lnSpc>
              <a:buSzPct val="100000"/>
              <a:buChar char="•"/>
            </a:pPr>
            <a:r>
              <a:rPr lang="en-US" sz="1050" dirty="0">
                <a:solidFill>
                  <a:srgbClr val="9DB0D0"/>
                </a:solidFill>
                <a:latin typeface="Calibri" pitchFamily="34" charset="0"/>
                <a:ea typeface="Calibri" pitchFamily="34" charset="-122"/>
                <a:cs typeface="Calibri" pitchFamily="34" charset="-120"/>
              </a:rPr>
              <a:t>US 10,523,342 B1 — Autonomous RL method of receiver scan schedule control. BAE Systems.</a:t>
            </a:r>
            <a:endParaRPr lang="en-US" sz="1050" dirty="0"/>
          </a:p>
        </p:txBody>
      </p:sp>
      <p:sp>
        <p:nvSpPr>
          <p:cNvPr id="15" name="Text 12"/>
          <p:cNvSpPr txBox="1"/>
          <p:nvPr/>
        </p:nvSpPr>
        <p:spPr>
          <a:xfrm>
            <a:off x="6629400" y="2176272"/>
            <a:ext cx="4791456" cy="402336"/>
          </a:xfrm>
          <a:prstGeom prst="rect">
            <a:avLst/>
          </a:prstGeom>
          <a:noFill/>
          <a:ln/>
        </p:spPr>
        <p:txBody>
          <a:bodyPr wrap="square" lIns="0" tIns="0" rIns="0" bIns="0" rtlCol="0" anchor="ctr"/>
          <a:lstStyle/>
          <a:p>
            <a:pPr marL="342900" indent="-342900">
              <a:lnSpc>
                <a:spcPct val="95000"/>
              </a:lnSpc>
              <a:buSzPct val="100000"/>
              <a:buChar char="•"/>
            </a:pPr>
            <a:r>
              <a:rPr lang="en-US" sz="1050" dirty="0">
                <a:solidFill>
                  <a:srgbClr val="9DB0D0"/>
                </a:solidFill>
                <a:latin typeface="Calibri" pitchFamily="34" charset="0"/>
                <a:ea typeface="Calibri" pitchFamily="34" charset="-122"/>
                <a:cs typeface="Calibri" pitchFamily="34" charset="-120"/>
              </a:rPr>
              <a:t>Yücek and Arslan, A survey of spectrum sensing algorithms for cognitive radio. IEEE Comms. Surveys and Tutorials, 2009.</a:t>
            </a:r>
            <a:endParaRPr lang="en-US" sz="1050" dirty="0"/>
          </a:p>
        </p:txBody>
      </p:sp>
      <p:sp>
        <p:nvSpPr>
          <p:cNvPr id="16" name="Text 13"/>
          <p:cNvSpPr txBox="1"/>
          <p:nvPr/>
        </p:nvSpPr>
        <p:spPr>
          <a:xfrm>
            <a:off x="6629400" y="2596896"/>
            <a:ext cx="4791456" cy="402336"/>
          </a:xfrm>
          <a:prstGeom prst="rect">
            <a:avLst/>
          </a:prstGeom>
          <a:noFill/>
          <a:ln/>
        </p:spPr>
        <p:txBody>
          <a:bodyPr wrap="square" lIns="0" tIns="0" rIns="0" bIns="0" rtlCol="0" anchor="ctr"/>
          <a:lstStyle/>
          <a:p>
            <a:pPr marL="342900" indent="-342900">
              <a:lnSpc>
                <a:spcPct val="95000"/>
              </a:lnSpc>
              <a:buSzPct val="100000"/>
              <a:buChar char="•"/>
            </a:pPr>
            <a:r>
              <a:rPr lang="en-US" sz="1050" dirty="0">
                <a:solidFill>
                  <a:srgbClr val="9DB0D0"/>
                </a:solidFill>
                <a:latin typeface="Calibri" pitchFamily="34" charset="0"/>
                <a:ea typeface="Calibri" pitchFamily="34" charset="-122"/>
                <a:cs typeface="Calibri" pitchFamily="34" charset="-120"/>
              </a:rPr>
              <a:t>Survey of wideband spectrum sensing and sub-Nyquist approaches. arXiv:2001.02574.</a:t>
            </a:r>
            <a:endParaRPr lang="en-US" sz="1050" dirty="0"/>
          </a:p>
        </p:txBody>
      </p:sp>
      <p:sp>
        <p:nvSpPr>
          <p:cNvPr id="17" name="Text 14"/>
          <p:cNvSpPr txBox="1"/>
          <p:nvPr/>
        </p:nvSpPr>
        <p:spPr>
          <a:xfrm>
            <a:off x="6629400" y="3127248"/>
            <a:ext cx="475488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DECISION POLICY</a:t>
            </a:r>
            <a:endParaRPr lang="en-US" sz="1050" dirty="0"/>
          </a:p>
        </p:txBody>
      </p:sp>
      <p:sp>
        <p:nvSpPr>
          <p:cNvPr id="18" name="Text 15"/>
          <p:cNvSpPr txBox="1"/>
          <p:nvPr/>
        </p:nvSpPr>
        <p:spPr>
          <a:xfrm>
            <a:off x="6629400" y="3401568"/>
            <a:ext cx="4791456" cy="402336"/>
          </a:xfrm>
          <a:prstGeom prst="rect">
            <a:avLst/>
          </a:prstGeom>
          <a:noFill/>
          <a:ln/>
        </p:spPr>
        <p:txBody>
          <a:bodyPr wrap="square" lIns="0" tIns="0" rIns="0" bIns="0" rtlCol="0" anchor="ctr"/>
          <a:lstStyle/>
          <a:p>
            <a:pPr marL="342900" indent="-342900">
              <a:lnSpc>
                <a:spcPct val="95000"/>
              </a:lnSpc>
              <a:buSzPct val="100000"/>
              <a:buChar char="•"/>
            </a:pPr>
            <a:r>
              <a:rPr lang="en-US" sz="1050" dirty="0">
                <a:solidFill>
                  <a:srgbClr val="9DB0D0"/>
                </a:solidFill>
                <a:latin typeface="Calibri" pitchFamily="34" charset="0"/>
                <a:ea typeface="Calibri" pitchFamily="34" charset="-122"/>
                <a:cs typeface="Calibri" pitchFamily="34" charset="-120"/>
              </a:rPr>
              <a:t>Sutton and Barto, Reinforcement Learning: An Introduction, 2nd ed. MIT Press, 2018.</a:t>
            </a:r>
            <a:endParaRPr lang="en-US" sz="1050" dirty="0"/>
          </a:p>
        </p:txBody>
      </p:sp>
      <p:sp>
        <p:nvSpPr>
          <p:cNvPr id="19" name="Text 16"/>
          <p:cNvSpPr txBox="1"/>
          <p:nvPr/>
        </p:nvSpPr>
        <p:spPr>
          <a:xfrm>
            <a:off x="6629400" y="3822192"/>
            <a:ext cx="4791456" cy="402336"/>
          </a:xfrm>
          <a:prstGeom prst="rect">
            <a:avLst/>
          </a:prstGeom>
          <a:noFill/>
          <a:ln/>
        </p:spPr>
        <p:txBody>
          <a:bodyPr wrap="square" lIns="0" tIns="0" rIns="0" bIns="0" rtlCol="0" anchor="ctr"/>
          <a:lstStyle/>
          <a:p>
            <a:pPr marL="342900" indent="-342900">
              <a:lnSpc>
                <a:spcPct val="95000"/>
              </a:lnSpc>
              <a:buSzPct val="100000"/>
              <a:buChar char="•"/>
            </a:pPr>
            <a:r>
              <a:rPr lang="en-US" sz="1050" dirty="0">
                <a:solidFill>
                  <a:srgbClr val="9DB0D0"/>
                </a:solidFill>
                <a:latin typeface="Calibri" pitchFamily="34" charset="0"/>
                <a:ea typeface="Calibri" pitchFamily="34" charset="-122"/>
                <a:cs typeface="Calibri" pitchFamily="34" charset="-120"/>
              </a:rPr>
              <a:t>Auer, Cesa-Bianchi and Fischer, Finite-time analysis of the multiarmed bandit problem. Machine Learning 47, 2002.</a:t>
            </a:r>
            <a:endParaRPr lang="en-US" sz="1050" dirty="0"/>
          </a:p>
        </p:txBody>
      </p:sp>
      <p:sp>
        <p:nvSpPr>
          <p:cNvPr id="20" name="Text 17"/>
          <p:cNvSpPr txBox="1"/>
          <p:nvPr/>
        </p:nvSpPr>
        <p:spPr>
          <a:xfrm>
            <a:off x="6629400" y="4242816"/>
            <a:ext cx="4791456" cy="402336"/>
          </a:xfrm>
          <a:prstGeom prst="rect">
            <a:avLst/>
          </a:prstGeom>
          <a:noFill/>
          <a:ln/>
        </p:spPr>
        <p:txBody>
          <a:bodyPr wrap="square" lIns="0" tIns="0" rIns="0" bIns="0" rtlCol="0" anchor="ctr"/>
          <a:lstStyle/>
          <a:p>
            <a:pPr marL="342900" indent="-342900">
              <a:lnSpc>
                <a:spcPct val="95000"/>
              </a:lnSpc>
              <a:buSzPct val="100000"/>
              <a:buChar char="•"/>
            </a:pPr>
            <a:r>
              <a:rPr lang="en-US" sz="1050" dirty="0">
                <a:solidFill>
                  <a:srgbClr val="9DB0D0"/>
                </a:solidFill>
                <a:latin typeface="Calibri" pitchFamily="34" charset="0"/>
                <a:ea typeface="Calibri" pitchFamily="34" charset="-122"/>
                <a:cs typeface="Calibri" pitchFamily="34" charset="-120"/>
              </a:rPr>
              <a:t>Mnih et al., Human-level control through deep reinforcement learning. Nature 518, 2015.</a:t>
            </a:r>
            <a:endParaRPr lang="en-US" sz="1050" dirty="0"/>
          </a:p>
        </p:txBody>
      </p:sp>
      <p:sp>
        <p:nvSpPr>
          <p:cNvPr id="21" name="Text 18"/>
          <p:cNvSpPr txBox="1"/>
          <p:nvPr/>
        </p:nvSpPr>
        <p:spPr>
          <a:xfrm>
            <a:off x="6629400" y="4773168"/>
            <a:ext cx="4754880" cy="219456"/>
          </a:xfrm>
          <a:prstGeom prst="rect">
            <a:avLst/>
          </a:prstGeom>
          <a:noFill/>
          <a:ln/>
        </p:spPr>
        <p:txBody>
          <a:bodyPr wrap="square" lIns="0" tIns="0" rIns="0" bIns="0" rtlCol="0" anchor="ctr"/>
          <a:lstStyle/>
          <a:p>
            <a:pPr indent="0" marL="0">
              <a:buNone/>
            </a:pPr>
            <a:r>
              <a:rPr lang="en-US" sz="1050" b="1" spc="200" kern="0" dirty="0">
                <a:solidFill>
                  <a:srgbClr val="9DB0D0"/>
                </a:solidFill>
                <a:latin typeface="Calibri" pitchFamily="34" charset="0"/>
                <a:ea typeface="Calibri" pitchFamily="34" charset="-122"/>
                <a:cs typeface="Calibri" pitchFamily="34" charset="-120"/>
              </a:rPr>
              <a:t>PERIOD ESTIMATION</a:t>
            </a:r>
            <a:endParaRPr lang="en-US" sz="1050" dirty="0"/>
          </a:p>
        </p:txBody>
      </p:sp>
      <p:sp>
        <p:nvSpPr>
          <p:cNvPr id="22" name="Text 19"/>
          <p:cNvSpPr txBox="1"/>
          <p:nvPr/>
        </p:nvSpPr>
        <p:spPr>
          <a:xfrm>
            <a:off x="6629400" y="5047488"/>
            <a:ext cx="4791456" cy="402336"/>
          </a:xfrm>
          <a:prstGeom prst="rect">
            <a:avLst/>
          </a:prstGeom>
          <a:noFill/>
          <a:ln/>
        </p:spPr>
        <p:txBody>
          <a:bodyPr wrap="square" lIns="0" tIns="0" rIns="0" bIns="0" rtlCol="0" anchor="ctr"/>
          <a:lstStyle/>
          <a:p>
            <a:pPr marL="342900" indent="-342900">
              <a:lnSpc>
                <a:spcPct val="95000"/>
              </a:lnSpc>
              <a:buSzPct val="100000"/>
              <a:buChar char="•"/>
            </a:pPr>
            <a:r>
              <a:rPr lang="en-US" sz="1050" dirty="0">
                <a:solidFill>
                  <a:srgbClr val="9DB0D0"/>
                </a:solidFill>
                <a:latin typeface="Calibri" pitchFamily="34" charset="0"/>
                <a:ea typeface="Calibri" pitchFamily="34" charset="-122"/>
                <a:cs typeface="Calibri" pitchFamily="34" charset="-120"/>
              </a:rPr>
              <a:t>Mardia and Jupp, Directional Statistics. Wiley, 2000 — Rayleigh test, mean resultant length.</a:t>
            </a:r>
            <a:endParaRPr lang="en-US" sz="1050" dirty="0"/>
          </a:p>
        </p:txBody>
      </p:sp>
      <p:sp>
        <p:nvSpPr>
          <p:cNvPr id="23" name="Text 20"/>
          <p:cNvSpPr txBox="1"/>
          <p:nvPr/>
        </p:nvSpPr>
        <p:spPr>
          <a:xfrm>
            <a:off x="6629400" y="5468112"/>
            <a:ext cx="4791456" cy="402336"/>
          </a:xfrm>
          <a:prstGeom prst="rect">
            <a:avLst/>
          </a:prstGeom>
          <a:noFill/>
          <a:ln/>
        </p:spPr>
        <p:txBody>
          <a:bodyPr wrap="square" lIns="0" tIns="0" rIns="0" bIns="0" rtlCol="0" anchor="ctr"/>
          <a:lstStyle/>
          <a:p>
            <a:pPr marL="342900" indent="-342900">
              <a:lnSpc>
                <a:spcPct val="95000"/>
              </a:lnSpc>
              <a:buSzPct val="100000"/>
              <a:buChar char="•"/>
            </a:pPr>
            <a:r>
              <a:rPr lang="en-US" sz="1050" dirty="0">
                <a:solidFill>
                  <a:srgbClr val="9DB0D0"/>
                </a:solidFill>
                <a:latin typeface="Calibri" pitchFamily="34" charset="0"/>
                <a:ea typeface="Calibri" pitchFamily="34" charset="-122"/>
                <a:cs typeface="Calibri" pitchFamily="34" charset="-120"/>
              </a:rPr>
              <a:t>VanderPlas, Understanding the Lomb-Scargle periodogram. ApJS 236, 2018.</a:t>
            </a:r>
            <a:endParaRPr lang="en-US" sz="1050" dirty="0"/>
          </a:p>
        </p:txBody>
      </p:sp>
      <p:sp>
        <p:nvSpPr>
          <p:cNvPr id="25" name="Text 21"/>
          <p:cNvSpPr txBox="1"/>
          <p:nvPr/>
        </p:nvSpPr>
        <p:spPr>
          <a:xfrm>
            <a:off x="11140135" y="6355080"/>
            <a:ext cx="548640" cy="274320"/>
          </a:xfrm>
          <a:prstGeom prst="rect">
            <a:avLst/>
          </a:prstGeom>
          <a:noFill/>
          <a:ln/>
        </p:spPr>
        <p:txBody>
          <a:bodyPr wrap="square" lIns="0" tIns="0" rIns="0" bIns="0" rtlCol="0" anchor="ctr"/>
          <a:lstStyle/>
          <a:p>
            <a:pPr algn="r" indent="0" marL="0">
              <a:buNone/>
            </a:pPr>
            <a:r>
              <a:rPr lang="en-US" sz="1000" dirty="0">
                <a:solidFill>
                  <a:srgbClr val="6A7DA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RF Spectrum Scan Strategy</dc:title>
  <dc:subject>PptxGenJS Presentation</dc:subject>
  <dc:creator>SIH team</dc:creator>
  <cp:lastModifiedBy>SIH team</cp:lastModifiedBy>
  <cp:revision>1</cp:revision>
  <dcterms:created xsi:type="dcterms:W3CDTF">2026-09-12T11:28:24Z</dcterms:created>
  <dcterms:modified xsi:type="dcterms:W3CDTF">2026-09-12T11:28:24Z</dcterms:modified>
</cp:coreProperties>
</file>