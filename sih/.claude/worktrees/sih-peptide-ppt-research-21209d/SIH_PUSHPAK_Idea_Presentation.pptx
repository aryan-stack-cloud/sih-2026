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Round-robin baseline</c:v>
                </c:pt>
              </c:strCache>
            </c:strRef>
          </c:tx>
          <c:spPr>
            <a:solidFill>
              <a:srgbClr val="4472C4"/>
            </a:solidFill>
            <a:effectLst/>
          </c:spPr>
          <c:invertIfNegative val="0"/>
          <c:dLbls>
            <c:numFmt formatCode="0.0&quot;%&quot;" sourceLinked="0"/>
            <c:txPr>
              <a:bodyPr/>
              <a:lstStyle/>
              <a:p>
                <a:pPr>
                  <a:defRPr b="0" i="0" strike="noStrike" sz="10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Detection rate</c:v>
                  </c:pt>
                  <c:pt idx="1">
                    <c:v>High-priority</c:v>
                  </c:pt>
                  <c:pt idx="2">
                    <c:v>Scan efficiency</c:v>
                  </c:pt>
                </c:lvl>
              </c:multiLvlStrCache>
            </c:multiLvlStrRef>
          </c:cat>
          <c:val>
            <c:numRef>
              <c:f>Sheet1!$B$2:$B$4</c:f>
              <c:numCache>
                <c:formatCode>General</c:formatCode>
                <c:ptCount val="3"/>
                <c:pt idx="0">
                  <c:v>10.7</c:v>
                </c:pt>
                <c:pt idx="1">
                  <c:v>10.1</c:v>
                </c:pt>
                <c:pt idx="2">
                  <c:v>19.8</c:v>
                </c:pt>
              </c:numCache>
            </c:numRef>
          </c:val>
        </c:ser>
        <c:ser>
          <c:idx val="1"/>
          <c:order val="1"/>
          <c:tx>
            <c:strRef>
              <c:f>Sheet1!$C$1</c:f>
              <c:strCache>
                <c:ptCount val="1"/>
                <c:pt idx="0">
                  <c:v>AI adaptive (ours)</c:v>
                </c:pt>
              </c:strCache>
            </c:strRef>
          </c:tx>
          <c:spPr>
            <a:solidFill>
              <a:srgbClr val="E2711D"/>
            </a:solidFill>
            <a:effectLst/>
          </c:spPr>
          <c:invertIfNegative val="0"/>
          <c:dLbls>
            <c:numFmt formatCode="0.0&quot;%&quot;" sourceLinked="0"/>
            <c:txPr>
              <a:bodyPr/>
              <a:lstStyle/>
              <a:p>
                <a:pPr>
                  <a:defRPr b="0" i="0" strike="noStrike" sz="105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Detection rate</c:v>
                  </c:pt>
                  <c:pt idx="1">
                    <c:v>High-priority</c:v>
                  </c:pt>
                  <c:pt idx="2">
                    <c:v>Scan efficiency</c:v>
                  </c:pt>
                </c:lvl>
              </c:multiLvlStrCache>
            </c:multiLvlStrRef>
          </c:cat>
          <c:val>
            <c:numRef>
              <c:f>Sheet1!$C$2:$C$4</c:f>
              <c:numCache>
                <c:formatCode>General</c:formatCode>
                <c:ptCount val="3"/>
                <c:pt idx="0">
                  <c:v>34.5</c:v>
                </c:pt>
                <c:pt idx="1">
                  <c:v>37.5</c:v>
                </c:pt>
                <c:pt idx="2">
                  <c:v>57.3</c:v>
                </c:pt>
              </c:numCache>
            </c:numRef>
          </c:val>
        </c:ser>
        <c:dLbls>
          <c:numFmt formatCode="0.0&quot;%&quot;" sourceLinked="0"/>
          <c:txPr>
            <a:bodyPr/>
            <a:lstStyle/>
            <a:p>
              <a:pPr>
                <a:defRPr b="0" i="0" strike="noStrike" sz="1050" u="none">
                  <a:solidFill>
                    <a:srgbClr val="000000"/>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t"/>
      <c:overlay val="0"/>
      <c:txPr>
        <a:bodyPr/>
        <a:lstStyle/>
        <a:p>
          <a:pPr>
            <a:defRPr sz="1050">
              <a:solidFill>
                <a:srgbClr val="00000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fields, then stop. Do not narrate this slide. The Theme really is Clean &amp; Green Technology - that is what the portal lists for SIH26055, odd as it looks against an electronic-warfare brief, so do not let anyone talk you into changing it. The problem statement belongs to DRDO, under the Department of Defence Production and IDEX, so expect a signals person on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for the idea: the receiver stops sweeping and starts choosing. The three orange tiles are measured, not projected, and the screenshot is our running dashboard. If a judge asks for the single most novel part, it is phase folding: we never see the emitter, only our own detections of it, so the gaps between them measure our scan schedule rather than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top diagram first: the baseline visits every band in a fixed order including the empty ones, and the learned policy concentrates on bands that are actually live. The lower diagram is the per-step loop. If asked about latency, be precise: 6.6 ms is p95 measured over a real HTTP socket, not an in-process call, and the budget is 50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the room. Every other team claims their model beats the baseline on everything. Say the weakness out loud before a judge finds it: we lose distinct-burst coverage to the sweep, and here is the single reward weight that trades one for the other. The third risk is still open. Do not hide it. It is diagnosed, the fix is named, and the failing test is still in the suite rather than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chart. Same spectrum, same seeds, same receiver, only the scheduler changed. Every row in the table below is a figure of merit the problem statement names by hand, which is why intercept time is there twice. Then point at the two green cells yourself, before anyone asks. The censored intercept time is the one that matters to the brief, and at reward weight 20 it drops to 577 against the sweep's 588, so the frontier is ours to choose rather than a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First, the patent: somebody has tried reinforcement learning on receiver scan scheduling before, we found it, and our delta is the periodicity feature feeding the reinforcement-learning state. Saying nobody has done this is how a team loses a technical judge. Second, if asked whether the numbers are reproducible, the answer is one script from a clean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528816"/>
            <a:ext cx="12191695" cy="329184"/>
          </a:xfrm>
          <a:prstGeom prst="rect">
            <a:avLst/>
          </a:prstGeom>
          <a:solidFill>
            <a:srgbClr val="1568BF"/>
          </a:solidFill>
          <a:ln w="12700">
            <a:solidFill>
              <a:srgbClr val="1568BF"/>
            </a:solidFill>
            <a:prstDash val="solid"/>
          </a:ln>
        </p:spPr>
      </p:sp>
      <p:sp>
        <p:nvSpPr>
          <p:cNvPr id="3" name="Text 1"/>
          <p:cNvSpPr txBox="1"/>
          <p:nvPr/>
        </p:nvSpPr>
        <p:spPr>
          <a:xfrm>
            <a:off x="320040" y="146304"/>
            <a:ext cx="11521440" cy="749808"/>
          </a:xfrm>
          <a:prstGeom prst="rect">
            <a:avLst/>
          </a:prstGeom>
          <a:noFill/>
          <a:ln/>
        </p:spPr>
        <p:txBody>
          <a:bodyPr wrap="square" lIns="0" tIns="0" rIns="0" bIns="0" rtlCol="0" anchor="ctr"/>
          <a:lstStyle/>
          <a:p>
            <a:pPr algn="ctr" indent="0" marL="0">
              <a:buNone/>
            </a:pPr>
            <a:r>
              <a:rPr lang="en-US" sz="3800" b="1" dirty="0">
                <a:solidFill>
                  <a:srgbClr val="1F3864"/>
                </a:solidFill>
                <a:latin typeface="Times New Roman" pitchFamily="34" charset="0"/>
                <a:ea typeface="Times New Roman" pitchFamily="34" charset="-122"/>
                <a:cs typeface="Times New Roman" pitchFamily="34" charset="-120"/>
              </a:rPr>
              <a:t>SMART INDIA HACKATHON 2026</a:t>
            </a:r>
            <a:endParaRPr lang="en-US" sz="3800" dirty="0"/>
          </a:p>
        </p:txBody>
      </p:sp>
      <p:sp>
        <p:nvSpPr>
          <p:cNvPr id="4" name="Text 2"/>
          <p:cNvSpPr txBox="1"/>
          <p:nvPr/>
        </p:nvSpPr>
        <p:spPr>
          <a:xfrm>
            <a:off x="320040" y="1024128"/>
            <a:ext cx="11521440" cy="56692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TITLE PAGE</a:t>
            </a:r>
            <a:endParaRPr lang="en-US" sz="3000" dirty="0"/>
          </a:p>
        </p:txBody>
      </p:sp>
      <p:pic>
        <p:nvPicPr>
          <p:cNvPr id="5" name="Image 0" descr="C:/Users/THISPC~1/AppData/Local/Temp/claude/C--Users-This-PC-Documents-claude-sih--claude-worktrees-sih-peptide-ppt-research-21209d/3b950e93-fcc8-4276-90eb-a3428a4a1885/scratchpad/assets/logo2026.png">    </p:cNvPr>
          <p:cNvPicPr>
            <a:picLocks noChangeAspect="1"/>
          </p:cNvPicPr>
          <p:nvPr/>
        </p:nvPicPr>
        <p:blipFill>
          <a:blip r:embed="rId1"/>
          <a:stretch>
            <a:fillRect/>
          </a:stretch>
        </p:blipFill>
        <p:spPr>
          <a:xfrm>
            <a:off x="7040880" y="2468880"/>
            <a:ext cx="4617720" cy="2185416"/>
          </a:xfrm>
          <a:prstGeom prst="rect">
            <a:avLst/>
          </a:prstGeom>
        </p:spPr>
      </p:pic>
      <p:sp>
        <p:nvSpPr>
          <p:cNvPr id="6" name="Text 3"/>
          <p:cNvSpPr txBox="1"/>
          <p:nvPr/>
        </p:nvSpPr>
        <p:spPr>
          <a:xfrm>
            <a:off x="502920" y="1938528"/>
            <a:ext cx="6172200" cy="603504"/>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Calibri" pitchFamily="34" charset="0"/>
                <a:ea typeface="Calibri" pitchFamily="34" charset="-122"/>
                <a:cs typeface="Calibri" pitchFamily="34" charset="-120"/>
              </a:rPr>
              <a:t>Problem Statement ID – </a:t>
            </a:r>
            <a:pPr indent="0" marL="0">
              <a:buNone/>
            </a:pPr>
            <a:r>
              <a:rPr lang="en-US" sz="1600" dirty="0">
                <a:solidFill>
                  <a:srgbClr val="000000"/>
                </a:solidFill>
                <a:latin typeface="Times New Roman" pitchFamily="34" charset="0"/>
                <a:ea typeface="Times New Roman" pitchFamily="34" charset="-122"/>
                <a:cs typeface="Times New Roman" pitchFamily="34" charset="-120"/>
              </a:rPr>
              <a:t>SIH26055</a:t>
            </a:r>
            <a:endParaRPr lang="en-US" sz="1700" dirty="0"/>
          </a:p>
        </p:txBody>
      </p:sp>
      <p:sp>
        <p:nvSpPr>
          <p:cNvPr id="7" name="Text 4"/>
          <p:cNvSpPr txBox="1"/>
          <p:nvPr/>
        </p:nvSpPr>
        <p:spPr>
          <a:xfrm>
            <a:off x="502920" y="2615184"/>
            <a:ext cx="6172200" cy="603504"/>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Calibri" pitchFamily="34" charset="0"/>
                <a:ea typeface="Calibri" pitchFamily="34" charset="-122"/>
                <a:cs typeface="Calibri" pitchFamily="34" charset="-120"/>
              </a:rPr>
              <a:t>Problem Statement Title- </a:t>
            </a:r>
            <a:pPr indent="0" marL="0">
              <a:buNone/>
            </a:pPr>
            <a:r>
              <a:rPr lang="en-US" sz="1600" dirty="0">
                <a:solidFill>
                  <a:srgbClr val="000000"/>
                </a:solidFill>
                <a:latin typeface="Times New Roman" pitchFamily="34" charset="0"/>
                <a:ea typeface="Times New Roman" pitchFamily="34" charset="-122"/>
                <a:cs typeface="Times New Roman" pitchFamily="34" charset="-120"/>
              </a:rPr>
              <a:t>Smart Scan strategy for Electronic Warfare</a:t>
            </a:r>
            <a:endParaRPr lang="en-US" sz="1700" dirty="0"/>
          </a:p>
        </p:txBody>
      </p:sp>
      <p:sp>
        <p:nvSpPr>
          <p:cNvPr id="8" name="Text 5"/>
          <p:cNvSpPr txBox="1"/>
          <p:nvPr/>
        </p:nvSpPr>
        <p:spPr>
          <a:xfrm>
            <a:off x="502920" y="3438144"/>
            <a:ext cx="6172200" cy="603504"/>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Calibri" pitchFamily="34" charset="0"/>
                <a:ea typeface="Calibri" pitchFamily="34" charset="-122"/>
                <a:cs typeface="Calibri" pitchFamily="34" charset="-120"/>
              </a:rPr>
              <a:t>Theme- </a:t>
            </a:r>
            <a:pPr indent="0" marL="0">
              <a:buNone/>
            </a:pPr>
            <a:r>
              <a:rPr lang="en-US" sz="1600" dirty="0">
                <a:solidFill>
                  <a:srgbClr val="000000"/>
                </a:solidFill>
                <a:latin typeface="Times New Roman" pitchFamily="34" charset="0"/>
                <a:ea typeface="Times New Roman" pitchFamily="34" charset="-122"/>
                <a:cs typeface="Times New Roman" pitchFamily="34" charset="-120"/>
              </a:rPr>
              <a:t>Clean &amp; Green Technology</a:t>
            </a:r>
            <a:endParaRPr lang="en-US" sz="1700" dirty="0"/>
          </a:p>
        </p:txBody>
      </p:sp>
      <p:sp>
        <p:nvSpPr>
          <p:cNvPr id="9" name="Text 6"/>
          <p:cNvSpPr txBox="1"/>
          <p:nvPr/>
        </p:nvSpPr>
        <p:spPr>
          <a:xfrm>
            <a:off x="502920" y="4114800"/>
            <a:ext cx="6172200" cy="603504"/>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Calibri" pitchFamily="34" charset="0"/>
                <a:ea typeface="Calibri" pitchFamily="34" charset="-122"/>
                <a:cs typeface="Calibri" pitchFamily="34" charset="-120"/>
              </a:rPr>
              <a:t>PS Category- </a:t>
            </a:r>
            <a:pPr indent="0" marL="0">
              <a:buNone/>
            </a:pPr>
            <a:r>
              <a:rPr lang="en-US" sz="1600" dirty="0">
                <a:solidFill>
                  <a:srgbClr val="000000"/>
                </a:solidFill>
                <a:latin typeface="Times New Roman" pitchFamily="34" charset="0"/>
                <a:ea typeface="Times New Roman" pitchFamily="34" charset="-122"/>
                <a:cs typeface="Times New Roman" pitchFamily="34" charset="-120"/>
              </a:rPr>
              <a:t>Software</a:t>
            </a:r>
            <a:endParaRPr lang="en-US" sz="1700" dirty="0"/>
          </a:p>
        </p:txBody>
      </p:sp>
      <p:sp>
        <p:nvSpPr>
          <p:cNvPr id="10" name="Text 7"/>
          <p:cNvSpPr txBox="1"/>
          <p:nvPr/>
        </p:nvSpPr>
        <p:spPr>
          <a:xfrm>
            <a:off x="502920" y="4791456"/>
            <a:ext cx="6172200" cy="603504"/>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Calibri" pitchFamily="34" charset="0"/>
                <a:ea typeface="Calibri" pitchFamily="34" charset="-122"/>
                <a:cs typeface="Calibri" pitchFamily="34" charset="-120"/>
              </a:rPr>
              <a:t>Team ID- </a:t>
            </a:r>
            <a:pPr indent="0" marL="0">
              <a:buNone/>
            </a:pPr>
            <a:endParaRPr lang="en-US" sz="1700" dirty="0"/>
          </a:p>
        </p:txBody>
      </p:sp>
      <p:sp>
        <p:nvSpPr>
          <p:cNvPr id="11" name="Text 8"/>
          <p:cNvSpPr txBox="1"/>
          <p:nvPr/>
        </p:nvSpPr>
        <p:spPr>
          <a:xfrm>
            <a:off x="502920" y="5468112"/>
            <a:ext cx="6172200" cy="603504"/>
          </a:xfrm>
          <a:prstGeom prst="rect">
            <a:avLst/>
          </a:prstGeom>
          <a:noFill/>
          <a:ln/>
        </p:spPr>
        <p:txBody>
          <a:bodyPr wrap="square" lIns="0" tIns="0" rIns="0" bIns="0" rtlCol="0" anchor="t"/>
          <a:lstStyle/>
          <a:p>
            <a:pPr marL="342900" indent="-342900">
              <a:buSzPct val="100000"/>
              <a:buChar char="•"/>
            </a:pPr>
            <a:r>
              <a:rPr lang="en-US" sz="1700" b="1" dirty="0">
                <a:solidFill>
                  <a:srgbClr val="000000"/>
                </a:solidFill>
                <a:latin typeface="Calibri" pitchFamily="34" charset="0"/>
                <a:ea typeface="Calibri" pitchFamily="34" charset="-122"/>
                <a:cs typeface="Calibri" pitchFamily="34" charset="-120"/>
              </a:rPr>
              <a:t>Team Name- </a:t>
            </a:r>
            <a:pPr indent="0" marL="0">
              <a:buNone/>
            </a:pPr>
            <a:r>
              <a:rPr lang="en-US" sz="1600" dirty="0">
                <a:solidFill>
                  <a:srgbClr val="000000"/>
                </a:solidFill>
                <a:latin typeface="Times New Roman" pitchFamily="34" charset="0"/>
                <a:ea typeface="Times New Roman" pitchFamily="34" charset="-122"/>
                <a:cs typeface="Times New Roman" pitchFamily="34" charset="-120"/>
              </a:rPr>
              <a:t>PUSHPAK</a:t>
            </a:r>
            <a:endParaRPr lang="en-US" sz="1700" dirty="0"/>
          </a:p>
        </p:txBody>
      </p:sp>
      <p:sp>
        <p:nvSpPr>
          <p:cNvPr id="12" name="Text 9"/>
          <p:cNvSpPr txBox="1"/>
          <p:nvPr/>
        </p:nvSpPr>
        <p:spPr>
          <a:xfrm>
            <a:off x="502920" y="6053328"/>
            <a:ext cx="8229600" cy="292608"/>
          </a:xfrm>
          <a:prstGeom prst="rect">
            <a:avLst/>
          </a:prstGeom>
          <a:noFill/>
          <a:ln/>
        </p:spPr>
        <p:txBody>
          <a:bodyPr wrap="square" lIns="0" tIns="0" rIns="0" bIns="0" rtlCol="0" anchor="ctr"/>
          <a:lstStyle/>
          <a:p>
            <a:pPr indent="0" marL="0">
              <a:buNone/>
            </a:pPr>
            <a:r>
              <a:rPr lang="en-US" sz="1200" i="1" dirty="0">
                <a:solidFill>
                  <a:srgbClr val="808080"/>
                </a:solidFill>
                <a:latin typeface="Times New Roman" pitchFamily="34" charset="0"/>
                <a:ea typeface="Times New Roman" pitchFamily="34" charset="-122"/>
                <a:cs typeface="Times New Roman" pitchFamily="34" charset="-120"/>
              </a:rPr>
              <a:t>Simulation-only scope: no RF hardware, no interception, no jamming, no weapon 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THISPC~1/AppData/Local/Temp/claude/C--Users-This-PC-Documents-claude-sih--claude-worktrees-sih-peptide-ppt-research-21209d/3b950e93-fcc8-4276-90eb-a3428a4a1885/scratchpad/assets/logo2026.png">    </p:cNvPr>
          <p:cNvPicPr>
            <a:picLocks noChangeAspect="1"/>
          </p:cNvPicPr>
          <p:nvPr/>
        </p:nvPicPr>
        <p:blipFill>
          <a:blip r:embed="rId1"/>
          <a:stretch>
            <a:fillRect/>
          </a:stretch>
        </p:blipFill>
        <p:spPr>
          <a:xfrm>
            <a:off x="9875520" y="91440"/>
            <a:ext cx="2103120" cy="993038"/>
          </a:xfrm>
          <a:prstGeom prst="rect">
            <a:avLst/>
          </a:prstGeom>
        </p:spPr>
      </p:pic>
      <p:sp>
        <p:nvSpPr>
          <p:cNvPr id="3" name="Shape 0"/>
          <p:cNvSpPr/>
          <p:nvPr/>
        </p:nvSpPr>
        <p:spPr>
          <a:xfrm>
            <a:off x="292608" y="146304"/>
            <a:ext cx="1316736" cy="548640"/>
          </a:xfrm>
          <a:prstGeom prst="ellipse">
            <a:avLst/>
          </a:prstGeom>
          <a:solidFill>
            <a:srgbClr val="FFFFFF"/>
          </a:solidFill>
          <a:ln w="19050">
            <a:solidFill>
              <a:srgbClr val="7B60A8"/>
            </a:solidFill>
            <a:prstDash val="solid"/>
          </a:ln>
        </p:spPr>
      </p:sp>
      <p:sp>
        <p:nvSpPr>
          <p:cNvPr id="4" name="Text 1"/>
          <p:cNvSpPr txBox="1"/>
          <p:nvPr/>
        </p:nvSpPr>
        <p:spPr>
          <a:xfrm>
            <a:off x="292608" y="146304"/>
            <a:ext cx="1316736" cy="548640"/>
          </a:xfrm>
          <a:prstGeom prst="rect">
            <a:avLst/>
          </a:prstGeom>
          <a:noFill/>
          <a:ln/>
        </p:spPr>
        <p:txBody>
          <a:bodyPr wrap="square" lIns="0" tIns="0" rIns="0" bIns="0" rtlCol="0" anchor="ctr"/>
          <a:lstStyle/>
          <a:p>
            <a:pPr algn="ctr" indent="0" marL="0">
              <a:buNone/>
            </a:pPr>
            <a:r>
              <a:rPr lang="en-US" sz="1250" b="1" dirty="0">
                <a:solidFill>
                  <a:srgbClr val="000000"/>
                </a:solidFill>
                <a:latin typeface="Calibri" pitchFamily="34" charset="0"/>
                <a:ea typeface="Calibri" pitchFamily="34" charset="-122"/>
                <a:cs typeface="Calibri" pitchFamily="34" charset="-120"/>
              </a:rPr>
              <a:t>PUSHPAK</a:t>
            </a:r>
            <a:endParaRPr lang="en-US" sz="1250" dirty="0"/>
          </a:p>
        </p:txBody>
      </p:sp>
      <p:sp>
        <p:nvSpPr>
          <p:cNvPr id="5" name="Shape 2"/>
          <p:cNvSpPr/>
          <p:nvPr/>
        </p:nvSpPr>
        <p:spPr>
          <a:xfrm>
            <a:off x="0" y="6528816"/>
            <a:ext cx="12191695" cy="329184"/>
          </a:xfrm>
          <a:prstGeom prst="rect">
            <a:avLst/>
          </a:prstGeom>
          <a:solidFill>
            <a:srgbClr val="1568BF"/>
          </a:solidFill>
          <a:ln w="12700">
            <a:solidFill>
              <a:srgbClr val="1568BF"/>
            </a:solidFill>
            <a:prstDash val="solid"/>
          </a:ln>
        </p:spPr>
      </p:sp>
      <p:sp>
        <p:nvSpPr>
          <p:cNvPr id="6" name="Text 3"/>
          <p:cNvSpPr txBox="1"/>
          <p:nvPr/>
        </p:nvSpPr>
        <p:spPr>
          <a:xfrm>
            <a:off x="11368735" y="6547104"/>
            <a:ext cx="502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7" name="Text 4"/>
          <p:cNvSpPr txBox="1"/>
          <p:nvPr/>
        </p:nvSpPr>
        <p:spPr>
          <a:xfrm>
            <a:off x="1691640" y="164592"/>
            <a:ext cx="8092440" cy="676656"/>
          </a:xfrm>
          <a:prstGeom prst="rect">
            <a:avLst/>
          </a:prstGeom>
          <a:noFill/>
          <a:ln/>
        </p:spPr>
        <p:txBody>
          <a:bodyPr wrap="square" lIns="0" tIns="0" rIns="0" bIns="0" rtlCol="0" anchor="ctr"/>
          <a:lstStyle/>
          <a:p>
            <a:pPr algn="ctr" indent="0" marL="0">
              <a:buNone/>
            </a:pPr>
            <a:r>
              <a:rPr lang="en-US" sz="3100" b="1" dirty="0">
                <a:solidFill>
                  <a:srgbClr val="000000"/>
                </a:solidFill>
                <a:latin typeface="Times New Roman" pitchFamily="34" charset="0"/>
                <a:ea typeface="Times New Roman" pitchFamily="34" charset="-122"/>
                <a:cs typeface="Times New Roman" pitchFamily="34" charset="-120"/>
              </a:rPr>
              <a:t>Intelligent RF Spectrum Scan Strategy</a:t>
            </a:r>
            <a:endParaRPr lang="en-US" sz="3100" dirty="0"/>
          </a:p>
        </p:txBody>
      </p:sp>
      <p:sp>
        <p:nvSpPr>
          <p:cNvPr id="8" name="Shape 5"/>
          <p:cNvSpPr/>
          <p:nvPr/>
        </p:nvSpPr>
        <p:spPr>
          <a:xfrm>
            <a:off x="274320" y="1042416"/>
            <a:ext cx="5175504" cy="5394960"/>
          </a:xfrm>
          <a:prstGeom prst="roundRect">
            <a:avLst>
              <a:gd name="adj" fmla="val 883"/>
            </a:avLst>
          </a:prstGeom>
          <a:solidFill>
            <a:srgbClr val="FFFFFF"/>
          </a:solidFill>
          <a:ln w="28575">
            <a:solidFill>
              <a:srgbClr val="E2711D"/>
            </a:solidFill>
            <a:prstDash val="solid"/>
          </a:ln>
        </p:spPr>
      </p:sp>
      <p:sp>
        <p:nvSpPr>
          <p:cNvPr id="9" name="Text 6"/>
          <p:cNvSpPr txBox="1"/>
          <p:nvPr/>
        </p:nvSpPr>
        <p:spPr>
          <a:xfrm>
            <a:off x="457200" y="1170432"/>
            <a:ext cx="4809744" cy="256032"/>
          </a:xfrm>
          <a:prstGeom prst="rect">
            <a:avLst/>
          </a:prstGeom>
          <a:noFill/>
          <a:ln/>
        </p:spPr>
        <p:txBody>
          <a:bodyPr wrap="square" lIns="0" tIns="0" rIns="0" bIns="0" rtlCol="0" anchor="ctr"/>
          <a:lstStyle/>
          <a:p>
            <a:pPr indent="0" marL="0">
              <a:buNone/>
            </a:pPr>
            <a:r>
              <a:rPr lang="en-US" sz="1400" b="1" dirty="0">
                <a:solidFill>
                  <a:srgbClr val="0E9F4F"/>
                </a:solidFill>
                <a:latin typeface="Calibri" pitchFamily="34" charset="0"/>
                <a:ea typeface="Calibri" pitchFamily="34" charset="-122"/>
                <a:cs typeface="Calibri" pitchFamily="34" charset="-120"/>
              </a:rPr>
              <a:t>Detailed explanation of the proposed solution</a:t>
            </a:r>
            <a:endParaRPr lang="en-US" sz="1400" dirty="0"/>
          </a:p>
        </p:txBody>
      </p:sp>
      <p:sp>
        <p:nvSpPr>
          <p:cNvPr id="10" name="Text 7"/>
          <p:cNvSpPr txBox="1"/>
          <p:nvPr/>
        </p:nvSpPr>
        <p:spPr>
          <a:xfrm>
            <a:off x="457200" y="1426464"/>
            <a:ext cx="4809744" cy="1353312"/>
          </a:xfrm>
          <a:prstGeom prst="rect">
            <a:avLst/>
          </a:prstGeom>
          <a:noFill/>
          <a:ln/>
        </p:spPr>
        <p:txBody>
          <a:bodyPr wrap="square" lIns="0" tIns="0" rIns="0" bIns="0" rtlCol="0" anchor="ctr"/>
          <a:lstStyle/>
          <a:p>
            <a:pPr indent="0" marL="0">
              <a:lnSpc>
                <a:spcPct val="98000"/>
              </a:lnSpc>
              <a:buNone/>
            </a:pPr>
            <a:r>
              <a:rPr lang="en-US" sz="1100" dirty="0">
                <a:solidFill>
                  <a:srgbClr val="E2711D"/>
                </a:solidFill>
                <a:latin typeface="Times New Roman" pitchFamily="34" charset="0"/>
                <a:ea typeface="Times New Roman" pitchFamily="34" charset="-122"/>
                <a:cs typeface="Times New Roman" pitchFamily="34" charset="-120"/>
              </a:rPr>
              <a:t>A machine-learning Electronic Support receiver scheduler</a:t>
            </a:r>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 — the expected solution, built end to end.</a:t>
            </a:r>
            <a:endParaRPr lang="en-US" sz="1100" dirty="0"/>
          </a:p>
          <a:p>
            <a:pPr indent="0" marL="0">
              <a:lnSpc>
                <a:spcPct val="98000"/>
              </a:lnSpc>
              <a:buNone/>
            </a:pPr>
            <a:r>
              <a:rPr lang="en-US" sz="1100" dirty="0">
                <a:solidFill>
                  <a:srgbClr val="E2711D"/>
                </a:solidFill>
                <a:latin typeface="Times New Roman" pitchFamily="34" charset="0"/>
                <a:ea typeface="Times New Roman" pitchFamily="34" charset="-122"/>
                <a:cs typeface="Times New Roman" pitchFamily="34" charset="-120"/>
              </a:rPr>
              <a:t>Simulated RF environment</a:t>
            </a:r>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 carrying truth information for every band at every time slot.</a:t>
            </a:r>
            <a:endParaRPr lang="en-US" sz="1100" dirty="0"/>
          </a:p>
          <a:p>
            <a:pPr indent="0" marL="0">
              <a:lnSpc>
                <a:spcPct val="98000"/>
              </a:lnSpc>
              <a:buNone/>
            </a:pPr>
            <a:r>
              <a:rPr lang="en-US" sz="1100" dirty="0">
                <a:solidFill>
                  <a:srgbClr val="E2711D"/>
                </a:solidFill>
                <a:latin typeface="Times New Roman" pitchFamily="34" charset="0"/>
                <a:ea typeface="Times New Roman" pitchFamily="34" charset="-122"/>
                <a:cs typeface="Times New Roman" pitchFamily="34" charset="-120"/>
              </a:rPr>
              <a:t>Bandwidth-limited receiver</a:t>
            </a:r>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 with dwell time, tuning delay and detection threshold.</a:t>
            </a:r>
            <a:endParaRPr lang="en-US" sz="1100" dirty="0"/>
          </a:p>
          <a:p>
            <a:pPr indent="0" marL="0">
              <a:lnSpc>
                <a:spcPct val="98000"/>
              </a:lnSpc>
              <a:buNone/>
            </a:pPr>
            <a:r>
              <a:rPr lang="en-US" sz="1100" dirty="0">
                <a:solidFill>
                  <a:srgbClr val="E2711D"/>
                </a:solidFill>
                <a:latin typeface="Times New Roman" pitchFamily="34" charset="0"/>
                <a:ea typeface="Times New Roman" pitchFamily="34" charset="-122"/>
                <a:cs typeface="Times New Roman" pitchFamily="34" charset="-120"/>
              </a:rPr>
              <a:t>Bandit trained on hits and misses</a:t>
            </a:r>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 periodicity estimator for optimal interception of periodic scans.</a:t>
            </a:r>
            <a:endParaRPr lang="en-US" sz="1100" dirty="0"/>
          </a:p>
        </p:txBody>
      </p:sp>
      <p:sp>
        <p:nvSpPr>
          <p:cNvPr id="11" name="Shape 8"/>
          <p:cNvSpPr/>
          <p:nvPr/>
        </p:nvSpPr>
        <p:spPr>
          <a:xfrm>
            <a:off x="457200" y="2834640"/>
            <a:ext cx="4809744" cy="0"/>
          </a:xfrm>
          <a:prstGeom prst="line">
            <a:avLst/>
          </a:prstGeom>
          <a:noFill/>
          <a:ln w="15875">
            <a:solidFill>
              <a:srgbClr val="2E75B6"/>
            </a:solidFill>
            <a:prstDash val="dash"/>
          </a:ln>
        </p:spPr>
      </p:sp>
      <p:sp>
        <p:nvSpPr>
          <p:cNvPr id="12" name="Text 9"/>
          <p:cNvSpPr txBox="1"/>
          <p:nvPr/>
        </p:nvSpPr>
        <p:spPr>
          <a:xfrm>
            <a:off x="457200" y="2907792"/>
            <a:ext cx="4809744" cy="256032"/>
          </a:xfrm>
          <a:prstGeom prst="rect">
            <a:avLst/>
          </a:prstGeom>
          <a:noFill/>
          <a:ln/>
        </p:spPr>
        <p:txBody>
          <a:bodyPr wrap="square" lIns="0" tIns="0" rIns="0" bIns="0" rtlCol="0" anchor="ctr"/>
          <a:lstStyle/>
          <a:p>
            <a:pPr indent="0" marL="0">
              <a:buNone/>
            </a:pPr>
            <a:r>
              <a:rPr lang="en-US" sz="1400" b="1" dirty="0">
                <a:solidFill>
                  <a:srgbClr val="0E9F4F"/>
                </a:solidFill>
                <a:latin typeface="Calibri" pitchFamily="34" charset="0"/>
                <a:ea typeface="Calibri" pitchFamily="34" charset="-122"/>
                <a:cs typeface="Calibri" pitchFamily="34" charset="-120"/>
              </a:rPr>
              <a:t>How it addresses the problem</a:t>
            </a:r>
            <a:endParaRPr lang="en-US" sz="1400" dirty="0"/>
          </a:p>
        </p:txBody>
      </p:sp>
      <p:sp>
        <p:nvSpPr>
          <p:cNvPr id="13" name="Text 10"/>
          <p:cNvSpPr txBox="1"/>
          <p:nvPr/>
        </p:nvSpPr>
        <p:spPr>
          <a:xfrm>
            <a:off x="457200" y="3182112"/>
            <a:ext cx="4809744" cy="1225296"/>
          </a:xfrm>
          <a:prstGeom prst="rect">
            <a:avLst/>
          </a:prstGeom>
          <a:noFill/>
          <a:ln/>
        </p:spPr>
        <p:txBody>
          <a:bodyPr wrap="square" lIns="0" tIns="0" rIns="0" bIns="0" rtlCol="0" anchor="ctr"/>
          <a:lstStyle/>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Detection rate rises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0.107 → 0.345</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on the same spectrum and seeds.</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Listening efficiency rises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0.198 → 0.573</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of dwell spent on live air.</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High-priority detection rises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0.101 → 0.375</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A decision returns in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6.6 ms p95</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over HTTP, against a 50 ms budget.</a:t>
            </a:r>
            <a:endParaRPr lang="en-US" sz="1150" dirty="0"/>
          </a:p>
        </p:txBody>
      </p:sp>
      <p:sp>
        <p:nvSpPr>
          <p:cNvPr id="14" name="Shape 11"/>
          <p:cNvSpPr/>
          <p:nvPr/>
        </p:nvSpPr>
        <p:spPr>
          <a:xfrm>
            <a:off x="457200" y="4480560"/>
            <a:ext cx="4809744" cy="0"/>
          </a:xfrm>
          <a:prstGeom prst="line">
            <a:avLst/>
          </a:prstGeom>
          <a:noFill/>
          <a:ln w="15875">
            <a:solidFill>
              <a:srgbClr val="2E75B6"/>
            </a:solidFill>
            <a:prstDash val="dash"/>
          </a:ln>
        </p:spPr>
      </p:sp>
      <p:sp>
        <p:nvSpPr>
          <p:cNvPr id="15" name="Text 12"/>
          <p:cNvSpPr txBox="1"/>
          <p:nvPr/>
        </p:nvSpPr>
        <p:spPr>
          <a:xfrm>
            <a:off x="457200" y="4553712"/>
            <a:ext cx="4809744" cy="256032"/>
          </a:xfrm>
          <a:prstGeom prst="rect">
            <a:avLst/>
          </a:prstGeom>
          <a:noFill/>
          <a:ln/>
        </p:spPr>
        <p:txBody>
          <a:bodyPr wrap="square" lIns="0" tIns="0" rIns="0" bIns="0" rtlCol="0" anchor="ctr"/>
          <a:lstStyle/>
          <a:p>
            <a:pPr indent="0" marL="0">
              <a:buNone/>
            </a:pPr>
            <a:r>
              <a:rPr lang="en-US" sz="1400" b="1" dirty="0">
                <a:solidFill>
                  <a:srgbClr val="0E9F4F"/>
                </a:solidFill>
                <a:latin typeface="Calibri" pitchFamily="34" charset="0"/>
                <a:ea typeface="Calibri" pitchFamily="34" charset="-122"/>
                <a:cs typeface="Calibri" pitchFamily="34" charset="-120"/>
              </a:rPr>
              <a:t>Innovation and uniqueness of the solution</a:t>
            </a:r>
            <a:endParaRPr lang="en-US" sz="1400" dirty="0"/>
          </a:p>
        </p:txBody>
      </p:sp>
      <p:sp>
        <p:nvSpPr>
          <p:cNvPr id="16" name="Text 13"/>
          <p:cNvSpPr txBox="1"/>
          <p:nvPr/>
        </p:nvSpPr>
        <p:spPr>
          <a:xfrm>
            <a:off x="457200" y="4828032"/>
            <a:ext cx="4809744" cy="1554480"/>
          </a:xfrm>
          <a:prstGeom prst="rect">
            <a:avLst/>
          </a:prstGeom>
          <a:noFill/>
          <a:ln/>
        </p:spPr>
        <p:txBody>
          <a:bodyPr wrap="square" lIns="0" tIns="0" rIns="0" bIns="0" rtlCol="0" anchor="ctr"/>
          <a:lstStyle/>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Phase folding, not median inter-arrival</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 we observe our own detections, never the emitter, so the gaps measure our scan schedule.</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Confidence corrected for the look-elsewhere effect</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 non-periodic emitters stay at the nominal 5%, not 99%.</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Coverage versus density is a tunable reward weight</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retuned per mission rather than fixed.</a:t>
            </a:r>
            <a:endParaRPr lang="en-US" sz="1150" dirty="0"/>
          </a:p>
        </p:txBody>
      </p:sp>
      <p:sp>
        <p:nvSpPr>
          <p:cNvPr id="17" name="Shape 14"/>
          <p:cNvSpPr/>
          <p:nvPr/>
        </p:nvSpPr>
        <p:spPr>
          <a:xfrm>
            <a:off x="5650992" y="1060704"/>
            <a:ext cx="1956816" cy="859536"/>
          </a:xfrm>
          <a:prstGeom prst="roundRect">
            <a:avLst>
              <a:gd name="adj" fmla="val 6383"/>
            </a:avLst>
          </a:prstGeom>
          <a:solidFill>
            <a:srgbClr val="FFF3E6"/>
          </a:solidFill>
          <a:ln w="19050">
            <a:solidFill>
              <a:srgbClr val="E2711D"/>
            </a:solidFill>
            <a:prstDash val="solid"/>
          </a:ln>
        </p:spPr>
      </p:sp>
      <p:sp>
        <p:nvSpPr>
          <p:cNvPr id="18" name="Text 15"/>
          <p:cNvSpPr txBox="1"/>
          <p:nvPr/>
        </p:nvSpPr>
        <p:spPr>
          <a:xfrm>
            <a:off x="5650992" y="1115568"/>
            <a:ext cx="1956816" cy="420624"/>
          </a:xfrm>
          <a:prstGeom prst="rect">
            <a:avLst/>
          </a:prstGeom>
          <a:noFill/>
          <a:ln/>
        </p:spPr>
        <p:txBody>
          <a:bodyPr wrap="square" lIns="0" tIns="0" rIns="0" bIns="0" rtlCol="0" anchor="ctr"/>
          <a:lstStyle/>
          <a:p>
            <a:pPr algn="ctr" indent="0" marL="0">
              <a:buNone/>
            </a:pPr>
            <a:r>
              <a:rPr lang="en-US" sz="2600" b="1" dirty="0">
                <a:solidFill>
                  <a:srgbClr val="E2711D"/>
                </a:solidFill>
                <a:latin typeface="Calibri" pitchFamily="34" charset="0"/>
                <a:ea typeface="Calibri" pitchFamily="34" charset="-122"/>
                <a:cs typeface="Calibri" pitchFamily="34" charset="-120"/>
              </a:rPr>
              <a:t>3.2×</a:t>
            </a:r>
            <a:endParaRPr lang="en-US" sz="2600" dirty="0"/>
          </a:p>
        </p:txBody>
      </p:sp>
      <p:sp>
        <p:nvSpPr>
          <p:cNvPr id="19" name="Text 16"/>
          <p:cNvSpPr txBox="1"/>
          <p:nvPr/>
        </p:nvSpPr>
        <p:spPr>
          <a:xfrm>
            <a:off x="5650992" y="1536192"/>
            <a:ext cx="1956816"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Detection rate</a:t>
            </a:r>
            <a:endParaRPr lang="en-US" sz="1150" dirty="0"/>
          </a:p>
        </p:txBody>
      </p:sp>
      <p:sp>
        <p:nvSpPr>
          <p:cNvPr id="20" name="Shape 17"/>
          <p:cNvSpPr/>
          <p:nvPr/>
        </p:nvSpPr>
        <p:spPr>
          <a:xfrm>
            <a:off x="7772400" y="1060704"/>
            <a:ext cx="1956816" cy="859536"/>
          </a:xfrm>
          <a:prstGeom prst="roundRect">
            <a:avLst>
              <a:gd name="adj" fmla="val 6383"/>
            </a:avLst>
          </a:prstGeom>
          <a:solidFill>
            <a:srgbClr val="FFF3E6"/>
          </a:solidFill>
          <a:ln w="19050">
            <a:solidFill>
              <a:srgbClr val="E2711D"/>
            </a:solidFill>
            <a:prstDash val="solid"/>
          </a:ln>
        </p:spPr>
      </p:sp>
      <p:sp>
        <p:nvSpPr>
          <p:cNvPr id="21" name="Text 18"/>
          <p:cNvSpPr txBox="1"/>
          <p:nvPr/>
        </p:nvSpPr>
        <p:spPr>
          <a:xfrm>
            <a:off x="7772400" y="1115568"/>
            <a:ext cx="1956816" cy="420624"/>
          </a:xfrm>
          <a:prstGeom prst="rect">
            <a:avLst/>
          </a:prstGeom>
          <a:noFill/>
          <a:ln/>
        </p:spPr>
        <p:txBody>
          <a:bodyPr wrap="square" lIns="0" tIns="0" rIns="0" bIns="0" rtlCol="0" anchor="ctr"/>
          <a:lstStyle/>
          <a:p>
            <a:pPr algn="ctr" indent="0" marL="0">
              <a:buNone/>
            </a:pPr>
            <a:r>
              <a:rPr lang="en-US" sz="2600" b="1" dirty="0">
                <a:solidFill>
                  <a:srgbClr val="E2711D"/>
                </a:solidFill>
                <a:latin typeface="Calibri" pitchFamily="34" charset="0"/>
                <a:ea typeface="Calibri" pitchFamily="34" charset="-122"/>
                <a:cs typeface="Calibri" pitchFamily="34" charset="-120"/>
              </a:rPr>
              <a:t>3.7×</a:t>
            </a:r>
            <a:endParaRPr lang="en-US" sz="2600" dirty="0"/>
          </a:p>
        </p:txBody>
      </p:sp>
      <p:sp>
        <p:nvSpPr>
          <p:cNvPr id="22" name="Text 19"/>
          <p:cNvSpPr txBox="1"/>
          <p:nvPr/>
        </p:nvSpPr>
        <p:spPr>
          <a:xfrm>
            <a:off x="7772400" y="1536192"/>
            <a:ext cx="1956816"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High-priority</a:t>
            </a:r>
            <a:endParaRPr lang="en-US" sz="1150" dirty="0"/>
          </a:p>
        </p:txBody>
      </p:sp>
      <p:sp>
        <p:nvSpPr>
          <p:cNvPr id="23" name="Shape 20"/>
          <p:cNvSpPr/>
          <p:nvPr/>
        </p:nvSpPr>
        <p:spPr>
          <a:xfrm>
            <a:off x="9893808" y="1060704"/>
            <a:ext cx="1956816" cy="859536"/>
          </a:xfrm>
          <a:prstGeom prst="roundRect">
            <a:avLst>
              <a:gd name="adj" fmla="val 6383"/>
            </a:avLst>
          </a:prstGeom>
          <a:solidFill>
            <a:srgbClr val="FFF3E6"/>
          </a:solidFill>
          <a:ln w="19050">
            <a:solidFill>
              <a:srgbClr val="E2711D"/>
            </a:solidFill>
            <a:prstDash val="solid"/>
          </a:ln>
        </p:spPr>
      </p:sp>
      <p:sp>
        <p:nvSpPr>
          <p:cNvPr id="24" name="Text 21"/>
          <p:cNvSpPr txBox="1"/>
          <p:nvPr/>
        </p:nvSpPr>
        <p:spPr>
          <a:xfrm>
            <a:off x="9893808" y="1115568"/>
            <a:ext cx="1956816" cy="420624"/>
          </a:xfrm>
          <a:prstGeom prst="rect">
            <a:avLst/>
          </a:prstGeom>
          <a:noFill/>
          <a:ln/>
        </p:spPr>
        <p:txBody>
          <a:bodyPr wrap="square" lIns="0" tIns="0" rIns="0" bIns="0" rtlCol="0" anchor="ctr"/>
          <a:lstStyle/>
          <a:p>
            <a:pPr algn="ctr" indent="0" marL="0">
              <a:buNone/>
            </a:pPr>
            <a:r>
              <a:rPr lang="en-US" sz="2600" b="1" dirty="0">
                <a:solidFill>
                  <a:srgbClr val="E2711D"/>
                </a:solidFill>
                <a:latin typeface="Calibri" pitchFamily="34" charset="0"/>
                <a:ea typeface="Calibri" pitchFamily="34" charset="-122"/>
                <a:cs typeface="Calibri" pitchFamily="34" charset="-120"/>
              </a:rPr>
              <a:t>2.9×</a:t>
            </a:r>
            <a:endParaRPr lang="en-US" sz="2600" dirty="0"/>
          </a:p>
        </p:txBody>
      </p:sp>
      <p:sp>
        <p:nvSpPr>
          <p:cNvPr id="25" name="Text 22"/>
          <p:cNvSpPr txBox="1"/>
          <p:nvPr/>
        </p:nvSpPr>
        <p:spPr>
          <a:xfrm>
            <a:off x="9893808" y="1536192"/>
            <a:ext cx="1956816"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Scan efficiency</a:t>
            </a:r>
            <a:endParaRPr lang="en-US" sz="1150" dirty="0"/>
          </a:p>
        </p:txBody>
      </p:sp>
      <p:sp>
        <p:nvSpPr>
          <p:cNvPr id="26" name="Text 23"/>
          <p:cNvSpPr txBox="1"/>
          <p:nvPr/>
        </p:nvSpPr>
        <p:spPr>
          <a:xfrm>
            <a:off x="5650992" y="2011680"/>
            <a:ext cx="6263640" cy="256032"/>
          </a:xfrm>
          <a:prstGeom prst="rect">
            <a:avLst/>
          </a:prstGeom>
          <a:noFill/>
          <a:ln/>
        </p:spPr>
        <p:txBody>
          <a:bodyPr wrap="square" lIns="0" tIns="0" rIns="0" bIns="0" rtlCol="0" anchor="ctr"/>
          <a:lstStyle/>
          <a:p>
            <a:pPr algn="ctr" indent="0" marL="0">
              <a:buNone/>
            </a:pPr>
            <a:r>
              <a:rPr lang="en-US" sz="1100" i="1" dirty="0">
                <a:solidFill>
                  <a:srgbClr val="808080"/>
                </a:solidFill>
                <a:latin typeface="Times New Roman" pitchFamily="34" charset="0"/>
                <a:ea typeface="Times New Roman" pitchFamily="34" charset="-122"/>
                <a:cs typeface="Times New Roman" pitchFamily="34" charset="-120"/>
              </a:rPr>
              <a:t>Measured against the round-robin sweep on an identical spectrum — Scenario B, 5 seeds.</a:t>
            </a:r>
            <a:endParaRPr lang="en-US" sz="1100" dirty="0"/>
          </a:p>
        </p:txBody>
      </p:sp>
      <p:sp>
        <p:nvSpPr>
          <p:cNvPr id="27" name="Shape 24"/>
          <p:cNvSpPr/>
          <p:nvPr/>
        </p:nvSpPr>
        <p:spPr>
          <a:xfrm>
            <a:off x="5614416" y="2340864"/>
            <a:ext cx="6336792" cy="3145536"/>
          </a:xfrm>
          <a:prstGeom prst="rect">
            <a:avLst/>
          </a:prstGeom>
          <a:solidFill>
            <a:srgbClr val="FFFFFF"/>
          </a:solidFill>
          <a:ln w="22225">
            <a:solidFill>
              <a:srgbClr val="E2711D"/>
            </a:solidFill>
            <a:prstDash val="solid"/>
          </a:ln>
        </p:spPr>
      </p:sp>
      <p:pic>
        <p:nvPicPr>
          <p:cNvPr id="28" name="Image 1" descr="C:/Users/THISPC~1/AppData/Local/Temp/claude/C--Users-This-PC-Documents-claude-sih--claude-worktrees-sih-peptide-ppt-research-21209d/3b950e93-fcc8-4276-90eb-a3428a4a1885/scratchpad/assets/p2_x42.png">    </p:cNvPr>
          <p:cNvPicPr>
            <a:picLocks noChangeAspect="1"/>
          </p:cNvPicPr>
          <p:nvPr/>
        </p:nvPicPr>
        <p:blipFill>
          <a:blip r:embed="rId2"/>
          <a:stretch>
            <a:fillRect/>
          </a:stretch>
        </p:blipFill>
        <p:spPr>
          <a:xfrm>
            <a:off x="5650992" y="2377440"/>
            <a:ext cx="6263640" cy="3072384"/>
          </a:xfrm>
          <a:prstGeom prst="rect">
            <a:avLst/>
          </a:prstGeom>
        </p:spPr>
      </p:pic>
      <p:sp>
        <p:nvSpPr>
          <p:cNvPr id="29" name="Text 25"/>
          <p:cNvSpPr txBox="1"/>
          <p:nvPr/>
        </p:nvSpPr>
        <p:spPr>
          <a:xfrm>
            <a:off x="5650992" y="5541264"/>
            <a:ext cx="626364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Working prototype — live spectrum analyser, AI decision engine and passive radar scope.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THISPC~1/AppData/Local/Temp/claude/C--Users-This-PC-Documents-claude-sih--claude-worktrees-sih-peptide-ppt-research-21209d/3b950e93-fcc8-4276-90eb-a3428a4a1885/scratchpad/assets/logo2026.png">    </p:cNvPr>
          <p:cNvPicPr>
            <a:picLocks noChangeAspect="1"/>
          </p:cNvPicPr>
          <p:nvPr/>
        </p:nvPicPr>
        <p:blipFill>
          <a:blip r:embed="rId1"/>
          <a:stretch>
            <a:fillRect/>
          </a:stretch>
        </p:blipFill>
        <p:spPr>
          <a:xfrm>
            <a:off x="9875520" y="91440"/>
            <a:ext cx="2103120" cy="993038"/>
          </a:xfrm>
          <a:prstGeom prst="rect">
            <a:avLst/>
          </a:prstGeom>
        </p:spPr>
      </p:pic>
      <p:sp>
        <p:nvSpPr>
          <p:cNvPr id="3" name="Shape 0"/>
          <p:cNvSpPr/>
          <p:nvPr/>
        </p:nvSpPr>
        <p:spPr>
          <a:xfrm>
            <a:off x="292608" y="146304"/>
            <a:ext cx="1316736" cy="548640"/>
          </a:xfrm>
          <a:prstGeom prst="ellipse">
            <a:avLst/>
          </a:prstGeom>
          <a:solidFill>
            <a:srgbClr val="FFFFFF"/>
          </a:solidFill>
          <a:ln w="19050">
            <a:solidFill>
              <a:srgbClr val="7B60A8"/>
            </a:solidFill>
            <a:prstDash val="solid"/>
          </a:ln>
        </p:spPr>
      </p:sp>
      <p:sp>
        <p:nvSpPr>
          <p:cNvPr id="4" name="Text 1"/>
          <p:cNvSpPr txBox="1"/>
          <p:nvPr/>
        </p:nvSpPr>
        <p:spPr>
          <a:xfrm>
            <a:off x="292608" y="146304"/>
            <a:ext cx="1316736" cy="548640"/>
          </a:xfrm>
          <a:prstGeom prst="rect">
            <a:avLst/>
          </a:prstGeom>
          <a:noFill/>
          <a:ln/>
        </p:spPr>
        <p:txBody>
          <a:bodyPr wrap="square" lIns="0" tIns="0" rIns="0" bIns="0" rtlCol="0" anchor="ctr"/>
          <a:lstStyle/>
          <a:p>
            <a:pPr algn="ctr" indent="0" marL="0">
              <a:buNone/>
            </a:pPr>
            <a:r>
              <a:rPr lang="en-US" sz="1250" b="1" dirty="0">
                <a:solidFill>
                  <a:srgbClr val="000000"/>
                </a:solidFill>
                <a:latin typeface="Calibri" pitchFamily="34" charset="0"/>
                <a:ea typeface="Calibri" pitchFamily="34" charset="-122"/>
                <a:cs typeface="Calibri" pitchFamily="34" charset="-120"/>
              </a:rPr>
              <a:t>PUSHPAK</a:t>
            </a:r>
            <a:endParaRPr lang="en-US" sz="1250" dirty="0"/>
          </a:p>
        </p:txBody>
      </p:sp>
      <p:sp>
        <p:nvSpPr>
          <p:cNvPr id="5" name="Shape 2"/>
          <p:cNvSpPr/>
          <p:nvPr/>
        </p:nvSpPr>
        <p:spPr>
          <a:xfrm>
            <a:off x="0" y="6528816"/>
            <a:ext cx="12191695" cy="329184"/>
          </a:xfrm>
          <a:prstGeom prst="rect">
            <a:avLst/>
          </a:prstGeom>
          <a:solidFill>
            <a:srgbClr val="1568BF"/>
          </a:solidFill>
          <a:ln w="12700">
            <a:solidFill>
              <a:srgbClr val="1568BF"/>
            </a:solidFill>
            <a:prstDash val="solid"/>
          </a:ln>
        </p:spPr>
      </p:sp>
      <p:sp>
        <p:nvSpPr>
          <p:cNvPr id="6" name="Text 3"/>
          <p:cNvSpPr txBox="1"/>
          <p:nvPr/>
        </p:nvSpPr>
        <p:spPr>
          <a:xfrm>
            <a:off x="11368735" y="6547104"/>
            <a:ext cx="502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7" name="Text 4"/>
          <p:cNvSpPr txBox="1"/>
          <p:nvPr/>
        </p:nvSpPr>
        <p:spPr>
          <a:xfrm>
            <a:off x="1691640" y="164592"/>
            <a:ext cx="8092440" cy="676656"/>
          </a:xfrm>
          <a:prstGeom prst="rect">
            <a:avLst/>
          </a:prstGeom>
          <a:noFill/>
          <a:ln/>
        </p:spPr>
        <p:txBody>
          <a:bodyPr wrap="square" lIns="0" tIns="0" rIns="0" bIns="0" rtlCol="0" anchor="ctr"/>
          <a:lstStyle/>
          <a:p>
            <a:pPr algn="ctr" indent="0" marL="0">
              <a:buNone/>
            </a:pPr>
            <a:r>
              <a:rPr lang="en-US" sz="3400" b="1" dirty="0">
                <a:solidFill>
                  <a:srgbClr val="000000"/>
                </a:solidFill>
                <a:latin typeface="Times New Roman" pitchFamily="34" charset="0"/>
                <a:ea typeface="Times New Roman" pitchFamily="34" charset="-122"/>
                <a:cs typeface="Times New Roman" pitchFamily="34" charset="-120"/>
              </a:rPr>
              <a:t>TECHNICAL APPROACH</a:t>
            </a:r>
            <a:endParaRPr lang="en-US" sz="3400" dirty="0"/>
          </a:p>
        </p:txBody>
      </p:sp>
      <p:sp>
        <p:nvSpPr>
          <p:cNvPr id="8" name="Shape 5"/>
          <p:cNvSpPr/>
          <p:nvPr/>
        </p:nvSpPr>
        <p:spPr>
          <a:xfrm>
            <a:off x="274320" y="1042416"/>
            <a:ext cx="5175504" cy="5394960"/>
          </a:xfrm>
          <a:prstGeom prst="roundRect">
            <a:avLst>
              <a:gd name="adj" fmla="val 883"/>
            </a:avLst>
          </a:prstGeom>
          <a:solidFill>
            <a:srgbClr val="FFFFFF"/>
          </a:solidFill>
          <a:ln w="28575">
            <a:solidFill>
              <a:srgbClr val="1F6FC4"/>
            </a:solidFill>
            <a:prstDash val="solid"/>
          </a:ln>
        </p:spPr>
      </p:sp>
      <p:sp>
        <p:nvSpPr>
          <p:cNvPr id="9" name="Text 6"/>
          <p:cNvSpPr txBox="1"/>
          <p:nvPr/>
        </p:nvSpPr>
        <p:spPr>
          <a:xfrm>
            <a:off x="457200" y="1170432"/>
            <a:ext cx="4809744" cy="256032"/>
          </a:xfrm>
          <a:prstGeom prst="rect">
            <a:avLst/>
          </a:prstGeom>
          <a:noFill/>
          <a:ln/>
        </p:spPr>
        <p:txBody>
          <a:bodyPr wrap="square" lIns="0" tIns="0" rIns="0" bIns="0" rtlCol="0" anchor="ctr"/>
          <a:lstStyle/>
          <a:p>
            <a:pPr indent="0" marL="0">
              <a:buNone/>
            </a:pPr>
            <a:r>
              <a:rPr lang="en-US" sz="1500" b="1" dirty="0">
                <a:solidFill>
                  <a:srgbClr val="1F6FC4"/>
                </a:solidFill>
                <a:latin typeface="Calibri" pitchFamily="34" charset="0"/>
                <a:ea typeface="Calibri" pitchFamily="34" charset="-122"/>
                <a:cs typeface="Calibri" pitchFamily="34" charset="-120"/>
              </a:rPr>
              <a:t>Technologies</a:t>
            </a:r>
            <a:endParaRPr lang="en-US" sz="1500" dirty="0"/>
          </a:p>
        </p:txBody>
      </p:sp>
      <p:sp>
        <p:nvSpPr>
          <p:cNvPr id="10" name="Text 7"/>
          <p:cNvSpPr txBox="1"/>
          <p:nvPr/>
        </p:nvSpPr>
        <p:spPr>
          <a:xfrm>
            <a:off x="457200" y="1463040"/>
            <a:ext cx="4809744" cy="2103120"/>
          </a:xfrm>
          <a:prstGeom prst="rect">
            <a:avLst/>
          </a:prstGeom>
          <a:noFill/>
          <a:ln/>
        </p:spPr>
        <p:txBody>
          <a:bodyPr wrap="square" lIns="0" tIns="0" rIns="0" bIns="0" rtlCol="0" anchor="ctr"/>
          <a:lstStyle/>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Frontend: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React 18 + TypeScript — real-time spectrum and metrics dashboard</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Backend: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Java 21 + Spring Boot 3 — APIs, simulation and scheduler services</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AI/ML: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Python 3.12 + FastAPI — contextual bandit, Q-learning, DQN/PPO</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Database: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PostgreSQL + Flyway — simulations, scan events and results</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Real-Time: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WebSocket — live spectrum, decisions and metrics</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Deployment: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Docker / Docker Compose — reproducible setup</a:t>
            </a:r>
            <a:endParaRPr lang="en-US" sz="1150" dirty="0"/>
          </a:p>
        </p:txBody>
      </p:sp>
      <p:sp>
        <p:nvSpPr>
          <p:cNvPr id="11" name="Shape 8"/>
          <p:cNvSpPr/>
          <p:nvPr/>
        </p:nvSpPr>
        <p:spPr>
          <a:xfrm>
            <a:off x="457200" y="3602736"/>
            <a:ext cx="4809744" cy="0"/>
          </a:xfrm>
          <a:prstGeom prst="line">
            <a:avLst/>
          </a:prstGeom>
          <a:noFill/>
          <a:ln w="15875">
            <a:solidFill>
              <a:srgbClr val="2E75B6"/>
            </a:solidFill>
            <a:prstDash val="dash"/>
          </a:ln>
        </p:spPr>
      </p:sp>
      <p:sp>
        <p:nvSpPr>
          <p:cNvPr id="12" name="Text 9"/>
          <p:cNvSpPr txBox="1"/>
          <p:nvPr/>
        </p:nvSpPr>
        <p:spPr>
          <a:xfrm>
            <a:off x="457200" y="3675888"/>
            <a:ext cx="4809744" cy="256032"/>
          </a:xfrm>
          <a:prstGeom prst="rect">
            <a:avLst/>
          </a:prstGeom>
          <a:noFill/>
          <a:ln/>
        </p:spPr>
        <p:txBody>
          <a:bodyPr wrap="square" lIns="0" tIns="0" rIns="0" bIns="0" rtlCol="0" anchor="ctr"/>
          <a:lstStyle/>
          <a:p>
            <a:pPr indent="0" marL="0">
              <a:buNone/>
            </a:pPr>
            <a:r>
              <a:rPr lang="en-US" sz="1500" b="1" dirty="0">
                <a:solidFill>
                  <a:srgbClr val="1F6FC4"/>
                </a:solidFill>
                <a:latin typeface="Calibri" pitchFamily="34" charset="0"/>
                <a:ea typeface="Calibri" pitchFamily="34" charset="-122"/>
                <a:cs typeface="Calibri" pitchFamily="34" charset="-120"/>
              </a:rPr>
              <a:t>Implementation</a:t>
            </a:r>
            <a:endParaRPr lang="en-US" sz="1500" dirty="0"/>
          </a:p>
        </p:txBody>
      </p:sp>
      <p:sp>
        <p:nvSpPr>
          <p:cNvPr id="13" name="Text 10"/>
          <p:cNvSpPr txBox="1"/>
          <p:nvPr/>
        </p:nvSpPr>
        <p:spPr>
          <a:xfrm>
            <a:off x="457200" y="3968496"/>
            <a:ext cx="4809744" cy="2048256"/>
          </a:xfrm>
          <a:prstGeom prst="rect">
            <a:avLst/>
          </a:prstGeom>
          <a:noFill/>
          <a:ln/>
        </p:spPr>
        <p:txBody>
          <a:bodyPr wrap="square" lIns="0" tIns="0" rIns="0" bIns="0" rtlCol="0" anchor="ctr"/>
          <a:lstStyle/>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Build RF simulator</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with configurable bands and 5 emitter behaviours.</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Model receiver</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with bandwidth K, dwell time and tuning delay.</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Implement baseline</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using deterministic round-robin scanning.</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Develop ML scheduler</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using a contextual multi-armed bandit.</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Add periodicity estimator</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to predict next-active windows.</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Train on hits and misses</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through a Detection → Reward → Learning loop on every step.</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Replay the Turing synthetic radar dataset</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 the dataset named in the problem statement.</a:t>
            </a:r>
            <a:endParaRPr lang="en-US" sz="1150" dirty="0"/>
          </a:p>
          <a:p>
            <a:pPr indent="0" marL="0">
              <a:lnSpc>
                <a:spcPct val="98000"/>
              </a:lnSpc>
              <a:buNone/>
            </a:pPr>
            <a:r>
              <a:rPr lang="en-US" sz="1150" b="1" dirty="0">
                <a:solidFill>
                  <a:srgbClr val="0E9F4F"/>
                </a:solidFill>
                <a:latin typeface="Times New Roman" pitchFamily="34" charset="0"/>
                <a:ea typeface="Times New Roman" pitchFamily="34" charset="-122"/>
                <a:cs typeface="Times New Roman" pitchFamily="34" charset="-120"/>
              </a:rPr>
              <a:t>Compare Baseline vs ML</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on the figures of merit the problem statement names.</a:t>
            </a:r>
            <a:endParaRPr lang="en-US" sz="1150" dirty="0"/>
          </a:p>
        </p:txBody>
      </p:sp>
      <p:sp>
        <p:nvSpPr>
          <p:cNvPr id="14" name="Text 11"/>
          <p:cNvSpPr txBox="1"/>
          <p:nvPr/>
        </p:nvSpPr>
        <p:spPr>
          <a:xfrm>
            <a:off x="457200" y="6053328"/>
            <a:ext cx="4809744" cy="274320"/>
          </a:xfrm>
          <a:prstGeom prst="rect">
            <a:avLst/>
          </a:prstGeom>
          <a:noFill/>
          <a:ln/>
        </p:spPr>
        <p:txBody>
          <a:bodyPr wrap="square" lIns="0" tIns="0" rIns="0" bIns="0" rtlCol="0" anchor="ctr"/>
          <a:lstStyle/>
          <a:p>
            <a:pPr indent="0" marL="0">
              <a:buNone/>
            </a:pPr>
            <a:r>
              <a:rPr lang="en-US" sz="1150" b="1" dirty="0">
                <a:solidFill>
                  <a:srgbClr val="1F6FC4"/>
                </a:solidFill>
                <a:latin typeface="Calibri" pitchFamily="34" charset="0"/>
                <a:ea typeface="Calibri" pitchFamily="34" charset="-122"/>
                <a:cs typeface="Calibri" pitchFamily="34" charset="-120"/>
              </a:rPr>
              <a:t>Verified:  </a:t>
            </a:r>
            <a:pPr indent="0" marL="0">
              <a:buNone/>
            </a:pPr>
            <a:r>
              <a:rPr lang="en-US" sz="1150" dirty="0">
                <a:solidFill>
                  <a:srgbClr val="000000"/>
                </a:solidFill>
                <a:latin typeface="Times New Roman" pitchFamily="34" charset="0"/>
                <a:ea typeface="Times New Roman" pitchFamily="34" charset="-122"/>
                <a:cs typeface="Times New Roman" pitchFamily="34" charset="-120"/>
              </a:rPr>
              <a:t>167 + 77 tests  ·  87% / 96% coverage  ·  decision p95 6.6 ms</a:t>
            </a:r>
            <a:endParaRPr lang="en-US" sz="1150" dirty="0"/>
          </a:p>
        </p:txBody>
      </p:sp>
      <p:pic>
        <p:nvPicPr>
          <p:cNvPr id="15" name="Image 1" descr="C:/Users/THISPC~1/AppData/Local/Temp/claude/C--Users-This-PC-Documents-claude-sih--claude-worktrees-sih-peptide-ppt-research-21209d/3b950e93-fcc8-4276-90eb-a3428a4a1885/scratchpad/assets/p3_x52.png">    </p:cNvPr>
          <p:cNvPicPr>
            <a:picLocks noChangeAspect="1"/>
          </p:cNvPicPr>
          <p:nvPr/>
        </p:nvPicPr>
        <p:blipFill>
          <a:blip r:embed="rId2"/>
          <a:stretch>
            <a:fillRect/>
          </a:stretch>
        </p:blipFill>
        <p:spPr>
          <a:xfrm>
            <a:off x="5788152" y="1060704"/>
            <a:ext cx="5989320" cy="3346704"/>
          </a:xfrm>
          <a:prstGeom prst="rect">
            <a:avLst/>
          </a:prstGeom>
        </p:spPr>
      </p:pic>
      <p:pic>
        <p:nvPicPr>
          <p:cNvPr id="16" name="Image 2" descr="C:/Users/THISPC~1/AppData/Local/Temp/claude/C--Users-This-PC-Documents-claude-sih--claude-worktrees-sih-peptide-ppt-research-21209d/3b950e93-fcc8-4276-90eb-a3428a4a1885/scratchpad/assets/p3_x51.png">    </p:cNvPr>
          <p:cNvPicPr>
            <a:picLocks noChangeAspect="1"/>
          </p:cNvPicPr>
          <p:nvPr/>
        </p:nvPicPr>
        <p:blipFill>
          <a:blip r:embed="rId3"/>
          <a:stretch>
            <a:fillRect/>
          </a:stretch>
        </p:blipFill>
        <p:spPr>
          <a:xfrm>
            <a:off x="6565392" y="4498848"/>
            <a:ext cx="4434840" cy="18836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THISPC~1/AppData/Local/Temp/claude/C--Users-This-PC-Documents-claude-sih--claude-worktrees-sih-peptide-ppt-research-21209d/3b950e93-fcc8-4276-90eb-a3428a4a1885/scratchpad/assets/logo2026.png">    </p:cNvPr>
          <p:cNvPicPr>
            <a:picLocks noChangeAspect="1"/>
          </p:cNvPicPr>
          <p:nvPr/>
        </p:nvPicPr>
        <p:blipFill>
          <a:blip r:embed="rId1"/>
          <a:stretch>
            <a:fillRect/>
          </a:stretch>
        </p:blipFill>
        <p:spPr>
          <a:xfrm>
            <a:off x="9875520" y="91440"/>
            <a:ext cx="2103120" cy="993038"/>
          </a:xfrm>
          <a:prstGeom prst="rect">
            <a:avLst/>
          </a:prstGeom>
        </p:spPr>
      </p:pic>
      <p:sp>
        <p:nvSpPr>
          <p:cNvPr id="3" name="Shape 0"/>
          <p:cNvSpPr/>
          <p:nvPr/>
        </p:nvSpPr>
        <p:spPr>
          <a:xfrm>
            <a:off x="292608" y="146304"/>
            <a:ext cx="1316736" cy="548640"/>
          </a:xfrm>
          <a:prstGeom prst="ellipse">
            <a:avLst/>
          </a:prstGeom>
          <a:solidFill>
            <a:srgbClr val="FFFFFF"/>
          </a:solidFill>
          <a:ln w="19050">
            <a:solidFill>
              <a:srgbClr val="7B60A8"/>
            </a:solidFill>
            <a:prstDash val="solid"/>
          </a:ln>
        </p:spPr>
      </p:sp>
      <p:sp>
        <p:nvSpPr>
          <p:cNvPr id="4" name="Text 1"/>
          <p:cNvSpPr txBox="1"/>
          <p:nvPr/>
        </p:nvSpPr>
        <p:spPr>
          <a:xfrm>
            <a:off x="292608" y="146304"/>
            <a:ext cx="1316736" cy="548640"/>
          </a:xfrm>
          <a:prstGeom prst="rect">
            <a:avLst/>
          </a:prstGeom>
          <a:noFill/>
          <a:ln/>
        </p:spPr>
        <p:txBody>
          <a:bodyPr wrap="square" lIns="0" tIns="0" rIns="0" bIns="0" rtlCol="0" anchor="ctr"/>
          <a:lstStyle/>
          <a:p>
            <a:pPr algn="ctr" indent="0" marL="0">
              <a:buNone/>
            </a:pPr>
            <a:r>
              <a:rPr lang="en-US" sz="1250" b="1" dirty="0">
                <a:solidFill>
                  <a:srgbClr val="000000"/>
                </a:solidFill>
                <a:latin typeface="Calibri" pitchFamily="34" charset="0"/>
                <a:ea typeface="Calibri" pitchFamily="34" charset="-122"/>
                <a:cs typeface="Calibri" pitchFamily="34" charset="-120"/>
              </a:rPr>
              <a:t>PUSHPAK</a:t>
            </a:r>
            <a:endParaRPr lang="en-US" sz="1250" dirty="0"/>
          </a:p>
        </p:txBody>
      </p:sp>
      <p:sp>
        <p:nvSpPr>
          <p:cNvPr id="5" name="Shape 2"/>
          <p:cNvSpPr/>
          <p:nvPr/>
        </p:nvSpPr>
        <p:spPr>
          <a:xfrm>
            <a:off x="0" y="6528816"/>
            <a:ext cx="12191695" cy="329184"/>
          </a:xfrm>
          <a:prstGeom prst="rect">
            <a:avLst/>
          </a:prstGeom>
          <a:solidFill>
            <a:srgbClr val="1568BF"/>
          </a:solidFill>
          <a:ln w="12700">
            <a:solidFill>
              <a:srgbClr val="1568BF"/>
            </a:solidFill>
            <a:prstDash val="solid"/>
          </a:ln>
        </p:spPr>
      </p:sp>
      <p:sp>
        <p:nvSpPr>
          <p:cNvPr id="6" name="Text 3"/>
          <p:cNvSpPr txBox="1"/>
          <p:nvPr/>
        </p:nvSpPr>
        <p:spPr>
          <a:xfrm>
            <a:off x="11368735" y="6547104"/>
            <a:ext cx="502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 name="Text 4"/>
          <p:cNvSpPr txBox="1"/>
          <p:nvPr/>
        </p:nvSpPr>
        <p:spPr>
          <a:xfrm>
            <a:off x="1691640" y="164592"/>
            <a:ext cx="8092440" cy="676656"/>
          </a:xfrm>
          <a:prstGeom prst="rect">
            <a:avLst/>
          </a:prstGeom>
          <a:noFill/>
          <a:ln/>
        </p:spPr>
        <p:txBody>
          <a:bodyPr wrap="square" lIns="0" tIns="0" rIns="0" bIns="0" rtlCol="0" anchor="ctr"/>
          <a:lstStyle/>
          <a:p>
            <a:pPr algn="ctr" indent="0" marL="0">
              <a:buNone/>
            </a:pPr>
            <a:r>
              <a:rPr lang="en-US" sz="3400" b="1" dirty="0">
                <a:solidFill>
                  <a:srgbClr val="000000"/>
                </a:solidFill>
                <a:latin typeface="Times New Roman" pitchFamily="34" charset="0"/>
                <a:ea typeface="Times New Roman" pitchFamily="34" charset="-122"/>
                <a:cs typeface="Times New Roman" pitchFamily="34" charset="-120"/>
              </a:rPr>
              <a:t>FEASIBILITY AND VIABILITY</a:t>
            </a:r>
            <a:endParaRPr lang="en-US" sz="3400" dirty="0"/>
          </a:p>
        </p:txBody>
      </p:sp>
      <p:sp>
        <p:nvSpPr>
          <p:cNvPr id="8" name="Shape 5"/>
          <p:cNvSpPr/>
          <p:nvPr/>
        </p:nvSpPr>
        <p:spPr>
          <a:xfrm>
            <a:off x="274320" y="1042416"/>
            <a:ext cx="5175504" cy="5394960"/>
          </a:xfrm>
          <a:prstGeom prst="roundRect">
            <a:avLst>
              <a:gd name="adj" fmla="val 883"/>
            </a:avLst>
          </a:prstGeom>
          <a:solidFill>
            <a:srgbClr val="FFFFFF"/>
          </a:solidFill>
          <a:ln w="28575">
            <a:solidFill>
              <a:srgbClr val="E2711D"/>
            </a:solidFill>
            <a:prstDash val="solid"/>
          </a:ln>
        </p:spPr>
      </p:sp>
      <p:sp>
        <p:nvSpPr>
          <p:cNvPr id="9" name="Text 6"/>
          <p:cNvSpPr txBox="1"/>
          <p:nvPr/>
        </p:nvSpPr>
        <p:spPr>
          <a:xfrm>
            <a:off x="457200" y="1170432"/>
            <a:ext cx="4809744" cy="256032"/>
          </a:xfrm>
          <a:prstGeom prst="rect">
            <a:avLst/>
          </a:prstGeom>
          <a:noFill/>
          <a:ln/>
        </p:spPr>
        <p:txBody>
          <a:bodyPr wrap="square" lIns="0" tIns="0" rIns="0" bIns="0" rtlCol="0" anchor="ctr"/>
          <a:lstStyle/>
          <a:p>
            <a:pPr indent="0" marL="0">
              <a:buNone/>
            </a:pPr>
            <a:r>
              <a:rPr lang="en-US" sz="1400" b="1" dirty="0">
                <a:solidFill>
                  <a:srgbClr val="0E9F4F"/>
                </a:solidFill>
                <a:latin typeface="Calibri" pitchFamily="34" charset="0"/>
                <a:ea typeface="Calibri" pitchFamily="34" charset="-122"/>
                <a:cs typeface="Calibri" pitchFamily="34" charset="-120"/>
              </a:rPr>
              <a:t>Feasibility Analysis</a:t>
            </a:r>
            <a:endParaRPr lang="en-US" sz="1400" dirty="0"/>
          </a:p>
        </p:txBody>
      </p:sp>
      <p:sp>
        <p:nvSpPr>
          <p:cNvPr id="10" name="Text 7"/>
          <p:cNvSpPr txBox="1"/>
          <p:nvPr/>
        </p:nvSpPr>
        <p:spPr>
          <a:xfrm>
            <a:off x="457200" y="1444752"/>
            <a:ext cx="4809744" cy="1481328"/>
          </a:xfrm>
          <a:prstGeom prst="rect">
            <a:avLst/>
          </a:prstGeom>
          <a:noFill/>
          <a:ln/>
        </p:spPr>
        <p:txBody>
          <a:bodyPr wrap="square" lIns="0" tIns="0" rIns="0" bIns="0" rtlCol="0" anchor="ctr"/>
          <a:lstStyle/>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Simulation-first: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no physical RF hardware; the system runs in a synthetic environment.</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Already running: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four services, one command each, Dockerised, on H2 or Postgres.</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Verified: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167 scheduler tests and 77 estimator tests, at 87% and 96% coverage.</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Reproducible: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fixed seeds give every policy an identical spectrum.</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Lightweight ML: </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the bandit needs no pre-training; DQN and PPO sit behind a flag.</a:t>
            </a:r>
            <a:endParaRPr lang="en-US" sz="1150" dirty="0"/>
          </a:p>
        </p:txBody>
      </p:sp>
      <p:sp>
        <p:nvSpPr>
          <p:cNvPr id="11" name="Shape 8"/>
          <p:cNvSpPr/>
          <p:nvPr/>
        </p:nvSpPr>
        <p:spPr>
          <a:xfrm>
            <a:off x="457200" y="2980944"/>
            <a:ext cx="4809744" cy="0"/>
          </a:xfrm>
          <a:prstGeom prst="line">
            <a:avLst/>
          </a:prstGeom>
          <a:noFill/>
          <a:ln w="15875">
            <a:solidFill>
              <a:srgbClr val="2E75B6"/>
            </a:solidFill>
            <a:prstDash val="dash"/>
          </a:ln>
        </p:spPr>
      </p:sp>
      <p:sp>
        <p:nvSpPr>
          <p:cNvPr id="12" name="Text 9"/>
          <p:cNvSpPr txBox="1"/>
          <p:nvPr/>
        </p:nvSpPr>
        <p:spPr>
          <a:xfrm>
            <a:off x="457200" y="3054096"/>
            <a:ext cx="4809744" cy="256032"/>
          </a:xfrm>
          <a:prstGeom prst="rect">
            <a:avLst/>
          </a:prstGeom>
          <a:noFill/>
          <a:ln/>
        </p:spPr>
        <p:txBody>
          <a:bodyPr wrap="square" lIns="0" tIns="0" rIns="0" bIns="0" rtlCol="0" anchor="ctr"/>
          <a:lstStyle/>
          <a:p>
            <a:pPr indent="0" marL="0">
              <a:buNone/>
            </a:pPr>
            <a:r>
              <a:rPr lang="en-US" sz="1400" b="1" dirty="0">
                <a:solidFill>
                  <a:srgbClr val="0E9F4F"/>
                </a:solidFill>
                <a:latin typeface="Calibri" pitchFamily="34" charset="0"/>
                <a:ea typeface="Calibri" pitchFamily="34" charset="-122"/>
                <a:cs typeface="Calibri" pitchFamily="34" charset="-120"/>
              </a:rPr>
              <a:t>Potential Challenges and Risks</a:t>
            </a:r>
            <a:endParaRPr lang="en-US" sz="1400" dirty="0"/>
          </a:p>
        </p:txBody>
      </p:sp>
      <p:sp>
        <p:nvSpPr>
          <p:cNvPr id="13" name="Text 10"/>
          <p:cNvSpPr txBox="1"/>
          <p:nvPr/>
        </p:nvSpPr>
        <p:spPr>
          <a:xfrm>
            <a:off x="457200" y="3328416"/>
            <a:ext cx="4809744" cy="1188720"/>
          </a:xfrm>
          <a:prstGeom prst="rect">
            <a:avLst/>
          </a:prstGeom>
          <a:noFill/>
          <a:ln/>
        </p:spPr>
        <p:txBody>
          <a:bodyPr wrap="square" lIns="0" tIns="0" rIns="0" bIns="0" rtlCol="0" anchor="ctr"/>
          <a:lstStyle/>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ML does not win every metric</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 at the default weight it catches fewer distinct bursts than the sweep, 0.174 against 0.413.</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Raw average intercept time</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ranks the better policy worse, because it averages only the bursts caught.</a:t>
            </a:r>
            <a:endParaRPr lang="en-US" sz="1150" dirty="0"/>
          </a:p>
          <a:p>
            <a:pPr indent="0" marL="0">
              <a:lnSpc>
                <a:spcPct val="98000"/>
              </a:lnSpc>
              <a:buNone/>
            </a:pPr>
            <a:r>
              <a:rPr lang="en-US" sz="1150" dirty="0">
                <a:solidFill>
                  <a:srgbClr val="E2711D"/>
                </a:solidFill>
                <a:latin typeface="Times New Roman" pitchFamily="34" charset="0"/>
                <a:ea typeface="Times New Roman" pitchFamily="34" charset="-122"/>
                <a:cs typeface="Times New Roman" pitchFamily="34" charset="-120"/>
              </a:rPr>
              <a:t>Periodicity does not yet help end to end</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 it is never told when a band was heard and found silent.</a:t>
            </a:r>
            <a:endParaRPr lang="en-US" sz="1150" dirty="0"/>
          </a:p>
        </p:txBody>
      </p:sp>
      <p:sp>
        <p:nvSpPr>
          <p:cNvPr id="14" name="Shape 11"/>
          <p:cNvSpPr/>
          <p:nvPr/>
        </p:nvSpPr>
        <p:spPr>
          <a:xfrm>
            <a:off x="457200" y="4572000"/>
            <a:ext cx="4809744" cy="0"/>
          </a:xfrm>
          <a:prstGeom prst="line">
            <a:avLst/>
          </a:prstGeom>
          <a:noFill/>
          <a:ln w="15875">
            <a:solidFill>
              <a:srgbClr val="2E75B6"/>
            </a:solidFill>
            <a:prstDash val="dash"/>
          </a:ln>
        </p:spPr>
      </p:sp>
      <p:sp>
        <p:nvSpPr>
          <p:cNvPr id="15" name="Text 12"/>
          <p:cNvSpPr txBox="1"/>
          <p:nvPr/>
        </p:nvSpPr>
        <p:spPr>
          <a:xfrm>
            <a:off x="457200" y="4645152"/>
            <a:ext cx="4809744" cy="256032"/>
          </a:xfrm>
          <a:prstGeom prst="rect">
            <a:avLst/>
          </a:prstGeom>
          <a:noFill/>
          <a:ln/>
        </p:spPr>
        <p:txBody>
          <a:bodyPr wrap="square" lIns="0" tIns="0" rIns="0" bIns="0" rtlCol="0" anchor="ctr"/>
          <a:lstStyle/>
          <a:p>
            <a:pPr indent="0" marL="0">
              <a:buNone/>
            </a:pPr>
            <a:r>
              <a:rPr lang="en-US" sz="1400" b="1" dirty="0">
                <a:solidFill>
                  <a:srgbClr val="0E9F4F"/>
                </a:solidFill>
                <a:latin typeface="Calibri" pitchFamily="34" charset="0"/>
                <a:ea typeface="Calibri" pitchFamily="34" charset="-122"/>
                <a:cs typeface="Calibri" pitchFamily="34" charset="-120"/>
              </a:rPr>
              <a:t>Strategies to Overcome Challenges</a:t>
            </a:r>
            <a:endParaRPr lang="en-US" sz="1400" dirty="0"/>
          </a:p>
        </p:txBody>
      </p:sp>
      <p:sp>
        <p:nvSpPr>
          <p:cNvPr id="16" name="Text 13"/>
          <p:cNvSpPr txBox="1"/>
          <p:nvPr/>
        </p:nvSpPr>
        <p:spPr>
          <a:xfrm>
            <a:off x="457200" y="4919472"/>
            <a:ext cx="4809744" cy="1426464"/>
          </a:xfrm>
          <a:prstGeom prst="rect">
            <a:avLst/>
          </a:prstGeom>
          <a:noFill/>
          <a:ln/>
        </p:spPr>
        <p:txBody>
          <a:bodyPr wrap="square" lIns="0" tIns="0" rIns="0" bIns="0" rtlCol="0" anchor="ctr"/>
          <a:lstStyle/>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One reward weight slides along it. At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w5 = 20, burst coverage reaches 0.423 and censored intercept time 577, beating the sweep's 588</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 the mission picks the operating point.</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Report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censored intercept time</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beside the raw figure, charging undetected bursts the full episode.</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Named fix: carry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scanned-but-empty observations</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in the contract. The test stays in the suite, disabled with the reason.</a:t>
            </a:r>
            <a:endParaRPr lang="en-US" sz="1150" dirty="0"/>
          </a:p>
        </p:txBody>
      </p:sp>
      <p:pic>
        <p:nvPicPr>
          <p:cNvPr id="17" name="Image 1" descr="C:/Users/THISPC~1/AppData/Local/Temp/claude/C--Users-This-PC-Documents-claude-sih--claude-worktrees-sih-peptide-ppt-research-21209d/3b950e93-fcc8-4276-90eb-a3428a4a1885/scratchpad/assets/p4_x67.png">    </p:cNvPr>
          <p:cNvPicPr>
            <a:picLocks noChangeAspect="1"/>
          </p:cNvPicPr>
          <p:nvPr/>
        </p:nvPicPr>
        <p:blipFill>
          <a:blip r:embed="rId2"/>
          <a:stretch>
            <a:fillRect/>
          </a:stretch>
        </p:blipFill>
        <p:spPr>
          <a:xfrm>
            <a:off x="5879592" y="1060704"/>
            <a:ext cx="5806440" cy="3172968"/>
          </a:xfrm>
          <a:prstGeom prst="rect">
            <a:avLst/>
          </a:prstGeom>
        </p:spPr>
      </p:pic>
      <p:pic>
        <p:nvPicPr>
          <p:cNvPr id="18" name="Image 2" descr="C:/Users/THISPC~1/AppData/Local/Temp/claude/C--Users-This-PC-Documents-claude-sih--claude-worktrees-sih-peptide-ppt-research-21209d/3b950e93-fcc8-4276-90eb-a3428a4a1885/scratchpad/assets/p4_x377.png">    </p:cNvPr>
          <p:cNvPicPr>
            <a:picLocks noChangeAspect="1"/>
          </p:cNvPicPr>
          <p:nvPr/>
        </p:nvPicPr>
        <p:blipFill>
          <a:blip r:embed="rId3"/>
          <a:stretch>
            <a:fillRect/>
          </a:stretch>
        </p:blipFill>
        <p:spPr>
          <a:xfrm>
            <a:off x="5879592" y="4370832"/>
            <a:ext cx="5806440" cy="2011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THISPC~1/AppData/Local/Temp/claude/C--Users-This-PC-Documents-claude-sih--claude-worktrees-sih-peptide-ppt-research-21209d/3b950e93-fcc8-4276-90eb-a3428a4a1885/scratchpad/assets/logo2026.png">    </p:cNvPr>
          <p:cNvPicPr>
            <a:picLocks noChangeAspect="1"/>
          </p:cNvPicPr>
          <p:nvPr/>
        </p:nvPicPr>
        <p:blipFill>
          <a:blip r:embed="rId1"/>
          <a:stretch>
            <a:fillRect/>
          </a:stretch>
        </p:blipFill>
        <p:spPr>
          <a:xfrm>
            <a:off x="9875520" y="91440"/>
            <a:ext cx="2103120" cy="993038"/>
          </a:xfrm>
          <a:prstGeom prst="rect">
            <a:avLst/>
          </a:prstGeom>
        </p:spPr>
      </p:pic>
      <p:sp>
        <p:nvSpPr>
          <p:cNvPr id="3" name="Shape 0"/>
          <p:cNvSpPr/>
          <p:nvPr/>
        </p:nvSpPr>
        <p:spPr>
          <a:xfrm>
            <a:off x="292608" y="146304"/>
            <a:ext cx="1316736" cy="548640"/>
          </a:xfrm>
          <a:prstGeom prst="ellipse">
            <a:avLst/>
          </a:prstGeom>
          <a:solidFill>
            <a:srgbClr val="FFFFFF"/>
          </a:solidFill>
          <a:ln w="19050">
            <a:solidFill>
              <a:srgbClr val="7B60A8"/>
            </a:solidFill>
            <a:prstDash val="solid"/>
          </a:ln>
        </p:spPr>
      </p:sp>
      <p:sp>
        <p:nvSpPr>
          <p:cNvPr id="4" name="Text 1"/>
          <p:cNvSpPr txBox="1"/>
          <p:nvPr/>
        </p:nvSpPr>
        <p:spPr>
          <a:xfrm>
            <a:off x="292608" y="146304"/>
            <a:ext cx="1316736" cy="548640"/>
          </a:xfrm>
          <a:prstGeom prst="rect">
            <a:avLst/>
          </a:prstGeom>
          <a:noFill/>
          <a:ln/>
        </p:spPr>
        <p:txBody>
          <a:bodyPr wrap="square" lIns="0" tIns="0" rIns="0" bIns="0" rtlCol="0" anchor="ctr"/>
          <a:lstStyle/>
          <a:p>
            <a:pPr algn="ctr" indent="0" marL="0">
              <a:buNone/>
            </a:pPr>
            <a:r>
              <a:rPr lang="en-US" sz="1250" b="1" dirty="0">
                <a:solidFill>
                  <a:srgbClr val="000000"/>
                </a:solidFill>
                <a:latin typeface="Calibri" pitchFamily="34" charset="0"/>
                <a:ea typeface="Calibri" pitchFamily="34" charset="-122"/>
                <a:cs typeface="Calibri" pitchFamily="34" charset="-120"/>
              </a:rPr>
              <a:t>PUSHPAK</a:t>
            </a:r>
            <a:endParaRPr lang="en-US" sz="1250" dirty="0"/>
          </a:p>
        </p:txBody>
      </p:sp>
      <p:sp>
        <p:nvSpPr>
          <p:cNvPr id="5" name="Shape 2"/>
          <p:cNvSpPr/>
          <p:nvPr/>
        </p:nvSpPr>
        <p:spPr>
          <a:xfrm>
            <a:off x="0" y="6528816"/>
            <a:ext cx="12191695" cy="329184"/>
          </a:xfrm>
          <a:prstGeom prst="rect">
            <a:avLst/>
          </a:prstGeom>
          <a:solidFill>
            <a:srgbClr val="1568BF"/>
          </a:solidFill>
          <a:ln w="12700">
            <a:solidFill>
              <a:srgbClr val="1568BF"/>
            </a:solidFill>
            <a:prstDash val="solid"/>
          </a:ln>
        </p:spPr>
      </p:sp>
      <p:sp>
        <p:nvSpPr>
          <p:cNvPr id="6" name="Text 3"/>
          <p:cNvSpPr txBox="1"/>
          <p:nvPr/>
        </p:nvSpPr>
        <p:spPr>
          <a:xfrm>
            <a:off x="11368735" y="6547104"/>
            <a:ext cx="502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 name="Text 4"/>
          <p:cNvSpPr txBox="1"/>
          <p:nvPr/>
        </p:nvSpPr>
        <p:spPr>
          <a:xfrm>
            <a:off x="1691640" y="164592"/>
            <a:ext cx="8092440" cy="676656"/>
          </a:xfrm>
          <a:prstGeom prst="rect">
            <a:avLst/>
          </a:prstGeom>
          <a:noFill/>
          <a:ln/>
        </p:spPr>
        <p:txBody>
          <a:bodyPr wrap="square" lIns="0" tIns="0" rIns="0" bIns="0" rtlCol="0" anchor="ctr"/>
          <a:lstStyle/>
          <a:p>
            <a:pPr algn="ctr" indent="0" marL="0">
              <a:buNone/>
            </a:pPr>
            <a:r>
              <a:rPr lang="en-US" sz="3400" b="1" dirty="0">
                <a:solidFill>
                  <a:srgbClr val="000000"/>
                </a:solidFill>
                <a:latin typeface="Times New Roman" pitchFamily="34" charset="0"/>
                <a:ea typeface="Times New Roman" pitchFamily="34" charset="-122"/>
                <a:cs typeface="Times New Roman" pitchFamily="34" charset="-120"/>
              </a:rPr>
              <a:t>IMPACT AND BENEFITS</a:t>
            </a:r>
            <a:endParaRPr lang="en-US" sz="3400" dirty="0"/>
          </a:p>
        </p:txBody>
      </p:sp>
      <p:sp>
        <p:nvSpPr>
          <p:cNvPr id="8" name="Shape 5"/>
          <p:cNvSpPr/>
          <p:nvPr/>
        </p:nvSpPr>
        <p:spPr>
          <a:xfrm>
            <a:off x="274320" y="1042416"/>
            <a:ext cx="5175504" cy="5394960"/>
          </a:xfrm>
          <a:prstGeom prst="roundRect">
            <a:avLst>
              <a:gd name="adj" fmla="val 883"/>
            </a:avLst>
          </a:prstGeom>
          <a:solidFill>
            <a:srgbClr val="FFFFFF"/>
          </a:solidFill>
          <a:ln w="28575">
            <a:solidFill>
              <a:srgbClr val="E2711D"/>
            </a:solidFill>
            <a:prstDash val="solid"/>
          </a:ln>
        </p:spPr>
      </p:sp>
      <p:sp>
        <p:nvSpPr>
          <p:cNvPr id="9" name="Text 6"/>
          <p:cNvSpPr txBox="1"/>
          <p:nvPr/>
        </p:nvSpPr>
        <p:spPr>
          <a:xfrm>
            <a:off x="457200" y="1170432"/>
            <a:ext cx="4809744" cy="256032"/>
          </a:xfrm>
          <a:prstGeom prst="rect">
            <a:avLst/>
          </a:prstGeom>
          <a:noFill/>
          <a:ln/>
        </p:spPr>
        <p:txBody>
          <a:bodyPr wrap="square" lIns="0" tIns="0" rIns="0" bIns="0" rtlCol="0" anchor="ctr"/>
          <a:lstStyle/>
          <a:p>
            <a:pPr indent="0" marL="0">
              <a:buNone/>
            </a:pPr>
            <a:r>
              <a:rPr lang="en-US" sz="1500" b="1" dirty="0">
                <a:solidFill>
                  <a:srgbClr val="E2711D"/>
                </a:solidFill>
                <a:latin typeface="Calibri" pitchFamily="34" charset="0"/>
                <a:ea typeface="Calibri" pitchFamily="34" charset="-122"/>
                <a:cs typeface="Calibri" pitchFamily="34" charset="-120"/>
              </a:rPr>
              <a:t>For Spectrum Monitoring:</a:t>
            </a:r>
            <a:endParaRPr lang="en-US" sz="1500" dirty="0"/>
          </a:p>
        </p:txBody>
      </p:sp>
      <p:sp>
        <p:nvSpPr>
          <p:cNvPr id="10" name="Text 7"/>
          <p:cNvSpPr txBox="1"/>
          <p:nvPr/>
        </p:nvSpPr>
        <p:spPr>
          <a:xfrm>
            <a:off x="457200" y="1444752"/>
            <a:ext cx="4809744" cy="841248"/>
          </a:xfrm>
          <a:prstGeom prst="rect">
            <a:avLst/>
          </a:prstGeom>
          <a:noFill/>
          <a:ln/>
        </p:spPr>
        <p:txBody>
          <a:bodyPr wrap="square" lIns="0" tIns="0" rIns="0" bIns="0" rtlCol="0" anchor="ctr"/>
          <a:lstStyle/>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Listening efficiency rises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0.198 → 0.573</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 over half of dwell now lands on live air instead of one fifth.</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Smarter allocation for a receiver that hears only 2 of 16 bands at any instant.</a:t>
            </a:r>
            <a:endParaRPr lang="en-US" sz="1150" dirty="0"/>
          </a:p>
        </p:txBody>
      </p:sp>
      <p:sp>
        <p:nvSpPr>
          <p:cNvPr id="11" name="Shape 8"/>
          <p:cNvSpPr/>
          <p:nvPr/>
        </p:nvSpPr>
        <p:spPr>
          <a:xfrm>
            <a:off x="457200" y="2340864"/>
            <a:ext cx="4809744" cy="0"/>
          </a:xfrm>
          <a:prstGeom prst="line">
            <a:avLst/>
          </a:prstGeom>
          <a:noFill/>
          <a:ln w="15875">
            <a:solidFill>
              <a:srgbClr val="2E75B6"/>
            </a:solidFill>
            <a:prstDash val="dash"/>
          </a:ln>
        </p:spPr>
      </p:sp>
      <p:sp>
        <p:nvSpPr>
          <p:cNvPr id="12" name="Text 9"/>
          <p:cNvSpPr txBox="1"/>
          <p:nvPr/>
        </p:nvSpPr>
        <p:spPr>
          <a:xfrm>
            <a:off x="457200" y="2414016"/>
            <a:ext cx="4809744" cy="256032"/>
          </a:xfrm>
          <a:prstGeom prst="rect">
            <a:avLst/>
          </a:prstGeom>
          <a:noFill/>
          <a:ln/>
        </p:spPr>
        <p:txBody>
          <a:bodyPr wrap="square" lIns="0" tIns="0" rIns="0" bIns="0" rtlCol="0" anchor="ctr"/>
          <a:lstStyle/>
          <a:p>
            <a:pPr indent="0" marL="0">
              <a:buNone/>
            </a:pPr>
            <a:r>
              <a:rPr lang="en-US" sz="1500" b="1" dirty="0">
                <a:solidFill>
                  <a:srgbClr val="E2711D"/>
                </a:solidFill>
                <a:latin typeface="Calibri" pitchFamily="34" charset="0"/>
                <a:ea typeface="Calibri" pitchFamily="34" charset="-122"/>
                <a:cs typeface="Calibri" pitchFamily="34" charset="-120"/>
              </a:rPr>
              <a:t>For Detection Performance:</a:t>
            </a:r>
            <a:endParaRPr lang="en-US" sz="1500" dirty="0"/>
          </a:p>
        </p:txBody>
      </p:sp>
      <p:sp>
        <p:nvSpPr>
          <p:cNvPr id="13" name="Text 10"/>
          <p:cNvSpPr txBox="1"/>
          <p:nvPr/>
        </p:nvSpPr>
        <p:spPr>
          <a:xfrm>
            <a:off x="457200" y="2688336"/>
            <a:ext cx="4809744" cy="1188720"/>
          </a:xfrm>
          <a:prstGeom prst="rect">
            <a:avLst/>
          </a:prstGeom>
          <a:noFill/>
          <a:ln/>
        </p:spPr>
        <p:txBody>
          <a:bodyPr wrap="square" lIns="0" tIns="0" rIns="0" bIns="0" rtlCol="0" anchor="ctr"/>
          <a:lstStyle/>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Probability of detection rises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0.107 → 0.345</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a 3.2× gain on identical spectra.</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High-priority detection rises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0.101 → 0.375</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a 3.7× gain.</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Average intercept time falls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2.34 → 0.59 steps</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on the bursts we catch.</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False alarms are </a:t>
            </a:r>
            <a:pPr indent="0" marL="0">
              <a:lnSpc>
                <a:spcPct val="98000"/>
              </a:lnSpc>
              <a:buNone/>
            </a:pPr>
            <a:r>
              <a:rPr lang="en-US" sz="1150" b="1" dirty="0">
                <a:solidFill>
                  <a:srgbClr val="E2711D"/>
                </a:solidFill>
                <a:latin typeface="Times New Roman" pitchFamily="34" charset="0"/>
                <a:ea typeface="Times New Roman" pitchFamily="34" charset="-122"/>
                <a:cs typeface="Times New Roman" pitchFamily="34" charset="-120"/>
              </a:rPr>
              <a:t>unchanged at 0.070</a:t>
            </a:r>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 against 0.068 — the gain is not bought with false alarms.</a:t>
            </a:r>
            <a:endParaRPr lang="en-US" sz="1150" dirty="0"/>
          </a:p>
        </p:txBody>
      </p:sp>
      <p:sp>
        <p:nvSpPr>
          <p:cNvPr id="14" name="Shape 11"/>
          <p:cNvSpPr/>
          <p:nvPr/>
        </p:nvSpPr>
        <p:spPr>
          <a:xfrm>
            <a:off x="457200" y="3931920"/>
            <a:ext cx="4809744" cy="0"/>
          </a:xfrm>
          <a:prstGeom prst="line">
            <a:avLst/>
          </a:prstGeom>
          <a:noFill/>
          <a:ln w="15875">
            <a:solidFill>
              <a:srgbClr val="2E75B6"/>
            </a:solidFill>
            <a:prstDash val="dash"/>
          </a:ln>
        </p:spPr>
      </p:sp>
      <p:sp>
        <p:nvSpPr>
          <p:cNvPr id="15" name="Text 12"/>
          <p:cNvSpPr txBox="1"/>
          <p:nvPr/>
        </p:nvSpPr>
        <p:spPr>
          <a:xfrm>
            <a:off x="457200" y="4005072"/>
            <a:ext cx="4809744" cy="256032"/>
          </a:xfrm>
          <a:prstGeom prst="rect">
            <a:avLst/>
          </a:prstGeom>
          <a:noFill/>
          <a:ln/>
        </p:spPr>
        <p:txBody>
          <a:bodyPr wrap="square" lIns="0" tIns="0" rIns="0" bIns="0" rtlCol="0" anchor="ctr"/>
          <a:lstStyle/>
          <a:p>
            <a:pPr indent="0" marL="0">
              <a:buNone/>
            </a:pPr>
            <a:r>
              <a:rPr lang="en-US" sz="1500" b="1" dirty="0">
                <a:solidFill>
                  <a:srgbClr val="E2711D"/>
                </a:solidFill>
                <a:latin typeface="Calibri" pitchFamily="34" charset="0"/>
                <a:ea typeface="Calibri" pitchFamily="34" charset="-122"/>
                <a:cs typeface="Calibri" pitchFamily="34" charset="-120"/>
              </a:rPr>
              <a:t>For Research &amp; Evaluation:</a:t>
            </a:r>
            <a:endParaRPr lang="en-US" sz="1500" dirty="0"/>
          </a:p>
        </p:txBody>
      </p:sp>
      <p:sp>
        <p:nvSpPr>
          <p:cNvPr id="16" name="Text 13"/>
          <p:cNvSpPr txBox="1"/>
          <p:nvPr/>
        </p:nvSpPr>
        <p:spPr>
          <a:xfrm>
            <a:off x="457200" y="4279392"/>
            <a:ext cx="4809744" cy="841248"/>
          </a:xfrm>
          <a:prstGeom prst="rect">
            <a:avLst/>
          </a:prstGeom>
          <a:noFill/>
          <a:ln/>
        </p:spPr>
        <p:txBody>
          <a:bodyPr wrap="square" lIns="0" tIns="0" rIns="0" bIns="0" rtlCol="0" anchor="ctr"/>
          <a:lstStyle/>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Objective Baseline versus ML comparison across 7 scenarios with fixed seeds.</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One script reproduces every number on this slide from a clean checkout.</a:t>
            </a:r>
            <a:endParaRPr lang="en-US" sz="1150" dirty="0"/>
          </a:p>
        </p:txBody>
      </p:sp>
      <p:sp>
        <p:nvSpPr>
          <p:cNvPr id="17" name="Shape 14"/>
          <p:cNvSpPr/>
          <p:nvPr/>
        </p:nvSpPr>
        <p:spPr>
          <a:xfrm>
            <a:off x="457200" y="5175504"/>
            <a:ext cx="4809744" cy="0"/>
          </a:xfrm>
          <a:prstGeom prst="line">
            <a:avLst/>
          </a:prstGeom>
          <a:noFill/>
          <a:ln w="15875">
            <a:solidFill>
              <a:srgbClr val="2E75B6"/>
            </a:solidFill>
            <a:prstDash val="dash"/>
          </a:ln>
        </p:spPr>
      </p:sp>
      <p:sp>
        <p:nvSpPr>
          <p:cNvPr id="18" name="Text 15"/>
          <p:cNvSpPr txBox="1"/>
          <p:nvPr/>
        </p:nvSpPr>
        <p:spPr>
          <a:xfrm>
            <a:off x="457200" y="5248656"/>
            <a:ext cx="4809744" cy="256032"/>
          </a:xfrm>
          <a:prstGeom prst="rect">
            <a:avLst/>
          </a:prstGeom>
          <a:noFill/>
          <a:ln/>
        </p:spPr>
        <p:txBody>
          <a:bodyPr wrap="square" lIns="0" tIns="0" rIns="0" bIns="0" rtlCol="0" anchor="ctr"/>
          <a:lstStyle/>
          <a:p>
            <a:pPr indent="0" marL="0">
              <a:buNone/>
            </a:pPr>
            <a:r>
              <a:rPr lang="en-US" sz="1500" b="1" dirty="0">
                <a:solidFill>
                  <a:srgbClr val="E2711D"/>
                </a:solidFill>
                <a:latin typeface="Calibri" pitchFamily="34" charset="0"/>
                <a:ea typeface="Calibri" pitchFamily="34" charset="-122"/>
                <a:cs typeface="Calibri" pitchFamily="34" charset="-120"/>
              </a:rPr>
              <a:t>For Future Development:</a:t>
            </a:r>
            <a:endParaRPr lang="en-US" sz="1500" dirty="0"/>
          </a:p>
        </p:txBody>
      </p:sp>
      <p:sp>
        <p:nvSpPr>
          <p:cNvPr id="19" name="Text 16"/>
          <p:cNvSpPr txBox="1"/>
          <p:nvPr/>
        </p:nvSpPr>
        <p:spPr>
          <a:xfrm>
            <a:off x="457200" y="5522976"/>
            <a:ext cx="4809744" cy="841248"/>
          </a:xfrm>
          <a:prstGeom prst="rect">
            <a:avLst/>
          </a:prstGeom>
          <a:noFill/>
          <a:ln/>
        </p:spPr>
        <p:txBody>
          <a:bodyPr wrap="square" lIns="0" tIns="0" rIns="0" bIns="0" rtlCol="0" anchor="ctr"/>
          <a:lstStyle/>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Modular architecture supports new emitter models and receiver constraints.</a:t>
            </a:r>
            <a:endParaRPr lang="en-US" sz="1150" dirty="0"/>
          </a:p>
          <a:p>
            <a:pPr indent="0" marL="0">
              <a:lnSpc>
                <a:spcPct val="98000"/>
              </a:lnSpc>
              <a:buNone/>
            </a:pPr>
            <a:r>
              <a:rPr lang="en-US" sz="1150" dirty="0">
                <a:solidFill>
                  <a:srgbClr val="000000"/>
                </a:solidFill>
                <a:latin typeface="Times New Roman" pitchFamily="34" charset="0"/>
                <a:ea typeface="Times New Roman" pitchFamily="34" charset="-122"/>
                <a:cs typeface="Times New Roman" pitchFamily="34" charset="-120"/>
              </a:rPr>
              <a:t>Q-Learning, DQN and PPO are already built and verified behind a flag.</a:t>
            </a:r>
            <a:endParaRPr lang="en-US" sz="1150" dirty="0"/>
          </a:p>
        </p:txBody>
      </p:sp>
      <p:sp>
        <p:nvSpPr>
          <p:cNvPr id="20" name="Shape 17"/>
          <p:cNvSpPr/>
          <p:nvPr/>
        </p:nvSpPr>
        <p:spPr>
          <a:xfrm>
            <a:off x="5650992" y="1042416"/>
            <a:ext cx="6263640" cy="2798064"/>
          </a:xfrm>
          <a:prstGeom prst="roundRect">
            <a:avLst>
              <a:gd name="adj" fmla="val 1634"/>
            </a:avLst>
          </a:prstGeom>
          <a:solidFill>
            <a:srgbClr val="FFFFFF"/>
          </a:solidFill>
          <a:ln w="28575">
            <a:solidFill>
              <a:srgbClr val="1F6FC4"/>
            </a:solidFill>
            <a:prstDash val="solid"/>
          </a:ln>
        </p:spPr>
      </p:sp>
      <p:sp>
        <p:nvSpPr>
          <p:cNvPr id="21" name="Text 18"/>
          <p:cNvSpPr txBox="1"/>
          <p:nvPr/>
        </p:nvSpPr>
        <p:spPr>
          <a:xfrm>
            <a:off x="5650992" y="1115568"/>
            <a:ext cx="6263640" cy="237744"/>
          </a:xfrm>
          <a:prstGeom prst="rect">
            <a:avLst/>
          </a:prstGeom>
          <a:noFill/>
          <a:ln/>
        </p:spPr>
        <p:txBody>
          <a:bodyPr wrap="square" lIns="0" tIns="0" rIns="0" bIns="0" rtlCol="0" anchor="ctr"/>
          <a:lstStyle/>
          <a:p>
            <a:pPr algn="ctr" indent="0" marL="0">
              <a:buNone/>
            </a:pPr>
            <a:r>
              <a:rPr lang="en-US" sz="1250" b="1" dirty="0">
                <a:solidFill>
                  <a:srgbClr val="1F6FC4"/>
                </a:solidFill>
                <a:latin typeface="Calibri" pitchFamily="34" charset="0"/>
                <a:ea typeface="Calibri" pitchFamily="34" charset="-122"/>
                <a:cs typeface="Calibri" pitchFamily="34" charset="-120"/>
              </a:rPr>
              <a:t>ROUND-ROBIN SWEEP  vs  AI ADAPTIVE SCANNING   (%)</a:t>
            </a:r>
            <a:endParaRPr lang="en-US" sz="1250" dirty="0"/>
          </a:p>
        </p:txBody>
      </p:sp>
      <p:graphicFrame>
        <p:nvGraphicFramePr>
          <p:cNvPr id="22" name="Chart 0" descr=""/>
          <p:cNvGraphicFramePr/>
          <p:nvPr/>
        </p:nvGraphicFramePr>
        <p:xfrm>
          <a:off x="5742432" y="1335024"/>
          <a:ext cx="6080760" cy="2414016"/>
        </p:xfrm>
        <a:graphic xmlns:a="http://schemas.openxmlformats.org/drawingml/2006/main">
          <a:graphicData uri="http://schemas.openxmlformats.org/drawingml/2006/chart">
            <c:chart xmlns:c="http://schemas.openxmlformats.org/drawingml/2006/chart" r:id="rId2"/>
          </a:graphicData>
        </a:graphic>
      </p:graphicFrame>
      <p:sp>
        <p:nvSpPr>
          <p:cNvPr id="23" name="Shape 19"/>
          <p:cNvSpPr/>
          <p:nvPr/>
        </p:nvSpPr>
        <p:spPr>
          <a:xfrm>
            <a:off x="5650992" y="3986784"/>
            <a:ext cx="6263640" cy="2450592"/>
          </a:xfrm>
          <a:prstGeom prst="roundRect">
            <a:avLst>
              <a:gd name="adj" fmla="val 1866"/>
            </a:avLst>
          </a:prstGeom>
          <a:solidFill>
            <a:srgbClr val="FFFFFF"/>
          </a:solidFill>
          <a:ln w="28575">
            <a:solidFill>
              <a:srgbClr val="E2711D"/>
            </a:solidFill>
            <a:prstDash val="solid"/>
          </a:ln>
        </p:spPr>
      </p:sp>
      <p:sp>
        <p:nvSpPr>
          <p:cNvPr id="24" name="Text 20"/>
          <p:cNvSpPr txBox="1"/>
          <p:nvPr/>
        </p:nvSpPr>
        <p:spPr>
          <a:xfrm>
            <a:off x="5650992" y="4069080"/>
            <a:ext cx="6263640" cy="237744"/>
          </a:xfrm>
          <a:prstGeom prst="rect">
            <a:avLst/>
          </a:prstGeom>
          <a:noFill/>
          <a:ln/>
        </p:spPr>
        <p:txBody>
          <a:bodyPr wrap="square" lIns="0" tIns="0" rIns="0" bIns="0" rtlCol="0" anchor="ctr"/>
          <a:lstStyle/>
          <a:p>
            <a:pPr algn="ctr" indent="0" marL="0">
              <a:buNone/>
            </a:pPr>
            <a:r>
              <a:rPr lang="en-US" sz="1200" b="1" dirty="0">
                <a:solidFill>
                  <a:srgbClr val="E2711D"/>
                </a:solidFill>
                <a:latin typeface="Calibri" pitchFamily="34" charset="0"/>
                <a:ea typeface="Calibri" pitchFamily="34" charset="-122"/>
                <a:cs typeface="Calibri" pitchFamily="34" charset="-120"/>
              </a:rPr>
              <a:t>FIGURES OF MERIT — SCENARIO B, 5 SEEDS, 1000 STEPS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52160" y="4352544"/>
          <a:ext cx="5861304" cy="914400"/>
        </p:xfrm>
        <a:graphic>
          <a:graphicData uri="http://schemas.openxmlformats.org/drawingml/2006/table">
            <a:tbl>
              <a:tblPr/>
              <a:tblGrid>
                <a:gridCol w="2606040"/>
                <a:gridCol w="960120"/>
                <a:gridCol w="1188720"/>
                <a:gridCol w="1106424"/>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Figure of merit</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Random</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Round-robin</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Ours</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r>
              <a:tr h="205740">
                <a:tc>
                  <a:txBody>
                    <a:bodyP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Probability of detection (Pd)</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0.104</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0.107</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E2711D"/>
                          </a:solidFill>
                          <a:latin typeface="Calibri" pitchFamily="34" charset="0"/>
                          <a:ea typeface="Calibri" pitchFamily="34" charset="-122"/>
                          <a:cs typeface="Calibri" pitchFamily="34" charset="-120"/>
                        </a:rPr>
                        <a:t>0.345</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Probability of false alarm (Pfa)</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0.069</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0.068</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0.070</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High-priority detection</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0.109</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0.101</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E2711D"/>
                          </a:solidFill>
                          <a:latin typeface="Calibri" pitchFamily="34" charset="0"/>
                          <a:ea typeface="Calibri" pitchFamily="34" charset="-122"/>
                          <a:cs typeface="Calibri" pitchFamily="34" charset="-120"/>
                        </a:rPr>
                        <a:t>0.375</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Scan efficiency</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0.190</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0.198</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E2711D"/>
                          </a:solidFill>
                          <a:latin typeface="Calibri" pitchFamily="34" charset="0"/>
                          <a:ea typeface="Calibri" pitchFamily="34" charset="-122"/>
                          <a:cs typeface="Calibri" pitchFamily="34" charset="-120"/>
                        </a:rPr>
                        <a:t>0.573</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Avg intercept time, caught ↓</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2.46</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2.34</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E2711D"/>
                          </a:solidFill>
                          <a:latin typeface="Calibri" pitchFamily="34" charset="0"/>
                          <a:ea typeface="Calibri" pitchFamily="34" charset="-122"/>
                          <a:cs typeface="Calibri" pitchFamily="34" charset="-120"/>
                        </a:rPr>
                        <a:t>0.59</a:t>
                      </a:r>
                      <a:endParaRPr lang="en-US" sz="1000" dirty="0">
                        <a:latin typeface="Calibri" charset="0"/>
                        <a:ea typeface="Calibri" charset="0"/>
                        <a:cs typeface="Calibri"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Avg intercept time, censored ↓</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660.7</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0E9F4F"/>
                          </a:solidFill>
                          <a:latin typeface="Times New Roman" pitchFamily="34" charset="0"/>
                          <a:ea typeface="Times New Roman" pitchFamily="34" charset="-122"/>
                          <a:cs typeface="Times New Roman" pitchFamily="34" charset="-120"/>
                        </a:rPr>
                        <a:t>587.8</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826.1</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Distinct bursts caught</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0.340</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0E9F4F"/>
                          </a:solidFill>
                          <a:latin typeface="Times New Roman" pitchFamily="34" charset="0"/>
                          <a:ea typeface="Times New Roman" pitchFamily="34" charset="-122"/>
                          <a:cs typeface="Times New Roman" pitchFamily="34" charset="-120"/>
                        </a:rPr>
                        <a:t>0.413</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0.174</a:t>
                      </a:r>
                      <a:endParaRPr lang="en-US" sz="1000" dirty="0">
                        <a:latin typeface="Times New Roman" charset="0"/>
                        <a:ea typeface="Times New Roman" charset="0"/>
                        <a:cs typeface="Times New Roman" charset="0"/>
                      </a:endParaRPr>
                    </a:p>
                  </a:txBody>
                  <a:tcPr marL="63500" marR="635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26" name="Text 21"/>
          <p:cNvSpPr txBox="1"/>
          <p:nvPr/>
        </p:nvSpPr>
        <p:spPr>
          <a:xfrm>
            <a:off x="5852160" y="6053328"/>
            <a:ext cx="5861304" cy="329184"/>
          </a:xfrm>
          <a:prstGeom prst="rect">
            <a:avLst/>
          </a:prstGeom>
          <a:noFill/>
          <a:ln/>
        </p:spPr>
        <p:txBody>
          <a:bodyPr wrap="square" lIns="0" tIns="0" rIns="0" bIns="0" rtlCol="0" anchor="ctr"/>
          <a:lstStyle/>
          <a:p>
            <a:pPr algn="ctr" indent="0" marL="0">
              <a:buNone/>
            </a:pPr>
            <a:r>
              <a:rPr lang="en-US" sz="1000" i="1" dirty="0">
                <a:solidFill>
                  <a:srgbClr val="808080"/>
                </a:solidFill>
                <a:latin typeface="Times New Roman" pitchFamily="34" charset="0"/>
                <a:ea typeface="Times New Roman" pitchFamily="34" charset="-122"/>
                <a:cs typeface="Times New Roman" pitchFamily="34" charset="-120"/>
              </a:rPr>
              <a:t>↓ lower is better.  Green marks the two rows the sweep still wins at our default reward weight — we report them rather than dropping them.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THISPC~1/AppData/Local/Temp/claude/C--Users-This-PC-Documents-claude-sih--claude-worktrees-sih-peptide-ppt-research-21209d/3b950e93-fcc8-4276-90eb-a3428a4a1885/scratchpad/assets/logo2026.png">    </p:cNvPr>
          <p:cNvPicPr>
            <a:picLocks noChangeAspect="1"/>
          </p:cNvPicPr>
          <p:nvPr/>
        </p:nvPicPr>
        <p:blipFill>
          <a:blip r:embed="rId1"/>
          <a:stretch>
            <a:fillRect/>
          </a:stretch>
        </p:blipFill>
        <p:spPr>
          <a:xfrm>
            <a:off x="9875520" y="91440"/>
            <a:ext cx="2103120" cy="993038"/>
          </a:xfrm>
          <a:prstGeom prst="rect">
            <a:avLst/>
          </a:prstGeom>
        </p:spPr>
      </p:pic>
      <p:sp>
        <p:nvSpPr>
          <p:cNvPr id="3" name="Shape 0"/>
          <p:cNvSpPr/>
          <p:nvPr/>
        </p:nvSpPr>
        <p:spPr>
          <a:xfrm>
            <a:off x="292608" y="146304"/>
            <a:ext cx="1316736" cy="548640"/>
          </a:xfrm>
          <a:prstGeom prst="ellipse">
            <a:avLst/>
          </a:prstGeom>
          <a:solidFill>
            <a:srgbClr val="FFFFFF"/>
          </a:solidFill>
          <a:ln w="19050">
            <a:solidFill>
              <a:srgbClr val="7B60A8"/>
            </a:solidFill>
            <a:prstDash val="solid"/>
          </a:ln>
        </p:spPr>
      </p:sp>
      <p:sp>
        <p:nvSpPr>
          <p:cNvPr id="4" name="Text 1"/>
          <p:cNvSpPr txBox="1"/>
          <p:nvPr/>
        </p:nvSpPr>
        <p:spPr>
          <a:xfrm>
            <a:off x="292608" y="146304"/>
            <a:ext cx="1316736" cy="548640"/>
          </a:xfrm>
          <a:prstGeom prst="rect">
            <a:avLst/>
          </a:prstGeom>
          <a:noFill/>
          <a:ln/>
        </p:spPr>
        <p:txBody>
          <a:bodyPr wrap="square" lIns="0" tIns="0" rIns="0" bIns="0" rtlCol="0" anchor="ctr"/>
          <a:lstStyle/>
          <a:p>
            <a:pPr algn="ctr" indent="0" marL="0">
              <a:buNone/>
            </a:pPr>
            <a:r>
              <a:rPr lang="en-US" sz="1250" b="1" dirty="0">
                <a:solidFill>
                  <a:srgbClr val="000000"/>
                </a:solidFill>
                <a:latin typeface="Calibri" pitchFamily="34" charset="0"/>
                <a:ea typeface="Calibri" pitchFamily="34" charset="-122"/>
                <a:cs typeface="Calibri" pitchFamily="34" charset="-120"/>
              </a:rPr>
              <a:t>PUSHPAK</a:t>
            </a:r>
            <a:endParaRPr lang="en-US" sz="1250" dirty="0"/>
          </a:p>
        </p:txBody>
      </p:sp>
      <p:sp>
        <p:nvSpPr>
          <p:cNvPr id="5" name="Shape 2"/>
          <p:cNvSpPr/>
          <p:nvPr/>
        </p:nvSpPr>
        <p:spPr>
          <a:xfrm>
            <a:off x="0" y="6528816"/>
            <a:ext cx="12191695" cy="329184"/>
          </a:xfrm>
          <a:prstGeom prst="rect">
            <a:avLst/>
          </a:prstGeom>
          <a:solidFill>
            <a:srgbClr val="1568BF"/>
          </a:solidFill>
          <a:ln w="12700">
            <a:solidFill>
              <a:srgbClr val="1568BF"/>
            </a:solidFill>
            <a:prstDash val="solid"/>
          </a:ln>
        </p:spPr>
      </p:sp>
      <p:sp>
        <p:nvSpPr>
          <p:cNvPr id="6" name="Text 3"/>
          <p:cNvSpPr txBox="1"/>
          <p:nvPr/>
        </p:nvSpPr>
        <p:spPr>
          <a:xfrm>
            <a:off x="11368735" y="6547104"/>
            <a:ext cx="502920" cy="29260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7" name="Text 4"/>
          <p:cNvSpPr txBox="1"/>
          <p:nvPr/>
        </p:nvSpPr>
        <p:spPr>
          <a:xfrm>
            <a:off x="1691640" y="164592"/>
            <a:ext cx="8092440" cy="676656"/>
          </a:xfrm>
          <a:prstGeom prst="rect">
            <a:avLst/>
          </a:prstGeom>
          <a:noFill/>
          <a:ln/>
        </p:spPr>
        <p:txBody>
          <a:bodyPr wrap="square" lIns="0" tIns="0" rIns="0" bIns="0" rtlCol="0" anchor="ctr"/>
          <a:lstStyle/>
          <a:p>
            <a:pPr algn="ctr" indent="0" marL="0">
              <a:buNone/>
            </a:pPr>
            <a:r>
              <a:rPr lang="en-US" sz="3400" b="1" dirty="0">
                <a:solidFill>
                  <a:srgbClr val="000000"/>
                </a:solidFill>
                <a:latin typeface="Times New Roman" pitchFamily="34" charset="0"/>
                <a:ea typeface="Times New Roman" pitchFamily="34" charset="-122"/>
                <a:cs typeface="Times New Roman" pitchFamily="34" charset="-120"/>
              </a:rPr>
              <a:t>RESEARCH AND REFERENCES</a:t>
            </a:r>
            <a:endParaRPr lang="en-US" sz="3400" dirty="0"/>
          </a:p>
        </p:txBody>
      </p:sp>
      <p:sp>
        <p:nvSpPr>
          <p:cNvPr id="8" name="Shape 5"/>
          <p:cNvSpPr/>
          <p:nvPr/>
        </p:nvSpPr>
        <p:spPr>
          <a:xfrm>
            <a:off x="274320" y="1042416"/>
            <a:ext cx="5175504" cy="5394960"/>
          </a:xfrm>
          <a:prstGeom prst="roundRect">
            <a:avLst>
              <a:gd name="adj" fmla="val 883"/>
            </a:avLst>
          </a:prstGeom>
          <a:solidFill>
            <a:srgbClr val="FFFFFF"/>
          </a:solidFill>
          <a:ln w="28575">
            <a:solidFill>
              <a:srgbClr val="1F6FC4"/>
            </a:solidFill>
            <a:prstDash val="solid"/>
          </a:ln>
        </p:spPr>
      </p:sp>
      <p:sp>
        <p:nvSpPr>
          <p:cNvPr id="9" name="Text 6"/>
          <p:cNvSpPr txBox="1"/>
          <p:nvPr/>
        </p:nvSpPr>
        <p:spPr>
          <a:xfrm>
            <a:off x="457200" y="1170432"/>
            <a:ext cx="4809744" cy="256032"/>
          </a:xfrm>
          <a:prstGeom prst="rect">
            <a:avLst/>
          </a:prstGeom>
          <a:noFill/>
          <a:ln/>
        </p:spPr>
        <p:txBody>
          <a:bodyPr wrap="square" lIns="0" tIns="0" rIns="0" bIns="0" rtlCol="0" anchor="ctr"/>
          <a:lstStyle/>
          <a:p>
            <a:pPr indent="0" marL="0">
              <a:buNone/>
            </a:pPr>
            <a:r>
              <a:rPr lang="en-US" sz="1450" b="1" dirty="0">
                <a:solidFill>
                  <a:srgbClr val="E2711D"/>
                </a:solidFill>
                <a:latin typeface="Calibri" pitchFamily="34" charset="0"/>
                <a:ea typeface="Calibri" pitchFamily="34" charset="-122"/>
                <a:cs typeface="Calibri" pitchFamily="34" charset="-120"/>
              </a:rPr>
              <a:t>Research Papers</a:t>
            </a:r>
            <a:endParaRPr lang="en-US" sz="1450" dirty="0"/>
          </a:p>
        </p:txBody>
      </p:sp>
      <p:sp>
        <p:nvSpPr>
          <p:cNvPr id="10" name="Text 7"/>
          <p:cNvSpPr txBox="1"/>
          <p:nvPr/>
        </p:nvSpPr>
        <p:spPr>
          <a:xfrm>
            <a:off x="457200" y="1444752"/>
            <a:ext cx="4809744" cy="1389888"/>
          </a:xfrm>
          <a:prstGeom prst="rect">
            <a:avLst/>
          </a:prstGeom>
          <a:noFill/>
          <a:ln/>
        </p:spPr>
        <p:txBody>
          <a:bodyPr wrap="square" lIns="0" tIns="0" rIns="0" bIns="0" rtlCol="0" anchor="ctr"/>
          <a:lstStyle/>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1. Gunn et al. — The Turing Synthetic Radar Dataset </a:t>
            </a:r>
            <a:pPr indent="0" marL="0">
              <a:lnSpc>
                <a:spcPct val="98000"/>
              </a:lnSpc>
              <a:buNone/>
            </a:pPr>
            <a:r>
              <a:rPr lang="en-US" sz="1100" dirty="0">
                <a:solidFill>
                  <a:srgbClr val="E2711D"/>
                </a:solidFill>
                <a:latin typeface="Times New Roman" pitchFamily="34" charset="0"/>
                <a:ea typeface="Times New Roman" pitchFamily="34" charset="-122"/>
                <a:cs typeface="Times New Roman" pitchFamily="34" charset="-120"/>
              </a:rPr>
              <a:t>(the dataset named in the problem statement)</a:t>
            </a:r>
            <a:endParaRPr lang="en-US" sz="1100" dirty="0"/>
          </a:p>
          <a:p>
            <a:pPr indent="0" marL="0">
              <a:lnSpc>
                <a:spcPct val="98000"/>
              </a:lnSpc>
              <a:buNone/>
            </a:pPr>
            <a:r>
              <a:rPr lang="en-US" sz="1100" dirty="0">
                <a:solidFill>
                  <a:srgbClr val="1F6FC4"/>
                </a:solidFill>
                <a:latin typeface="Times New Roman" pitchFamily="34" charset="0"/>
                <a:ea typeface="Times New Roman" pitchFamily="34" charset="-122"/>
                <a:cs typeface="Times New Roman" pitchFamily="34" charset="-120"/>
              </a:rPr>
              <a:t>    turing.ac.uk/news/publications/turing-synthetic-radar-dataset</a:t>
            </a:r>
            <a:endParaRPr lang="en-US" sz="1100" dirty="0"/>
          </a:p>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2. Hashmi et al. — Artificial Intelligence Meets Radar Resource Management</a:t>
            </a:r>
            <a:endParaRPr lang="en-US" sz="1100" dirty="0"/>
          </a:p>
          <a:p>
            <a:pPr indent="0" marL="0">
              <a:lnSpc>
                <a:spcPct val="98000"/>
              </a:lnSpc>
              <a:buNone/>
            </a:pPr>
            <a:r>
              <a:rPr lang="en-US" sz="1100" dirty="0">
                <a:solidFill>
                  <a:srgbClr val="1F6FC4"/>
                </a:solidFill>
                <a:latin typeface="Times New Roman" pitchFamily="34" charset="0"/>
                <a:ea typeface="Times New Roman" pitchFamily="34" charset="-122"/>
                <a:cs typeface="Times New Roman" pitchFamily="34" charset="-120"/>
              </a:rPr>
              <a:t>    doi.org/10.1049/rsn2.12337</a:t>
            </a:r>
            <a:endParaRPr lang="en-US" sz="1100" dirty="0"/>
          </a:p>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3. Lu et al. — Constrained Deep Reinforcement Learning for Cognitive Radar Resource Management</a:t>
            </a:r>
            <a:endParaRPr lang="en-US" sz="1100" dirty="0"/>
          </a:p>
        </p:txBody>
      </p:sp>
      <p:sp>
        <p:nvSpPr>
          <p:cNvPr id="11" name="Shape 8"/>
          <p:cNvSpPr/>
          <p:nvPr/>
        </p:nvSpPr>
        <p:spPr>
          <a:xfrm>
            <a:off x="457200" y="2889504"/>
            <a:ext cx="4809744" cy="0"/>
          </a:xfrm>
          <a:prstGeom prst="line">
            <a:avLst/>
          </a:prstGeom>
          <a:noFill/>
          <a:ln w="15875">
            <a:solidFill>
              <a:srgbClr val="2E75B6"/>
            </a:solidFill>
            <a:prstDash val="dash"/>
          </a:ln>
        </p:spPr>
      </p:sp>
      <p:sp>
        <p:nvSpPr>
          <p:cNvPr id="12" name="Text 9"/>
          <p:cNvSpPr txBox="1"/>
          <p:nvPr/>
        </p:nvSpPr>
        <p:spPr>
          <a:xfrm>
            <a:off x="457200" y="2962656"/>
            <a:ext cx="4809744" cy="256032"/>
          </a:xfrm>
          <a:prstGeom prst="rect">
            <a:avLst/>
          </a:prstGeom>
          <a:noFill/>
          <a:ln/>
        </p:spPr>
        <p:txBody>
          <a:bodyPr wrap="square" lIns="0" tIns="0" rIns="0" bIns="0" rtlCol="0" anchor="ctr"/>
          <a:lstStyle/>
          <a:p>
            <a:pPr indent="0" marL="0">
              <a:buNone/>
            </a:pPr>
            <a:r>
              <a:rPr lang="en-US" sz="1450" b="1" dirty="0">
                <a:solidFill>
                  <a:srgbClr val="E2711D"/>
                </a:solidFill>
                <a:latin typeface="Calibri" pitchFamily="34" charset="0"/>
                <a:ea typeface="Calibri" pitchFamily="34" charset="-122"/>
                <a:cs typeface="Calibri" pitchFamily="34" charset="-120"/>
              </a:rPr>
              <a:t>Prior Art</a:t>
            </a:r>
            <a:endParaRPr lang="en-US" sz="1450" dirty="0"/>
          </a:p>
        </p:txBody>
      </p:sp>
      <p:sp>
        <p:nvSpPr>
          <p:cNvPr id="13" name="Text 10"/>
          <p:cNvSpPr txBox="1"/>
          <p:nvPr/>
        </p:nvSpPr>
        <p:spPr>
          <a:xfrm>
            <a:off x="457200" y="3236976"/>
            <a:ext cx="4809744" cy="603504"/>
          </a:xfrm>
          <a:prstGeom prst="rect">
            <a:avLst/>
          </a:prstGeom>
          <a:noFill/>
          <a:ln/>
        </p:spPr>
        <p:txBody>
          <a:bodyPr wrap="square" lIns="0" tIns="0" rIns="0" bIns="0" rtlCol="0" anchor="ctr"/>
          <a:lstStyle/>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US 10,523,342 B1 — Autonomous reinforcement learning method of receiver scan schedule control. BAE Systems.</a:t>
            </a:r>
            <a:endParaRPr lang="en-US" sz="1100" dirty="0"/>
          </a:p>
        </p:txBody>
      </p:sp>
      <p:sp>
        <p:nvSpPr>
          <p:cNvPr id="14" name="Shape 11"/>
          <p:cNvSpPr/>
          <p:nvPr/>
        </p:nvSpPr>
        <p:spPr>
          <a:xfrm>
            <a:off x="457200" y="3895344"/>
            <a:ext cx="4809744" cy="0"/>
          </a:xfrm>
          <a:prstGeom prst="line">
            <a:avLst/>
          </a:prstGeom>
          <a:noFill/>
          <a:ln w="15875">
            <a:solidFill>
              <a:srgbClr val="2E75B6"/>
            </a:solidFill>
            <a:prstDash val="dash"/>
          </a:ln>
        </p:spPr>
      </p:sp>
      <p:sp>
        <p:nvSpPr>
          <p:cNvPr id="15" name="Text 12"/>
          <p:cNvSpPr txBox="1"/>
          <p:nvPr/>
        </p:nvSpPr>
        <p:spPr>
          <a:xfrm>
            <a:off x="457200" y="3968496"/>
            <a:ext cx="4809744" cy="256032"/>
          </a:xfrm>
          <a:prstGeom prst="rect">
            <a:avLst/>
          </a:prstGeom>
          <a:noFill/>
          <a:ln/>
        </p:spPr>
        <p:txBody>
          <a:bodyPr wrap="square" lIns="0" tIns="0" rIns="0" bIns="0" rtlCol="0" anchor="ctr"/>
          <a:lstStyle/>
          <a:p>
            <a:pPr indent="0" marL="0">
              <a:buNone/>
            </a:pPr>
            <a:r>
              <a:rPr lang="en-US" sz="1450" b="1" dirty="0">
                <a:solidFill>
                  <a:srgbClr val="E2711D"/>
                </a:solidFill>
                <a:latin typeface="Calibri" pitchFamily="34" charset="0"/>
                <a:ea typeface="Calibri" pitchFamily="34" charset="-122"/>
                <a:cs typeface="Calibri" pitchFamily="34" charset="-120"/>
              </a:rPr>
              <a:t>Method</a:t>
            </a:r>
            <a:endParaRPr lang="en-US" sz="1450" dirty="0"/>
          </a:p>
        </p:txBody>
      </p:sp>
      <p:sp>
        <p:nvSpPr>
          <p:cNvPr id="16" name="Text 13"/>
          <p:cNvSpPr txBox="1"/>
          <p:nvPr/>
        </p:nvSpPr>
        <p:spPr>
          <a:xfrm>
            <a:off x="457200" y="4242816"/>
            <a:ext cx="4809744" cy="1188720"/>
          </a:xfrm>
          <a:prstGeom prst="rect">
            <a:avLst/>
          </a:prstGeom>
          <a:noFill/>
          <a:ln/>
        </p:spPr>
        <p:txBody>
          <a:bodyPr wrap="square" lIns="0" tIns="0" rIns="0" bIns="0" rtlCol="0" anchor="ctr"/>
          <a:lstStyle/>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1. Sutton and Barto — Reinforcement Learning: An Introduction, 2nd ed. MIT Press, 2018.</a:t>
            </a:r>
            <a:endParaRPr lang="en-US" sz="1100" dirty="0"/>
          </a:p>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2. Auer, Cesa-Bianchi and Fischer — Finite-time analysis of the multiarmed bandit problem. Machine Learning 47, 2002.</a:t>
            </a:r>
            <a:endParaRPr lang="en-US" sz="1100" dirty="0"/>
          </a:p>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3. Mardia and Jupp — Directional Statistics. Wiley, 2000 (Rayleigh test).</a:t>
            </a:r>
            <a:endParaRPr lang="en-US" sz="1100" dirty="0"/>
          </a:p>
        </p:txBody>
      </p:sp>
      <p:sp>
        <p:nvSpPr>
          <p:cNvPr id="17" name="Shape 14"/>
          <p:cNvSpPr/>
          <p:nvPr/>
        </p:nvSpPr>
        <p:spPr>
          <a:xfrm>
            <a:off x="457200" y="5486400"/>
            <a:ext cx="4809744" cy="0"/>
          </a:xfrm>
          <a:prstGeom prst="line">
            <a:avLst/>
          </a:prstGeom>
          <a:noFill/>
          <a:ln w="15875">
            <a:solidFill>
              <a:srgbClr val="2E75B6"/>
            </a:solidFill>
            <a:prstDash val="dash"/>
          </a:ln>
        </p:spPr>
      </p:sp>
      <p:sp>
        <p:nvSpPr>
          <p:cNvPr id="18" name="Text 15"/>
          <p:cNvSpPr txBox="1"/>
          <p:nvPr/>
        </p:nvSpPr>
        <p:spPr>
          <a:xfrm>
            <a:off x="457200" y="5559552"/>
            <a:ext cx="4809744" cy="256032"/>
          </a:xfrm>
          <a:prstGeom prst="rect">
            <a:avLst/>
          </a:prstGeom>
          <a:noFill/>
          <a:ln/>
        </p:spPr>
        <p:txBody>
          <a:bodyPr wrap="square" lIns="0" tIns="0" rIns="0" bIns="0" rtlCol="0" anchor="ctr"/>
          <a:lstStyle/>
          <a:p>
            <a:pPr indent="0" marL="0">
              <a:buNone/>
            </a:pPr>
            <a:r>
              <a:rPr lang="en-US" sz="1450" b="1" dirty="0">
                <a:solidFill>
                  <a:srgbClr val="E2711D"/>
                </a:solidFill>
                <a:latin typeface="Calibri" pitchFamily="34" charset="0"/>
                <a:ea typeface="Calibri" pitchFamily="34" charset="-122"/>
                <a:cs typeface="Calibri" pitchFamily="34" charset="-120"/>
              </a:rPr>
              <a:t>Books</a:t>
            </a:r>
            <a:endParaRPr lang="en-US" sz="1450" dirty="0"/>
          </a:p>
        </p:txBody>
      </p:sp>
      <p:sp>
        <p:nvSpPr>
          <p:cNvPr id="19" name="Text 16"/>
          <p:cNvSpPr txBox="1"/>
          <p:nvPr/>
        </p:nvSpPr>
        <p:spPr>
          <a:xfrm>
            <a:off x="457200" y="5833872"/>
            <a:ext cx="4809744" cy="566928"/>
          </a:xfrm>
          <a:prstGeom prst="rect">
            <a:avLst/>
          </a:prstGeom>
          <a:noFill/>
          <a:ln/>
        </p:spPr>
        <p:txBody>
          <a:bodyPr wrap="square" lIns="0" tIns="0" rIns="0" bIns="0" rtlCol="0" anchor="ctr"/>
          <a:lstStyle/>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1. Paul Hannen — Radar and Electronic Warfare Principles for the Non-Specialist.</a:t>
            </a:r>
            <a:endParaRPr lang="en-US" sz="1100" dirty="0"/>
          </a:p>
          <a:p>
            <a:pPr indent="0" marL="0">
              <a:lnSpc>
                <a:spcPct val="98000"/>
              </a:lnSpc>
              <a:buNone/>
            </a:pPr>
            <a:r>
              <a:rPr lang="en-US" sz="1100" dirty="0">
                <a:solidFill>
                  <a:srgbClr val="000000"/>
                </a:solidFill>
                <a:latin typeface="Times New Roman" pitchFamily="34" charset="0"/>
                <a:ea typeface="Times New Roman" pitchFamily="34" charset="-122"/>
                <a:cs typeface="Times New Roman" pitchFamily="34" charset="-120"/>
              </a:rPr>
              <a:t>2. Merrill I. Skolnik — Radar Handbook, 3rd edition.</a:t>
            </a:r>
            <a:endParaRPr lang="en-US" sz="1100" dirty="0"/>
          </a:p>
        </p:txBody>
      </p:sp>
      <p:pic>
        <p:nvPicPr>
          <p:cNvPr id="20" name="Image 1" descr="C:/Users/THISPC~1/AppData/Local/Temp/claude/C--Users-This-PC-Documents-claude-sih--claude-worktrees-sih-peptide-ppt-research-21209d/3b950e93-fcc8-4276-90eb-a3428a4a1885/scratchpad/assets/p6_x91.png">    </p:cNvPr>
          <p:cNvPicPr>
            <a:picLocks noChangeAspect="1"/>
          </p:cNvPicPr>
          <p:nvPr/>
        </p:nvPicPr>
        <p:blipFill>
          <a:blip r:embed="rId2"/>
          <a:stretch>
            <a:fillRect/>
          </a:stretch>
        </p:blipFill>
        <p:spPr>
          <a:xfrm>
            <a:off x="6885432" y="1042416"/>
            <a:ext cx="3794760" cy="3794760"/>
          </a:xfrm>
          <a:prstGeom prst="rect">
            <a:avLst/>
          </a:prstGeom>
        </p:spPr>
      </p:pic>
      <p:sp>
        <p:nvSpPr>
          <p:cNvPr id="21" name="Shape 17"/>
          <p:cNvSpPr/>
          <p:nvPr/>
        </p:nvSpPr>
        <p:spPr>
          <a:xfrm>
            <a:off x="5833872" y="4992624"/>
            <a:ext cx="5897880" cy="1298448"/>
          </a:xfrm>
          <a:prstGeom prst="roundRect">
            <a:avLst>
              <a:gd name="adj" fmla="val 3521"/>
            </a:avLst>
          </a:prstGeom>
          <a:solidFill>
            <a:srgbClr val="FFF3E6"/>
          </a:solidFill>
          <a:ln w="22225">
            <a:solidFill>
              <a:srgbClr val="E2711D"/>
            </a:solidFill>
            <a:prstDash val="solid"/>
          </a:ln>
        </p:spPr>
      </p:sp>
      <p:sp>
        <p:nvSpPr>
          <p:cNvPr id="22" name="Text 18"/>
          <p:cNvSpPr txBox="1"/>
          <p:nvPr/>
        </p:nvSpPr>
        <p:spPr>
          <a:xfrm>
            <a:off x="6035040" y="5102352"/>
            <a:ext cx="5495544" cy="256032"/>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Prototype and source</a:t>
            </a:r>
            <a:endParaRPr lang="en-US" sz="1300" dirty="0"/>
          </a:p>
        </p:txBody>
      </p:sp>
      <p:sp>
        <p:nvSpPr>
          <p:cNvPr id="23" name="Text 19"/>
          <p:cNvSpPr txBox="1"/>
          <p:nvPr/>
        </p:nvSpPr>
        <p:spPr>
          <a:xfrm>
            <a:off x="6035040" y="5394960"/>
            <a:ext cx="5495544" cy="256032"/>
          </a:xfrm>
          <a:prstGeom prst="rect">
            <a:avLst/>
          </a:prstGeom>
          <a:noFill/>
          <a:ln/>
        </p:spPr>
        <p:txBody>
          <a:bodyPr wrap="square" lIns="0" tIns="0" rIns="0" bIns="0"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Repository:  </a:t>
            </a:r>
            <a:pPr indent="0" marL="0">
              <a:buNone/>
            </a:pPr>
            <a:r>
              <a:rPr lang="en-US" sz="1150" dirty="0">
                <a:solidFill>
                  <a:srgbClr val="1F6FC4"/>
                </a:solidFill>
                <a:latin typeface="Times New Roman" pitchFamily="34" charset="0"/>
                <a:ea typeface="Times New Roman" pitchFamily="34" charset="-122"/>
                <a:cs typeface="Times New Roman" pitchFamily="34" charset="-120"/>
              </a:rPr>
              <a:t>github.com/aryan-stack-cloud/sih</a:t>
            </a:r>
            <a:pPr indent="0" marL="0">
              <a:buNone/>
            </a:pPr>
            <a:r>
              <a:rPr lang="en-US" sz="1150" b="1" dirty="0">
                <a:solidFill>
                  <a:srgbClr val="000000"/>
                </a:solidFill>
                <a:latin typeface="Calibri" pitchFamily="34" charset="0"/>
                <a:ea typeface="Calibri" pitchFamily="34" charset="-122"/>
                <a:cs typeface="Calibri" pitchFamily="34" charset="-120"/>
              </a:rPr>
              <a:t>        Demo video:  </a:t>
            </a:r>
            <a:pPr indent="0" marL="0">
              <a:buNone/>
            </a:pPr>
            <a:r>
              <a:rPr lang="en-US" sz="1150" dirty="0">
                <a:solidFill>
                  <a:srgbClr val="E2711D"/>
                </a:solidFill>
                <a:latin typeface="Times New Roman" pitchFamily="34" charset="0"/>
                <a:ea typeface="Times New Roman" pitchFamily="34" charset="-122"/>
                <a:cs typeface="Times New Roman" pitchFamily="34" charset="-120"/>
              </a:rPr>
              <a:t>[ add your link ]</a:t>
            </a:r>
            <a:endParaRPr lang="en-US" sz="1150" dirty="0"/>
          </a:p>
        </p:txBody>
      </p:sp>
      <p:sp>
        <p:nvSpPr>
          <p:cNvPr id="24" name="Text 20"/>
          <p:cNvSpPr txBox="1"/>
          <p:nvPr/>
        </p:nvSpPr>
        <p:spPr>
          <a:xfrm>
            <a:off x="6035040" y="5687568"/>
            <a:ext cx="5495544" cy="256032"/>
          </a:xfrm>
          <a:prstGeom prst="rect">
            <a:avLst/>
          </a:prstGeom>
          <a:noFill/>
          <a:ln/>
        </p:spPr>
        <p:txBody>
          <a:bodyPr wrap="square" lIns="0" tIns="0" rIns="0" bIns="0" rtlCol="0" anchor="ctr"/>
          <a:lstStyle/>
          <a:p>
            <a:pPr indent="0" marL="0">
              <a:buNone/>
            </a:pPr>
            <a:r>
              <a:rPr lang="en-US" sz="1150" dirty="0">
                <a:solidFill>
                  <a:srgbClr val="000000"/>
                </a:solidFill>
                <a:latin typeface="Times New Roman" pitchFamily="34" charset="0"/>
                <a:ea typeface="Times New Roman" pitchFamily="34" charset="-122"/>
                <a:cs typeface="Times New Roman" pitchFamily="34" charset="-120"/>
              </a:rPr>
              <a:t>scripts/compare.py reproduces every number in this deck from a clean checkout.</a:t>
            </a:r>
            <a:endParaRPr lang="en-US" sz="1150" dirty="0"/>
          </a:p>
        </p:txBody>
      </p:sp>
      <p:sp>
        <p:nvSpPr>
          <p:cNvPr id="25" name="Text 21"/>
          <p:cNvSpPr txBox="1"/>
          <p:nvPr/>
        </p:nvSpPr>
        <p:spPr>
          <a:xfrm>
            <a:off x="6035040" y="5943600"/>
            <a:ext cx="5495544" cy="256032"/>
          </a:xfrm>
          <a:prstGeom prst="rect">
            <a:avLst/>
          </a:prstGeom>
          <a:noFill/>
          <a:ln/>
        </p:spPr>
        <p:txBody>
          <a:bodyPr wrap="square" lIns="0" tIns="0" rIns="0" bIns="0" rtlCol="0" anchor="ctr"/>
          <a:lstStyle/>
          <a:p>
            <a:pPr indent="0" marL="0">
              <a:buNone/>
            </a:pPr>
            <a:r>
              <a:rPr lang="en-US" sz="1050" i="1" dirty="0">
                <a:solidFill>
                  <a:srgbClr val="808080"/>
                </a:solidFill>
                <a:latin typeface="Times New Roman" pitchFamily="34" charset="0"/>
                <a:ea typeface="Times New Roman" pitchFamily="34" charset="-122"/>
                <a:cs typeface="Times New Roman" pitchFamily="34" charset="-120"/>
              </a:rPr>
              <a:t>Simulation-only: no RF hardware, no interception, no jamming, no weapon control.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Scan strategy for Electronic Warfare - PUSHPAK</dc:title>
  <dc:subject>PptxGenJS Presentation</dc:subject>
  <dc:creator>PptxGenJS</dc:creator>
  <cp:lastModifiedBy>PptxGenJS</cp:lastModifiedBy>
  <cp:revision>1</cp:revision>
  <dcterms:created xsi:type="dcterms:W3CDTF">2026-09-12T13:57:02Z</dcterms:created>
  <dcterms:modified xsi:type="dcterms:W3CDTF">2026-09-12T13:57:02Z</dcterms:modified>
</cp:coreProperties>
</file>